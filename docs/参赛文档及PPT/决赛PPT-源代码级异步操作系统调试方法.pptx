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3" r:id="rId2"/>
    <p:sldMasterId id="2147483678" r:id="rId3"/>
  </p:sldMasterIdLst>
  <p:notesMasterIdLst>
    <p:notesMasterId r:id="rId2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embeddedFontLst>
    <p:embeddedFont>
      <p:font typeface="等线" panose="02010600030101010101" pitchFamily="2" charset="-122"/>
      <p:regular r:id="rId29"/>
      <p:bold r:id="rId30"/>
    </p:embeddedFont>
    <p:embeddedFont>
      <p:font typeface="华文中宋" panose="02010600040101010101" pitchFamily="2" charset="-122"/>
      <p:regular r:id="rId31"/>
    </p:embeddedFont>
    <p:embeddedFont>
      <p:font typeface="思源宋体 CN Heavy" panose="02020900000000000000" pitchFamily="18" charset="-122"/>
      <p:bold r:id="rId32"/>
    </p:embeddedFont>
    <p:embeddedFont>
      <p:font typeface="Microsoft YaHei" panose="020B0503020204020204" pitchFamily="34" charset="-122"/>
      <p:regular r:id="rId33"/>
      <p:bold r:id="rId34"/>
    </p:embeddedFont>
    <p:embeddedFont>
      <p:font typeface="Microsoft YaHei" panose="020B0503020204020204" pitchFamily="34" charset="-122"/>
      <p:regular r:id="rId33"/>
      <p:bold r:id="rId34"/>
    </p:embeddedFont>
    <p:embeddedFont>
      <p:font typeface="Gill Sans MT" panose="020B0502020104020203" pitchFamily="34" charset="0"/>
      <p:regular r:id="rId35"/>
      <p:bold r:id="rId36"/>
      <p:italic r:id="rId37"/>
      <p:boldItalic r:id="rId38"/>
    </p:embeddedFont>
    <p:embeddedFont>
      <p:font typeface="Montserrat" panose="00000500000000000000" pitchFamily="2" charset="0"/>
      <p:regular r:id="rId39"/>
    </p:embeddedFont>
    <p:embeddedFont>
      <p:font typeface="Roboto" panose="02000000000000000000" pitchFamily="2" charset="0"/>
      <p:regular r:id="rId40"/>
      <p:bold r:id="rId41"/>
    </p:embeddedFont>
    <p:embeddedFont>
      <p:font typeface="Roboto Black" panose="02000000000000000000" pitchFamily="2" charset="0"/>
      <p:bold r:id="rId42"/>
    </p:embeddedFont>
    <p:embeddedFont>
      <p:font typeface="Roboto Medium" panose="02000000000000000000" pitchFamily="2" charset="0"/>
      <p:regular r:id="rId4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52E68"/>
    <a:srgbClr val="00FF00"/>
    <a:srgbClr val="FBE2A1"/>
    <a:srgbClr val="FF9999"/>
    <a:srgbClr val="B40003"/>
    <a:srgbClr val="A3C7FB"/>
    <a:srgbClr val="074396"/>
    <a:srgbClr val="0950B4"/>
    <a:srgbClr val="454E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8" autoAdjust="0"/>
    <p:restoredTop sz="93830" autoAdjust="0"/>
  </p:normalViewPr>
  <p:slideViewPr>
    <p:cSldViewPr snapToGrid="0" showGuides="1">
      <p:cViewPr varScale="1">
        <p:scale>
          <a:sx n="86" d="100"/>
          <a:sy n="86" d="100"/>
        </p:scale>
        <p:origin x="256" y="72"/>
      </p:cViewPr>
      <p:guideLst>
        <p:guide orient="horz" pos="2183"/>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1.fntdata"/><Relationship Id="rId21" Type="http://schemas.openxmlformats.org/officeDocument/2006/relationships/slide" Target="slides/slide18.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01CFE-B269-4E24-9BD5-D84447E6334F}" type="datetimeFigureOut">
              <a:rPr lang="zh-CN" altLang="en-US" smtClean="0"/>
              <a:t>2026-08-18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AC3979-BD9D-45FE-8349-ED88198EE38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p:nvPr>
        </p:nvSpPr>
        <p:spPr/>
        <p:txBody>
          <a:bodyPr/>
          <a:lstStyle/>
          <a:p>
            <a:endParaRPr/>
          </a:p>
        </p:txBody>
      </p:sp>
      <p:sp>
        <p:nvSpPr>
          <p:cNvPr id="39" name="备注占位符 2"/>
          <p:cNvSpPr>
            <a:spLocks noGrp="1"/>
          </p:cNvSpPr>
          <p:nvPr>
            <p:ph type="body" idx="1"/>
          </p:nvPr>
        </p:nvSpPr>
        <p:spPr/>
        <p:txBody>
          <a:bodyPr/>
          <a:lstStyle/>
          <a:p>
            <a:endParaRPr lang="zh-CN" altLang="en-US" dirty="0"/>
          </a:p>
        </p:txBody>
      </p:sp>
      <p:sp>
        <p:nvSpPr>
          <p:cNvPr id="40"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A2222A-F827-417F-BFF8-4AE296366F74}" type="slidenum">
              <a:rPr kumimoji="0" lang="zh-CN" altLang="en-US" sz="1200" b="0" i="0" u="none" strike="noStrike" kern="1200" cap="none" spc="0" normalizeH="0" baseline="0" noProof="0" smtClean="0">
                <a:ln>
                  <a:noFill/>
                </a:ln>
                <a:solidFill>
                  <a:prstClr val="black"/>
                </a:solidFill>
                <a:effectLst/>
                <a:uLnTx/>
                <a:uFillTx/>
                <a:cs typeface="+mn-cs"/>
              </a:rPr>
              <a:t>1</a:t>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幻灯片图像占位符 1"/>
          <p:cNvSpPr>
            <a:spLocks noGrp="1" noRot="1" noChangeAspect="1"/>
          </p:cNvSpPr>
          <p:nvPr>
            <p:ph type="sldImg"/>
          </p:nvPr>
        </p:nvSpPr>
        <p:spPr/>
        <p:txBody>
          <a:bodyPr/>
          <a:lstStyle/>
          <a:p>
            <a:endParaRPr/>
          </a:p>
        </p:txBody>
      </p:sp>
      <p:sp>
        <p:nvSpPr>
          <p:cNvPr id="43" name="备注占位符 2"/>
          <p:cNvSpPr>
            <a:spLocks noGrp="1"/>
          </p:cNvSpPr>
          <p:nvPr>
            <p:ph type="body" idx="1"/>
          </p:nvPr>
        </p:nvSpPr>
        <p:spPr/>
        <p:txBody>
          <a:bodyPr/>
          <a:lstStyle/>
          <a:p>
            <a:endParaRPr lang="zh-CN" altLang="en-US" dirty="0"/>
          </a:p>
        </p:txBody>
      </p:sp>
      <p:sp>
        <p:nvSpPr>
          <p:cNvPr id="44" name="灯片编号占位符 3"/>
          <p:cNvSpPr>
            <a:spLocks noGrp="1"/>
          </p:cNvSpPr>
          <p:nvPr>
            <p:ph type="sldNum" sz="quarter" idx="5"/>
          </p:nvPr>
        </p:nvSpPr>
        <p:spPr/>
        <p:txBody>
          <a:bodyPr/>
          <a:lstStyle/>
          <a:p>
            <a:fld id="{B2AC3979-BD9D-45FE-8349-ED88198EE38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幻灯片图像占位符 1"/>
          <p:cNvSpPr>
            <a:spLocks noGrp="1" noRot="1" noChangeAspect="1"/>
          </p:cNvSpPr>
          <p:nvPr>
            <p:ph type="sldImg"/>
          </p:nvPr>
        </p:nvSpPr>
        <p:spPr/>
        <p:txBody>
          <a:bodyPr/>
          <a:lstStyle/>
          <a:p>
            <a:endParaRPr/>
          </a:p>
        </p:txBody>
      </p:sp>
      <p:sp>
        <p:nvSpPr>
          <p:cNvPr id="47" name="备注占位符 2"/>
          <p:cNvSpPr>
            <a:spLocks noGrp="1"/>
          </p:cNvSpPr>
          <p:nvPr>
            <p:ph type="body" idx="1"/>
          </p:nvPr>
        </p:nvSpPr>
        <p:spPr/>
        <p:txBody>
          <a:bodyPr/>
          <a:lstStyle/>
          <a:p>
            <a:endParaRPr lang="zh-CN" altLang="en-US" dirty="0"/>
          </a:p>
        </p:txBody>
      </p:sp>
      <p:sp>
        <p:nvSpPr>
          <p:cNvPr id="48" name="灯片编号占位符 3"/>
          <p:cNvSpPr>
            <a:spLocks noGrp="1"/>
          </p:cNvSpPr>
          <p:nvPr>
            <p:ph type="sldNum" sz="quarter" idx="5"/>
          </p:nvPr>
        </p:nvSpPr>
        <p:spPr/>
        <p:txBody>
          <a:bodyPr/>
          <a:lstStyle/>
          <a:p>
            <a:fld id="{B2AC3979-BD9D-45FE-8349-ED88198EE38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幻灯片图像占位符 1"/>
          <p:cNvSpPr>
            <a:spLocks noGrp="1" noRot="1" noChangeAspect="1"/>
          </p:cNvSpPr>
          <p:nvPr>
            <p:ph type="sldImg"/>
          </p:nvPr>
        </p:nvSpPr>
        <p:spPr/>
        <p:txBody>
          <a:bodyPr/>
          <a:lstStyle/>
          <a:p>
            <a:endParaRPr/>
          </a:p>
        </p:txBody>
      </p:sp>
      <p:sp>
        <p:nvSpPr>
          <p:cNvPr id="51" name="备注占位符 2"/>
          <p:cNvSpPr>
            <a:spLocks noGrp="1"/>
          </p:cNvSpPr>
          <p:nvPr>
            <p:ph type="body" idx="1"/>
          </p:nvPr>
        </p:nvSpPr>
        <p:spPr/>
        <p:txBody>
          <a:bodyPr/>
          <a:lstStyle/>
          <a:p>
            <a:endParaRPr lang="zh-CN" altLang="en-US" dirty="0"/>
          </a:p>
        </p:txBody>
      </p:sp>
      <p:sp>
        <p:nvSpPr>
          <p:cNvPr id="52" name="灯片编号占位符 3"/>
          <p:cNvSpPr>
            <a:spLocks noGrp="1"/>
          </p:cNvSpPr>
          <p:nvPr>
            <p:ph type="sldNum" sz="quarter" idx="5"/>
          </p:nvPr>
        </p:nvSpPr>
        <p:spPr/>
        <p:txBody>
          <a:bodyPr/>
          <a:lstStyle/>
          <a:p>
            <a:fld id="{B2AC3979-BD9D-45FE-8349-ED88198EE380}"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幻灯片图像占位符 1"/>
          <p:cNvSpPr>
            <a:spLocks noGrp="1" noRot="1" noChangeAspect="1"/>
          </p:cNvSpPr>
          <p:nvPr>
            <p:ph type="sldImg"/>
          </p:nvPr>
        </p:nvSpPr>
        <p:spPr/>
        <p:txBody>
          <a:bodyPr/>
          <a:lstStyle/>
          <a:p>
            <a:endParaRPr/>
          </a:p>
        </p:txBody>
      </p:sp>
      <p:sp>
        <p:nvSpPr>
          <p:cNvPr id="55" name="备注占位符 2"/>
          <p:cNvSpPr>
            <a:spLocks noGrp="1"/>
          </p:cNvSpPr>
          <p:nvPr>
            <p:ph type="body" idx="1"/>
          </p:nvPr>
        </p:nvSpPr>
        <p:spPr/>
        <p:txBody>
          <a:bodyPr/>
          <a:lstStyle/>
          <a:p>
            <a:endParaRPr lang="zh-CN" altLang="en-US" dirty="0"/>
          </a:p>
        </p:txBody>
      </p:sp>
      <p:sp>
        <p:nvSpPr>
          <p:cNvPr id="56" name="灯片编号占位符 3"/>
          <p:cNvSpPr>
            <a:spLocks noGrp="1"/>
          </p:cNvSpPr>
          <p:nvPr>
            <p:ph type="sldNum" sz="quarter" idx="5"/>
          </p:nvPr>
        </p:nvSpPr>
        <p:spPr/>
        <p:txBody>
          <a:bodyPr/>
          <a:lstStyle/>
          <a:p>
            <a:fld id="{B2AC3979-BD9D-45FE-8349-ED88198EE380}"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2AC3979-BD9D-45FE-8349-ED88198EE380}"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lstStyle/>
          <a:p>
            <a:endParaRPr/>
          </a:p>
        </p:txBody>
      </p:sp>
      <p:sp>
        <p:nvSpPr>
          <p:cNvPr id="7" name="备注占位符 2"/>
          <p:cNvSpPr>
            <a:spLocks noGrp="1"/>
          </p:cNvSpPr>
          <p:nvPr>
            <p:ph type="body" idx="1"/>
          </p:nvPr>
        </p:nvSpPr>
        <p:spPr/>
        <p:txBody>
          <a:bodyPr/>
          <a:lstStyle/>
          <a:p>
            <a:endParaRPr lang="zh-CN" altLang="en-US" dirty="0"/>
          </a:p>
        </p:txBody>
      </p:sp>
      <p:sp>
        <p:nvSpPr>
          <p:cNvPr id="8" name="灯片编号占位符 3"/>
          <p:cNvSpPr>
            <a:spLocks noGrp="1"/>
          </p:cNvSpPr>
          <p:nvPr>
            <p:ph type="sldNum" sz="quarter" idx="5"/>
          </p:nvPr>
        </p:nvSpPr>
        <p:spPr/>
        <p:txBody>
          <a:bodyPr/>
          <a:lstStyle/>
          <a:p>
            <a:fld id="{B2AC3979-BD9D-45FE-8349-ED88198EE380}"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幻灯片图像占位符 1"/>
          <p:cNvSpPr>
            <a:spLocks noGrp="1" noRot="1" noChangeAspect="1"/>
          </p:cNvSpPr>
          <p:nvPr>
            <p:ph type="sldImg"/>
          </p:nvPr>
        </p:nvSpPr>
        <p:spPr/>
        <p:txBody>
          <a:bodyPr/>
          <a:lstStyle/>
          <a:p>
            <a:endParaRPr/>
          </a:p>
        </p:txBody>
      </p:sp>
      <p:sp>
        <p:nvSpPr>
          <p:cNvPr id="11" name="备注占位符 2"/>
          <p:cNvSpPr>
            <a:spLocks noGrp="1"/>
          </p:cNvSpPr>
          <p:nvPr>
            <p:ph type="body" idx="1"/>
          </p:nvPr>
        </p:nvSpPr>
        <p:spPr/>
        <p:txBody>
          <a:bodyPr/>
          <a:lstStyle/>
          <a:p>
            <a:endParaRPr lang="zh-CN" altLang="en-US" dirty="0"/>
          </a:p>
        </p:txBody>
      </p:sp>
      <p:sp>
        <p:nvSpPr>
          <p:cNvPr id="12" name="灯片编号占位符 3"/>
          <p:cNvSpPr>
            <a:spLocks noGrp="1"/>
          </p:cNvSpPr>
          <p:nvPr>
            <p:ph type="sldNum" sz="quarter" idx="5"/>
          </p:nvPr>
        </p:nvSpPr>
        <p:spPr/>
        <p:txBody>
          <a:bodyPr/>
          <a:lstStyle/>
          <a:p>
            <a:fld id="{B2AC3979-BD9D-45FE-8349-ED88198EE380}"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p:txBody>
          <a:bodyPr/>
          <a:lstStyle/>
          <a:p>
            <a:endParaRPr/>
          </a:p>
        </p:txBody>
      </p:sp>
      <p:sp>
        <p:nvSpPr>
          <p:cNvPr id="15" name="备注占位符 2"/>
          <p:cNvSpPr>
            <a:spLocks noGrp="1"/>
          </p:cNvSpPr>
          <p:nvPr>
            <p:ph type="body" idx="1"/>
          </p:nvPr>
        </p:nvSpPr>
        <p:spPr/>
        <p:txBody>
          <a:bodyPr/>
          <a:lstStyle/>
          <a:p>
            <a:endParaRPr lang="zh-CN" altLang="en-US" dirty="0"/>
          </a:p>
        </p:txBody>
      </p:sp>
      <p:sp>
        <p:nvSpPr>
          <p:cNvPr id="16" name="灯片编号占位符 3"/>
          <p:cNvSpPr>
            <a:spLocks noGrp="1"/>
          </p:cNvSpPr>
          <p:nvPr>
            <p:ph type="sldNum" sz="quarter" idx="5"/>
          </p:nvPr>
        </p:nvSpPr>
        <p:spPr/>
        <p:txBody>
          <a:bodyPr/>
          <a:lstStyle/>
          <a:p>
            <a:fld id="{B2AC3979-BD9D-45FE-8349-ED88198EE380}"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幻灯片图像占位符 1"/>
          <p:cNvSpPr>
            <a:spLocks noGrp="1" noRot="1" noChangeAspect="1"/>
          </p:cNvSpPr>
          <p:nvPr>
            <p:ph type="sldImg"/>
          </p:nvPr>
        </p:nvSpPr>
        <p:spPr/>
        <p:txBody>
          <a:bodyPr/>
          <a:lstStyle/>
          <a:p>
            <a:endParaRPr/>
          </a:p>
        </p:txBody>
      </p:sp>
      <p:sp>
        <p:nvSpPr>
          <p:cNvPr id="19" name="备注占位符 2"/>
          <p:cNvSpPr>
            <a:spLocks noGrp="1"/>
          </p:cNvSpPr>
          <p:nvPr>
            <p:ph type="body" idx="1"/>
          </p:nvPr>
        </p:nvSpPr>
        <p:spPr/>
        <p:txBody>
          <a:bodyPr/>
          <a:lstStyle/>
          <a:p>
            <a:endParaRPr lang="zh-CN" altLang="en-US" dirty="0"/>
          </a:p>
        </p:txBody>
      </p:sp>
      <p:sp>
        <p:nvSpPr>
          <p:cNvPr id="20" name="灯片编号占位符 3"/>
          <p:cNvSpPr>
            <a:spLocks noGrp="1"/>
          </p:cNvSpPr>
          <p:nvPr>
            <p:ph type="sldNum" sz="quarter" idx="5"/>
          </p:nvPr>
        </p:nvSpPr>
        <p:spPr/>
        <p:txBody>
          <a:bodyPr/>
          <a:lstStyle/>
          <a:p>
            <a:fld id="{B2AC3979-BD9D-45FE-8349-ED88198EE380}"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幻灯片图像占位符 1"/>
          <p:cNvSpPr>
            <a:spLocks noGrp="1" noRot="1" noChangeAspect="1"/>
          </p:cNvSpPr>
          <p:nvPr>
            <p:ph type="sldImg"/>
          </p:nvPr>
        </p:nvSpPr>
        <p:spPr/>
        <p:txBody>
          <a:bodyPr/>
          <a:lstStyle/>
          <a:p>
            <a:endParaRPr/>
          </a:p>
        </p:txBody>
      </p:sp>
      <p:sp>
        <p:nvSpPr>
          <p:cNvPr id="23" name="备注占位符 2"/>
          <p:cNvSpPr>
            <a:spLocks noGrp="1"/>
          </p:cNvSpPr>
          <p:nvPr>
            <p:ph type="body" idx="1"/>
          </p:nvPr>
        </p:nvSpPr>
        <p:spPr/>
        <p:txBody>
          <a:bodyPr/>
          <a:lstStyle/>
          <a:p>
            <a:endParaRPr lang="zh-CN" altLang="en-US" dirty="0"/>
          </a:p>
        </p:txBody>
      </p:sp>
      <p:sp>
        <p:nvSpPr>
          <p:cNvPr id="24" name="灯片编号占位符 3"/>
          <p:cNvSpPr>
            <a:spLocks noGrp="1"/>
          </p:cNvSpPr>
          <p:nvPr>
            <p:ph type="sldNum" sz="quarter" idx="5"/>
          </p:nvPr>
        </p:nvSpPr>
        <p:spPr/>
        <p:txBody>
          <a:bodyPr/>
          <a:lstStyle/>
          <a:p>
            <a:fld id="{B2AC3979-BD9D-45FE-8349-ED88198EE380}"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幻灯片图像占位符 1"/>
          <p:cNvSpPr>
            <a:spLocks noGrp="1" noRot="1" noChangeAspect="1"/>
          </p:cNvSpPr>
          <p:nvPr>
            <p:ph type="sldImg"/>
          </p:nvPr>
        </p:nvSpPr>
        <p:spPr/>
        <p:txBody>
          <a:bodyPr/>
          <a:lstStyle/>
          <a:p>
            <a:endParaRPr/>
          </a:p>
        </p:txBody>
      </p:sp>
      <p:sp>
        <p:nvSpPr>
          <p:cNvPr id="27" name="备注占位符 2"/>
          <p:cNvSpPr>
            <a:spLocks noGrp="1"/>
          </p:cNvSpPr>
          <p:nvPr>
            <p:ph type="body" idx="1"/>
          </p:nvPr>
        </p:nvSpPr>
        <p:spPr/>
        <p:txBody>
          <a:bodyPr/>
          <a:lstStyle/>
          <a:p>
            <a:endParaRPr lang="zh-CN" altLang="en-US" dirty="0"/>
          </a:p>
        </p:txBody>
      </p:sp>
      <p:sp>
        <p:nvSpPr>
          <p:cNvPr id="28" name="灯片编号占位符 3"/>
          <p:cNvSpPr>
            <a:spLocks noGrp="1"/>
          </p:cNvSpPr>
          <p:nvPr>
            <p:ph type="sldNum" sz="quarter" idx="5"/>
          </p:nvPr>
        </p:nvSpPr>
        <p:spPr/>
        <p:txBody>
          <a:bodyPr/>
          <a:lstStyle/>
          <a:p>
            <a:fld id="{B2AC3979-BD9D-45FE-8349-ED88198EE380}"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幻灯片图像占位符 1"/>
          <p:cNvSpPr>
            <a:spLocks noGrp="1" noRot="1" noChangeAspect="1"/>
          </p:cNvSpPr>
          <p:nvPr>
            <p:ph type="sldImg"/>
          </p:nvPr>
        </p:nvSpPr>
        <p:spPr/>
        <p:txBody>
          <a:bodyPr/>
          <a:lstStyle/>
          <a:p>
            <a:endParaRPr/>
          </a:p>
        </p:txBody>
      </p:sp>
      <p:sp>
        <p:nvSpPr>
          <p:cNvPr id="31" name="备注占位符 2"/>
          <p:cNvSpPr>
            <a:spLocks noGrp="1"/>
          </p:cNvSpPr>
          <p:nvPr>
            <p:ph type="body" idx="1"/>
          </p:nvPr>
        </p:nvSpPr>
        <p:spPr/>
        <p:txBody>
          <a:bodyPr/>
          <a:lstStyle/>
          <a:p>
            <a:endParaRPr lang="zh-CN" altLang="en-US" dirty="0"/>
          </a:p>
        </p:txBody>
      </p:sp>
      <p:sp>
        <p:nvSpPr>
          <p:cNvPr id="32" name="灯片编号占位符 3"/>
          <p:cNvSpPr>
            <a:spLocks noGrp="1"/>
          </p:cNvSpPr>
          <p:nvPr>
            <p:ph type="sldNum" sz="quarter" idx="5"/>
          </p:nvPr>
        </p:nvSpPr>
        <p:spPr/>
        <p:txBody>
          <a:bodyPr/>
          <a:lstStyle/>
          <a:p>
            <a:fld id="{B2AC3979-BD9D-45FE-8349-ED88198EE380}" type="slidenum">
              <a:rPr lang="zh-CN" altLang="en-US" smtClean="0"/>
              <a:t>19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Image Placeholder 1"/>
          <p:cNvSpPr>
            <a:spLocks noGrp="1" noRot="1" noChangeAspect="1"/>
          </p:cNvSpPr>
          <p:nvPr>
            <p:ph type="sldImg"/>
          </p:nvPr>
        </p:nvSpPr>
        <p:spPr/>
        <p:txBody>
          <a:bodyPr/>
          <a:lstStyle/>
          <a:p>
            <a:endParaRPr/>
          </a:p>
        </p:txBody>
      </p:sp>
      <p:sp>
        <p:nvSpPr>
          <p:cNvPr id="35" name="Notes Placeholder 2"/>
          <p:cNvSpPr>
            <a:spLocks noGrp="1"/>
          </p:cNvSpPr>
          <p:nvPr>
            <p:ph type="body" idx="1"/>
          </p:nvPr>
        </p:nvSpPr>
        <p:spPr/>
        <p:txBody>
          <a:bodyPr/>
          <a:lstStyle/>
          <a:p>
            <a:r>
              <a:t>[Sources]</a:t>
            </a:r>
          </a:p>
          <a:p>
            <a:r>
              <a:t>- 项目自制线上硬件交互实验平台结构图。</a:t>
            </a:r>
          </a:p>
        </p:txBody>
      </p:sp>
      <p:sp>
        <p:nvSpPr>
          <p:cNvPr id="36"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2" name="淘宝店铺-想搞设计(校园PPT每学期更新)"/>
          <p:cNvSpPr/>
          <p:nvPr userDrawn="1"/>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armonyOS Sans SC" panose="00000500000000000000" pitchFamily="2" charset="-122"/>
              <a:ea typeface="HONOR Sans CN"/>
            </a:endParaRPr>
          </a:p>
        </p:txBody>
      </p:sp>
      <p:sp>
        <p:nvSpPr>
          <p:cNvPr id="3" name="淘宝店铺-想搞设计(校园PPT每学期更新)"/>
          <p:cNvSpPr/>
          <p:nvPr userDrawn="1"/>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984" h="708116">
                <a:moveTo>
                  <a:pt x="0" y="0"/>
                </a:moveTo>
                <a:lnTo>
                  <a:pt x="9587984" y="0"/>
                </a:lnTo>
                <a:lnTo>
                  <a:pt x="9587984" y="43841"/>
                </a:lnTo>
                <a:lnTo>
                  <a:pt x="9172880" y="708116"/>
                </a:lnTo>
                <a:lnTo>
                  <a:pt x="0" y="708116"/>
                </a:lnTo>
                <a:close/>
              </a:path>
            </a:pathLst>
          </a:custGeom>
          <a:gradFill flip="none"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HarmonyOS Sans SC" panose="00000500000000000000" pitchFamily="2" charset="-122"/>
              <a:ea typeface="HarmonyOS Sans SC" panose="00000500000000000000" pitchFamily="2" charset="-122"/>
            </a:endParaRPr>
          </a:p>
        </p:txBody>
      </p:sp>
      <p:sp>
        <p:nvSpPr>
          <p:cNvPr id="4" name="淘宝店铺-想搞设计(校园PPT每学期更新)"/>
          <p:cNvSpPr txBox="1"/>
          <p:nvPr userDrawn="1"/>
        </p:nvSpPr>
        <p:spPr>
          <a:xfrm>
            <a:off x="700837" y="133726"/>
            <a:ext cx="1436291" cy="430887"/>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800" b="1" kern="1200" dirty="0">
                <a:gradFill flip="none" rotWithShape="1">
                  <a:gsLst>
                    <a:gs pos="100000">
                      <a:srgbClr val="FAD77E">
                        <a:lumMod val="20000"/>
                        <a:lumOff val="80000"/>
                      </a:srgbClr>
                    </a:gs>
                    <a:gs pos="0">
                      <a:srgbClr val="FAD77E"/>
                    </a:gs>
                  </a:gsLst>
                  <a:lin ang="16200000" scaled="1"/>
                </a:gra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项目背景</a:t>
            </a:r>
            <a:endParaRPr/>
          </a:p>
        </p:txBody>
      </p:sp>
      <p:cxnSp>
        <p:nvCxnSpPr>
          <p:cNvPr id="5" name="淘宝店铺-想搞设计(校园PPT每学期更新)"/>
          <p:cNvCxnSpPr/>
          <p:nvPr userDrawn="1"/>
        </p:nvCxn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淘宝店铺-想搞设计(校园PPT每学期更新)" descr="查看图片"/>
          <p:cNvPicPr>
            <a:picLocks noChangeAspect="1" noChangeArrowheads="1"/>
          </p:cNvPicPr>
          <p:nvPr userDrawn="1"/>
        </p:nvPicPr>
        <p:blipFill>
          <a:blip r:embed="rId2"/>
          <a:srcRect t="8337" r="6027" b="4383"/>
          <a:stretch>
            <a:fillRect/>
          </a:stretch>
        </p:blipFill>
        <p:spPr bwMode="auto">
          <a:xfrm>
            <a:off x="8794046" y="0"/>
            <a:ext cx="769996" cy="715158"/>
          </a:xfrm>
          <a:custGeom>
            <a:avLst/>
            <a:gdLst>
              <a:gd name="connsiteX0" fmla="*/ 0 w 769996"/>
              <a:gd name="connsiteY0" fmla="*/ 0 h 715158"/>
              <a:gd name="connsiteX1" fmla="*/ 769996 w 769996"/>
              <a:gd name="connsiteY1" fmla="*/ 0 h 715158"/>
              <a:gd name="connsiteX2" fmla="*/ 769996 w 769996"/>
              <a:gd name="connsiteY2" fmla="*/ 715158 h 715158"/>
              <a:gd name="connsiteX3" fmla="*/ 0 w 769996"/>
              <a:gd name="connsiteY3" fmla="*/ 715158 h 715158"/>
            </a:gdLst>
            <a:ahLst/>
            <a:cxnLst>
              <a:cxn ang="0">
                <a:pos x="connsiteX0" y="connsiteY0"/>
              </a:cxn>
              <a:cxn ang="0">
                <a:pos x="connsiteX1" y="connsiteY1"/>
              </a:cxn>
              <a:cxn ang="0">
                <a:pos x="connsiteX2" y="connsiteY2"/>
              </a:cxn>
              <a:cxn ang="0">
                <a:pos x="connsiteX3" y="connsiteY3"/>
              </a:cxn>
            </a:cxnLst>
            <a:rect l="l" t="t" r="r" b="b"/>
            <a:pathLst>
              <a:path w="769996" h="715158">
                <a:moveTo>
                  <a:pt x="0" y="0"/>
                </a:moveTo>
                <a:lnTo>
                  <a:pt x="769996" y="0"/>
                </a:lnTo>
                <a:lnTo>
                  <a:pt x="769996" y="715158"/>
                </a:lnTo>
                <a:lnTo>
                  <a:pt x="0" y="715158"/>
                </a:lnTo>
                <a:close/>
              </a:path>
            </a:pathLst>
          </a:custGeom>
          <a:noFill/>
          <a:ln>
            <a:noFill/>
          </a:ln>
          <a:effectLst>
            <a:outerShdw blurRad="63500" dist="38100" algn="l" rotWithShape="0">
              <a:prstClr val="black">
                <a:alpha val="48000"/>
              </a:prstClr>
            </a:outerShdw>
          </a:effectLst>
        </p:spPr>
      </p:pic>
      <p:sp>
        <p:nvSpPr>
          <p:cNvPr id="7" name="淘宝店铺-想搞设计(校园PPT每学期更新)"/>
          <p:cNvSpPr/>
          <p:nvPr userDrawn="1"/>
        </p:nvSpPr>
        <p:spPr>
          <a:xfrm flipV="1">
            <a:off x="1138883" y="678184"/>
            <a:ext cx="560198" cy="204046"/>
          </a:xfrm>
          <a:prstGeom prst="triangle">
            <a:avLst/>
          </a:prstGeom>
          <a:gradFill flip="none"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宋体 CN Heavy" panose="02020300000000000000" pitchFamily="18" charset="-122"/>
              <a:ea typeface="思源宋体 CN Heavy" panose="02020300000000000000" pitchFamily="18" charset="-122"/>
            </a:endParaRPr>
          </a:p>
        </p:txBody>
      </p:sp>
      <p:sp>
        <p:nvSpPr>
          <p:cNvPr id="8" name="淘宝店铺-想搞设计(校园PPT每学期更新)"/>
          <p:cNvSpPr txBox="1"/>
          <p:nvPr userDrawn="1"/>
        </p:nvSpPr>
        <p:spPr>
          <a:xfrm>
            <a:off x="3073362" y="164503"/>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总体目标</a:t>
            </a:r>
            <a:endParaRPr/>
          </a:p>
        </p:txBody>
      </p:sp>
      <p:sp>
        <p:nvSpPr>
          <p:cNvPr id="9" name="淘宝店铺-想搞设计(校园PPT每学期更新)"/>
          <p:cNvSpPr txBox="1"/>
          <p:nvPr userDrawn="1"/>
        </p:nvSpPr>
        <p:spPr>
          <a:xfrm>
            <a:off x="5240702" y="164503"/>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r>
              <a:rPr lang="zh-CN" altLang="en-US" sz="24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方案实现</a:t>
            </a:r>
            <a:endParaRPr lang="zh-CN" altLang="en-US" sz="2400" baseline="0" dirty="0">
              <a:solidFill>
                <a:schemeClr val="bg1">
                  <a:alpha val="92000"/>
                </a:schemeClr>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endParaRPr>
          </a:p>
        </p:txBody>
      </p:sp>
      <p:sp>
        <p:nvSpPr>
          <p:cNvPr id="10" name="淘宝店铺-想搞设计(校园PPT每学期更新)"/>
          <p:cNvSpPr txBox="1"/>
          <p:nvPr userDrawn="1"/>
        </p:nvSpPr>
        <p:spPr>
          <a:xfrm>
            <a:off x="7408044" y="164503"/>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测试验证</a:t>
            </a:r>
            <a:endParaRPr/>
          </a:p>
        </p:txBody>
      </p:sp>
      <p:cxnSp>
        <p:nvCxnSpPr>
          <p:cNvPr id="11" name="淘宝店铺-想搞设计(校园PPT每学期更新)"/>
          <p:cNvCxnSpPr/>
          <p:nvPr userDrawn="1"/>
        </p:nvCxn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淘宝店铺-想搞设计(校园PPT每学期更新)"/>
          <p:cNvCxnSpPr/>
          <p:nvPr userDrawn="1"/>
        </p:nvCxn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13" name="淘宝店铺-想搞设计(校园PPT每学期更新)"/>
          <p:cNvPicPr>
            <a:picLocks noChangeAspect="1"/>
          </p:cNvPicPr>
          <p:nvPr userDrawn="1"/>
        </p:nvPicPr>
        <p:blipFill>
          <a:blip r:embed="rId3"/>
          <a:stretch>
            <a:fillRect/>
          </a:stretch>
        </p:blipFill>
        <p:spPr>
          <a:xfrm rot="16200000">
            <a:off x="949214" y="-1267"/>
            <a:ext cx="822345" cy="1161297"/>
          </a:xfrm>
          <a:prstGeom prst="rect">
            <a:avLst/>
          </a:prstGeom>
        </p:spPr>
      </p:pic>
      <p:pic>
        <p:nvPicPr>
          <p:cNvPr id="14" name="淘宝店铺-想搞设计(校园PPT每学期更新)"/>
          <p:cNvPicPr/>
          <p:nvPr userDrawn="1"/>
        </p:nvPicPr>
        <p:blipFill>
          <a:blip r:embed="rId4"/>
          <a:stretch>
            <a:fillRect/>
          </a:stretch>
        </p:blipFill>
        <p:spPr>
          <a:xfrm>
            <a:off x="9711556" y="170846"/>
            <a:ext cx="2047049" cy="378421"/>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16" name="淘宝店铺-想搞设计(校园PPT每学期更新)"/>
          <p:cNvSpPr/>
          <p:nvPr userDrawn="1"/>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armonyOS Sans SC" panose="00000500000000000000" pitchFamily="2" charset="-122"/>
              <a:ea typeface="HONOR Sans CN"/>
            </a:endParaRPr>
          </a:p>
        </p:txBody>
      </p:sp>
      <p:sp>
        <p:nvSpPr>
          <p:cNvPr id="17" name="淘宝店铺-想搞设计(校园PPT每学期更新)"/>
          <p:cNvSpPr/>
          <p:nvPr userDrawn="1"/>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984" h="708116">
                <a:moveTo>
                  <a:pt x="0" y="0"/>
                </a:moveTo>
                <a:lnTo>
                  <a:pt x="9587984" y="0"/>
                </a:lnTo>
                <a:lnTo>
                  <a:pt x="9587984" y="43841"/>
                </a:lnTo>
                <a:lnTo>
                  <a:pt x="9172880" y="708116"/>
                </a:lnTo>
                <a:lnTo>
                  <a:pt x="0" y="708116"/>
                </a:lnTo>
                <a:close/>
              </a:path>
            </a:pathLst>
          </a:custGeom>
          <a:gradFill flip="none"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HarmonyOS Sans SC" panose="00000500000000000000" pitchFamily="2" charset="-122"/>
              <a:ea typeface="HarmonyOS Sans SC" panose="00000500000000000000" pitchFamily="2" charset="-122"/>
            </a:endParaRPr>
          </a:p>
        </p:txBody>
      </p:sp>
      <p:sp>
        <p:nvSpPr>
          <p:cNvPr id="18" name="淘宝店铺-想搞设计(校园PPT每学期更新)"/>
          <p:cNvSpPr txBox="1"/>
          <p:nvPr userDrawn="1"/>
        </p:nvSpPr>
        <p:spPr>
          <a:xfrm>
            <a:off x="700837" y="17989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项目背景</a:t>
            </a:r>
            <a:endParaRPr/>
          </a:p>
        </p:txBody>
      </p:sp>
      <p:cxnSp>
        <p:nvCxnSpPr>
          <p:cNvPr id="19" name="淘宝店铺-想搞设计(校园PPT每学期更新)"/>
          <p:cNvCxnSpPr/>
          <p:nvPr userDrawn="1"/>
        </p:nvCxn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20" name="淘宝店铺-想搞设计(校园PPT每学期更新)" descr="查看图片"/>
          <p:cNvPicPr>
            <a:picLocks noChangeAspect="1" noChangeArrowheads="1"/>
          </p:cNvPicPr>
          <p:nvPr userDrawn="1"/>
        </p:nvPicPr>
        <p:blipFill>
          <a:blip r:embed="rId2"/>
          <a:srcRect t="8337" r="6027" b="4383"/>
          <a:stretch>
            <a:fillRect/>
          </a:stretch>
        </p:blipFill>
        <p:spPr bwMode="auto">
          <a:xfrm>
            <a:off x="8794046" y="0"/>
            <a:ext cx="769996" cy="715158"/>
          </a:xfrm>
          <a:custGeom>
            <a:avLst/>
            <a:gdLst>
              <a:gd name="connsiteX0" fmla="*/ 0 w 769996"/>
              <a:gd name="connsiteY0" fmla="*/ 0 h 715158"/>
              <a:gd name="connsiteX1" fmla="*/ 769996 w 769996"/>
              <a:gd name="connsiteY1" fmla="*/ 0 h 715158"/>
              <a:gd name="connsiteX2" fmla="*/ 769996 w 769996"/>
              <a:gd name="connsiteY2" fmla="*/ 715158 h 715158"/>
              <a:gd name="connsiteX3" fmla="*/ 0 w 769996"/>
              <a:gd name="connsiteY3" fmla="*/ 715158 h 715158"/>
            </a:gdLst>
            <a:ahLst/>
            <a:cxnLst>
              <a:cxn ang="0">
                <a:pos x="connsiteX0" y="connsiteY0"/>
              </a:cxn>
              <a:cxn ang="0">
                <a:pos x="connsiteX1" y="connsiteY1"/>
              </a:cxn>
              <a:cxn ang="0">
                <a:pos x="connsiteX2" y="connsiteY2"/>
              </a:cxn>
              <a:cxn ang="0">
                <a:pos x="connsiteX3" y="connsiteY3"/>
              </a:cxn>
            </a:cxnLst>
            <a:rect l="l" t="t" r="r" b="b"/>
            <a:pathLst>
              <a:path w="769996" h="715158">
                <a:moveTo>
                  <a:pt x="0" y="0"/>
                </a:moveTo>
                <a:lnTo>
                  <a:pt x="769996" y="0"/>
                </a:lnTo>
                <a:lnTo>
                  <a:pt x="769996" y="715158"/>
                </a:lnTo>
                <a:lnTo>
                  <a:pt x="0" y="715158"/>
                </a:lnTo>
                <a:close/>
              </a:path>
            </a:pathLst>
          </a:custGeom>
          <a:noFill/>
          <a:ln>
            <a:noFill/>
          </a:ln>
          <a:effectLst>
            <a:outerShdw blurRad="63500" dist="38100" algn="l" rotWithShape="0">
              <a:prstClr val="black">
                <a:alpha val="48000"/>
              </a:prstClr>
            </a:outerShdw>
          </a:effectLst>
        </p:spPr>
      </p:pic>
      <p:sp>
        <p:nvSpPr>
          <p:cNvPr id="21" name="淘宝店铺-想搞设计(校园PPT每学期更新)"/>
          <p:cNvSpPr/>
          <p:nvPr userDrawn="1"/>
        </p:nvSpPr>
        <p:spPr>
          <a:xfrm flipV="1">
            <a:off x="3453068" y="678184"/>
            <a:ext cx="560198" cy="204046"/>
          </a:xfrm>
          <a:prstGeom prst="triangle">
            <a:avLst/>
          </a:prstGeom>
          <a:gradFill flip="none"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宋体 CN Heavy" panose="02020300000000000000" pitchFamily="18" charset="-122"/>
              <a:ea typeface="思源宋体 CN Heavy" panose="02020300000000000000" pitchFamily="18" charset="-122"/>
            </a:endParaRPr>
          </a:p>
        </p:txBody>
      </p:sp>
      <p:sp>
        <p:nvSpPr>
          <p:cNvPr id="22" name="淘宝店铺-想搞设计(校园PPT每学期更新)"/>
          <p:cNvSpPr txBox="1"/>
          <p:nvPr userDrawn="1"/>
        </p:nvSpPr>
        <p:spPr>
          <a:xfrm>
            <a:off x="3073362" y="149115"/>
            <a:ext cx="1436291" cy="430887"/>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800" b="1" kern="1200" dirty="0">
                <a:gradFill flip="none" rotWithShape="1">
                  <a:gsLst>
                    <a:gs pos="100000">
                      <a:srgbClr val="FAD77E">
                        <a:lumMod val="20000"/>
                        <a:lumOff val="80000"/>
                      </a:srgbClr>
                    </a:gs>
                    <a:gs pos="0">
                      <a:srgbClr val="FAD77E"/>
                    </a:gs>
                  </a:gsLst>
                  <a:lin ang="16200000" scaled="1"/>
                </a:gra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总体目标</a:t>
            </a:r>
            <a:endParaRPr/>
          </a:p>
        </p:txBody>
      </p:sp>
      <p:sp>
        <p:nvSpPr>
          <p:cNvPr id="23" name="淘宝店铺-想搞设计(校园PPT每学期更新)"/>
          <p:cNvSpPr txBox="1"/>
          <p:nvPr userDrawn="1"/>
        </p:nvSpPr>
        <p:spPr>
          <a:xfrm>
            <a:off x="5240702" y="17989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r>
              <a:rPr lang="zh-CN" altLang="en-US" sz="24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方案实现</a:t>
            </a:r>
            <a:endParaRPr lang="zh-CN" altLang="en-US" sz="2400" baseline="0" dirty="0">
              <a:solidFill>
                <a:schemeClr val="bg1">
                  <a:alpha val="92000"/>
                </a:schemeClr>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endParaRPr>
          </a:p>
        </p:txBody>
      </p:sp>
      <p:sp>
        <p:nvSpPr>
          <p:cNvPr id="24" name="淘宝店铺-想搞设计(校园PPT每学期更新)"/>
          <p:cNvSpPr txBox="1"/>
          <p:nvPr userDrawn="1"/>
        </p:nvSpPr>
        <p:spPr>
          <a:xfrm>
            <a:off x="7408044" y="17989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测试验证</a:t>
            </a:r>
            <a:endParaRPr/>
          </a:p>
        </p:txBody>
      </p:sp>
      <p:cxnSp>
        <p:nvCxnSpPr>
          <p:cNvPr id="25" name="淘宝店铺-想搞设计(校园PPT每学期更新)"/>
          <p:cNvCxnSpPr/>
          <p:nvPr userDrawn="1"/>
        </p:nvCxn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淘宝店铺-想搞设计(校园PPT每学期更新)"/>
          <p:cNvCxnSpPr/>
          <p:nvPr userDrawn="1"/>
        </p:nvCxn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27" name="淘宝店铺-想搞设计(校园PPT每学期更新)"/>
          <p:cNvPicPr>
            <a:picLocks noChangeAspect="1"/>
          </p:cNvPicPr>
          <p:nvPr userDrawn="1"/>
        </p:nvPicPr>
        <p:blipFill>
          <a:blip r:embed="rId3"/>
          <a:stretch>
            <a:fillRect/>
          </a:stretch>
        </p:blipFill>
        <p:spPr>
          <a:xfrm rot="16200000">
            <a:off x="3312645" y="-1267"/>
            <a:ext cx="822345" cy="1161297"/>
          </a:xfrm>
          <a:prstGeom prst="rect">
            <a:avLst/>
          </a:prstGeom>
        </p:spPr>
      </p:pic>
      <p:pic>
        <p:nvPicPr>
          <p:cNvPr id="28" name="淘宝店铺-想搞设计(校园PPT每学期更新)"/>
          <p:cNvPicPr/>
          <p:nvPr userDrawn="1"/>
        </p:nvPicPr>
        <p:blipFill>
          <a:blip r:embed="rId4"/>
          <a:stretch>
            <a:fillRect/>
          </a:stretch>
        </p:blipFill>
        <p:spPr>
          <a:xfrm>
            <a:off x="9711556" y="170846"/>
            <a:ext cx="2047049" cy="378421"/>
          </a:xfrm>
          <a:prstGeom prst="rect">
            <a:avLst/>
          </a:prstGeom>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58" name="淘宝店铺-想搞设计(校园PPT每学期更新)"/>
          <p:cNvSpPr/>
          <p:nvPr userDrawn="1"/>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armonyOS Sans SC" panose="00000500000000000000" pitchFamily="2" charset="-122"/>
              <a:ea typeface="HONOR Sans CN"/>
            </a:endParaRPr>
          </a:p>
        </p:txBody>
      </p:sp>
      <p:sp>
        <p:nvSpPr>
          <p:cNvPr id="59" name="淘宝店铺-想搞设计(校园PPT每学期更新)"/>
          <p:cNvSpPr/>
          <p:nvPr userDrawn="1"/>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984" h="708116">
                <a:moveTo>
                  <a:pt x="0" y="0"/>
                </a:moveTo>
                <a:lnTo>
                  <a:pt x="9587984" y="0"/>
                </a:lnTo>
                <a:lnTo>
                  <a:pt x="9587984" y="43841"/>
                </a:lnTo>
                <a:lnTo>
                  <a:pt x="9172880" y="708116"/>
                </a:lnTo>
                <a:lnTo>
                  <a:pt x="0" y="708116"/>
                </a:lnTo>
                <a:close/>
              </a:path>
            </a:pathLst>
          </a:custGeom>
          <a:gradFill flip="none"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HarmonyOS Sans SC" panose="00000500000000000000" pitchFamily="2" charset="-122"/>
              <a:ea typeface="HarmonyOS Sans SC" panose="00000500000000000000" pitchFamily="2" charset="-122"/>
            </a:endParaRPr>
          </a:p>
        </p:txBody>
      </p:sp>
      <p:sp>
        <p:nvSpPr>
          <p:cNvPr id="60" name="淘宝店铺-想搞设计(校园PPT每学期更新)"/>
          <p:cNvSpPr txBox="1"/>
          <p:nvPr userDrawn="1"/>
        </p:nvSpPr>
        <p:spPr>
          <a:xfrm>
            <a:off x="700837" y="195281"/>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项目背景</a:t>
            </a:r>
            <a:endParaRPr/>
          </a:p>
        </p:txBody>
      </p:sp>
      <p:cxnSp>
        <p:nvCxnSpPr>
          <p:cNvPr id="61" name="淘宝店铺-想搞设计(校园PPT每学期更新)"/>
          <p:cNvCxnSpPr/>
          <p:nvPr userDrawn="1"/>
        </p:nvCxn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62" name="淘宝店铺-想搞设计(校园PPT每学期更新)" descr="查看图片"/>
          <p:cNvPicPr>
            <a:picLocks noChangeAspect="1" noChangeArrowheads="1"/>
          </p:cNvPicPr>
          <p:nvPr userDrawn="1"/>
        </p:nvPicPr>
        <p:blipFill>
          <a:blip r:embed="rId2"/>
          <a:srcRect t="8337" r="6027" b="4383"/>
          <a:stretch>
            <a:fillRect/>
          </a:stretch>
        </p:blipFill>
        <p:spPr bwMode="auto">
          <a:xfrm>
            <a:off x="8794046" y="0"/>
            <a:ext cx="769996" cy="715158"/>
          </a:xfrm>
          <a:custGeom>
            <a:avLst/>
            <a:gdLst>
              <a:gd name="connsiteX0" fmla="*/ 0 w 769996"/>
              <a:gd name="connsiteY0" fmla="*/ 0 h 715158"/>
              <a:gd name="connsiteX1" fmla="*/ 769996 w 769996"/>
              <a:gd name="connsiteY1" fmla="*/ 0 h 715158"/>
              <a:gd name="connsiteX2" fmla="*/ 769996 w 769996"/>
              <a:gd name="connsiteY2" fmla="*/ 715158 h 715158"/>
              <a:gd name="connsiteX3" fmla="*/ 0 w 769996"/>
              <a:gd name="connsiteY3" fmla="*/ 715158 h 715158"/>
            </a:gdLst>
            <a:ahLst/>
            <a:cxnLst>
              <a:cxn ang="0">
                <a:pos x="connsiteX0" y="connsiteY0"/>
              </a:cxn>
              <a:cxn ang="0">
                <a:pos x="connsiteX1" y="connsiteY1"/>
              </a:cxn>
              <a:cxn ang="0">
                <a:pos x="connsiteX2" y="connsiteY2"/>
              </a:cxn>
              <a:cxn ang="0">
                <a:pos x="connsiteX3" y="connsiteY3"/>
              </a:cxn>
            </a:cxnLst>
            <a:rect l="l" t="t" r="r" b="b"/>
            <a:pathLst>
              <a:path w="769996" h="715158">
                <a:moveTo>
                  <a:pt x="0" y="0"/>
                </a:moveTo>
                <a:lnTo>
                  <a:pt x="769996" y="0"/>
                </a:lnTo>
                <a:lnTo>
                  <a:pt x="769996" y="715158"/>
                </a:lnTo>
                <a:lnTo>
                  <a:pt x="0" y="715158"/>
                </a:lnTo>
                <a:close/>
              </a:path>
            </a:pathLst>
          </a:custGeom>
          <a:noFill/>
          <a:ln>
            <a:noFill/>
          </a:ln>
          <a:effectLst>
            <a:outerShdw blurRad="63500" dist="38100" algn="l" rotWithShape="0">
              <a:prstClr val="black">
                <a:alpha val="48000"/>
              </a:prstClr>
            </a:outerShdw>
          </a:effectLst>
        </p:spPr>
      </p:pic>
      <p:sp>
        <p:nvSpPr>
          <p:cNvPr id="63" name="淘宝店铺-想搞设计(校园PPT每学期更新)"/>
          <p:cNvSpPr/>
          <p:nvPr userDrawn="1"/>
        </p:nvSpPr>
        <p:spPr>
          <a:xfrm flipV="1">
            <a:off x="5708960" y="678184"/>
            <a:ext cx="560198" cy="204046"/>
          </a:xfrm>
          <a:prstGeom prst="triangle">
            <a:avLst/>
          </a:prstGeom>
          <a:gradFill flip="none"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宋体 CN Heavy" panose="02020300000000000000" pitchFamily="18" charset="-122"/>
              <a:ea typeface="思源宋体 CN Heavy" panose="02020300000000000000" pitchFamily="18" charset="-122"/>
            </a:endParaRPr>
          </a:p>
        </p:txBody>
      </p:sp>
      <p:sp>
        <p:nvSpPr>
          <p:cNvPr id="64" name="淘宝店铺-想搞设计(校园PPT每学期更新)"/>
          <p:cNvSpPr txBox="1"/>
          <p:nvPr userDrawn="1"/>
        </p:nvSpPr>
        <p:spPr>
          <a:xfrm>
            <a:off x="3073362" y="195281"/>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总体目标</a:t>
            </a:r>
            <a:endParaRPr/>
          </a:p>
        </p:txBody>
      </p:sp>
      <p:sp>
        <p:nvSpPr>
          <p:cNvPr id="65" name="淘宝店铺-想搞设计(校园PPT每学期更新)"/>
          <p:cNvSpPr txBox="1"/>
          <p:nvPr userDrawn="1"/>
        </p:nvSpPr>
        <p:spPr>
          <a:xfrm>
            <a:off x="5240702" y="164504"/>
            <a:ext cx="1436291" cy="430887"/>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800" b="1" kern="1200" dirty="0">
                <a:gradFill flip="none" rotWithShape="1">
                  <a:gsLst>
                    <a:gs pos="100000">
                      <a:srgbClr val="FAD77E">
                        <a:lumMod val="20000"/>
                        <a:lumOff val="80000"/>
                      </a:srgbClr>
                    </a:gs>
                    <a:gs pos="0">
                      <a:srgbClr val="FAD77E"/>
                    </a:gs>
                  </a:gsLst>
                  <a:lin ang="16200000" scaled="1"/>
                </a:gra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方案实现</a:t>
            </a:r>
            <a:endParaRPr/>
          </a:p>
        </p:txBody>
      </p:sp>
      <p:sp>
        <p:nvSpPr>
          <p:cNvPr id="66" name="淘宝店铺-想搞设计(校园PPT每学期更新)"/>
          <p:cNvSpPr txBox="1"/>
          <p:nvPr userDrawn="1"/>
        </p:nvSpPr>
        <p:spPr>
          <a:xfrm>
            <a:off x="7408044" y="195281"/>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测试验证</a:t>
            </a:r>
            <a:endParaRPr/>
          </a:p>
        </p:txBody>
      </p:sp>
      <p:cxnSp>
        <p:nvCxnSpPr>
          <p:cNvPr id="67" name="淘宝店铺-想搞设计(校园PPT每学期更新)"/>
          <p:cNvCxnSpPr/>
          <p:nvPr userDrawn="1"/>
        </p:nvCxn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8" name="淘宝店铺-想搞设计(校园PPT每学期更新)"/>
          <p:cNvCxnSpPr/>
          <p:nvPr userDrawn="1"/>
        </p:nvCxn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69" name="淘宝店铺-想搞设计(校园PPT每学期更新)"/>
          <p:cNvPicPr>
            <a:picLocks noChangeAspect="1"/>
          </p:cNvPicPr>
          <p:nvPr userDrawn="1"/>
        </p:nvPicPr>
        <p:blipFill>
          <a:blip r:embed="rId3"/>
          <a:stretch>
            <a:fillRect/>
          </a:stretch>
        </p:blipFill>
        <p:spPr>
          <a:xfrm rot="16200000">
            <a:off x="5489748" y="15374"/>
            <a:ext cx="822345" cy="1161297"/>
          </a:xfrm>
          <a:prstGeom prst="rect">
            <a:avLst/>
          </a:prstGeom>
        </p:spPr>
      </p:pic>
      <p:pic>
        <p:nvPicPr>
          <p:cNvPr id="70" name="淘宝店铺-想搞设计(校园PPT每学期更新)"/>
          <p:cNvPicPr/>
          <p:nvPr userDrawn="1"/>
        </p:nvPicPr>
        <p:blipFill>
          <a:blip r:embed="rId4"/>
          <a:stretch>
            <a:fillRect/>
          </a:stretch>
        </p:blipFill>
        <p:spPr>
          <a:xfrm>
            <a:off x="9711556" y="170846"/>
            <a:ext cx="2047049" cy="378421"/>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72" name="淘宝店铺-想搞设计(校园PPT每学期更新)"/>
          <p:cNvSpPr/>
          <p:nvPr userDrawn="1"/>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armonyOS Sans SC" panose="00000500000000000000" pitchFamily="2" charset="-122"/>
              <a:ea typeface="HONOR Sans CN"/>
            </a:endParaRPr>
          </a:p>
        </p:txBody>
      </p:sp>
      <p:sp>
        <p:nvSpPr>
          <p:cNvPr id="73" name="淘宝店铺-想搞设计(校园PPT每学期更新)"/>
          <p:cNvSpPr/>
          <p:nvPr userDrawn="1"/>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984" h="708116">
                <a:moveTo>
                  <a:pt x="0" y="0"/>
                </a:moveTo>
                <a:lnTo>
                  <a:pt x="9587984" y="0"/>
                </a:lnTo>
                <a:lnTo>
                  <a:pt x="9587984" y="43841"/>
                </a:lnTo>
                <a:lnTo>
                  <a:pt x="9172880" y="708116"/>
                </a:lnTo>
                <a:lnTo>
                  <a:pt x="0" y="708116"/>
                </a:lnTo>
                <a:close/>
              </a:path>
            </a:pathLst>
          </a:custGeom>
          <a:gradFill flip="none"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HarmonyOS Sans SC" panose="00000500000000000000" pitchFamily="2" charset="-122"/>
              <a:ea typeface="HarmonyOS Sans SC" panose="00000500000000000000" pitchFamily="2" charset="-122"/>
            </a:endParaRPr>
          </a:p>
        </p:txBody>
      </p:sp>
      <p:sp>
        <p:nvSpPr>
          <p:cNvPr id="74" name="淘宝店铺-想搞设计(校园PPT每学期更新)"/>
          <p:cNvSpPr txBox="1"/>
          <p:nvPr userDrawn="1"/>
        </p:nvSpPr>
        <p:spPr>
          <a:xfrm>
            <a:off x="700837" y="19514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项目背景</a:t>
            </a:r>
            <a:endParaRPr/>
          </a:p>
        </p:txBody>
      </p:sp>
      <p:cxnSp>
        <p:nvCxnSpPr>
          <p:cNvPr id="75" name="淘宝店铺-想搞设计(校园PPT每学期更新)"/>
          <p:cNvCxnSpPr/>
          <p:nvPr userDrawn="1"/>
        </p:nvCxn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76" name="淘宝店铺-想搞设计(校园PPT每学期更新)" descr="查看图片"/>
          <p:cNvPicPr>
            <a:picLocks noChangeAspect="1" noChangeArrowheads="1"/>
          </p:cNvPicPr>
          <p:nvPr userDrawn="1"/>
        </p:nvPicPr>
        <p:blipFill>
          <a:blip r:embed="rId2"/>
          <a:srcRect t="8337" r="6027" b="4383"/>
          <a:stretch>
            <a:fillRect/>
          </a:stretch>
        </p:blipFill>
        <p:spPr bwMode="auto">
          <a:xfrm>
            <a:off x="8794046" y="0"/>
            <a:ext cx="769996" cy="715158"/>
          </a:xfrm>
          <a:custGeom>
            <a:avLst/>
            <a:gdLst>
              <a:gd name="connsiteX0" fmla="*/ 0 w 769996"/>
              <a:gd name="connsiteY0" fmla="*/ 0 h 715158"/>
              <a:gd name="connsiteX1" fmla="*/ 769996 w 769996"/>
              <a:gd name="connsiteY1" fmla="*/ 0 h 715158"/>
              <a:gd name="connsiteX2" fmla="*/ 769996 w 769996"/>
              <a:gd name="connsiteY2" fmla="*/ 715158 h 715158"/>
              <a:gd name="connsiteX3" fmla="*/ 0 w 769996"/>
              <a:gd name="connsiteY3" fmla="*/ 715158 h 715158"/>
            </a:gdLst>
            <a:ahLst/>
            <a:cxnLst>
              <a:cxn ang="0">
                <a:pos x="connsiteX0" y="connsiteY0"/>
              </a:cxn>
              <a:cxn ang="0">
                <a:pos x="connsiteX1" y="connsiteY1"/>
              </a:cxn>
              <a:cxn ang="0">
                <a:pos x="connsiteX2" y="connsiteY2"/>
              </a:cxn>
              <a:cxn ang="0">
                <a:pos x="connsiteX3" y="connsiteY3"/>
              </a:cxn>
            </a:cxnLst>
            <a:rect l="l" t="t" r="r" b="b"/>
            <a:pathLst>
              <a:path w="769996" h="715158">
                <a:moveTo>
                  <a:pt x="0" y="0"/>
                </a:moveTo>
                <a:lnTo>
                  <a:pt x="769996" y="0"/>
                </a:lnTo>
                <a:lnTo>
                  <a:pt x="769996" y="715158"/>
                </a:lnTo>
                <a:lnTo>
                  <a:pt x="0" y="715158"/>
                </a:lnTo>
                <a:close/>
              </a:path>
            </a:pathLst>
          </a:custGeom>
          <a:noFill/>
          <a:ln>
            <a:noFill/>
          </a:ln>
          <a:effectLst>
            <a:outerShdw blurRad="63500" dist="38100" algn="l" rotWithShape="0">
              <a:prstClr val="black">
                <a:alpha val="48000"/>
              </a:prstClr>
            </a:outerShdw>
          </a:effectLst>
        </p:spPr>
      </p:pic>
      <p:sp>
        <p:nvSpPr>
          <p:cNvPr id="77" name="淘宝店铺-想搞设计(校园PPT每学期更新)"/>
          <p:cNvSpPr/>
          <p:nvPr userDrawn="1"/>
        </p:nvSpPr>
        <p:spPr>
          <a:xfrm flipV="1">
            <a:off x="7915445" y="678184"/>
            <a:ext cx="560198" cy="204046"/>
          </a:xfrm>
          <a:prstGeom prst="triangle">
            <a:avLst/>
          </a:prstGeom>
          <a:gradFill flip="none"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宋体 CN Heavy" panose="02020300000000000000" pitchFamily="18" charset="-122"/>
              <a:ea typeface="思源宋体 CN Heavy" panose="02020300000000000000" pitchFamily="18" charset="-122"/>
            </a:endParaRPr>
          </a:p>
        </p:txBody>
      </p:sp>
      <p:sp>
        <p:nvSpPr>
          <p:cNvPr id="78" name="淘宝店铺-想搞设计(校园PPT每学期更新)"/>
          <p:cNvSpPr txBox="1"/>
          <p:nvPr userDrawn="1"/>
        </p:nvSpPr>
        <p:spPr>
          <a:xfrm>
            <a:off x="3073364" y="19514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400" kern="12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总体目标</a:t>
            </a:r>
            <a:endParaRPr/>
          </a:p>
        </p:txBody>
      </p:sp>
      <p:sp>
        <p:nvSpPr>
          <p:cNvPr id="79" name="淘宝店铺-想搞设计(校园PPT每学期更新)"/>
          <p:cNvSpPr txBox="1"/>
          <p:nvPr userDrawn="1"/>
        </p:nvSpPr>
        <p:spPr>
          <a:xfrm>
            <a:off x="5287412" y="195142"/>
            <a:ext cx="1231106" cy="369332"/>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r>
              <a:rPr lang="zh-CN" altLang="en-US" sz="2400" baseline="0" dirty="0">
                <a:solidFill>
                  <a:schemeClr val="bg1"/>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方案实现</a:t>
            </a:r>
            <a:endParaRPr lang="zh-CN" altLang="en-US" sz="2400" baseline="0" dirty="0">
              <a:solidFill>
                <a:schemeClr val="bg1">
                  <a:alpha val="92000"/>
                </a:schemeClr>
              </a:soli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endParaRPr>
          </a:p>
        </p:txBody>
      </p:sp>
      <p:sp>
        <p:nvSpPr>
          <p:cNvPr id="80" name="淘宝店铺-想搞设计(校园PPT每学期更新)"/>
          <p:cNvSpPr txBox="1"/>
          <p:nvPr userDrawn="1"/>
        </p:nvSpPr>
        <p:spPr>
          <a:xfrm>
            <a:off x="7408044" y="164365"/>
            <a:ext cx="1436291" cy="430887"/>
          </a:xfrm>
          <a:prstGeom prst="rect">
            <a:avLst/>
          </a:prstGeom>
          <a:noFill/>
          <a:ln>
            <a:noFill/>
          </a:ln>
          <a:effectLst/>
        </p:spPr>
        <p:txBody>
          <a:bodyPr vert="horz" wrap="none" lIns="0" tIns="0" rIns="0" bIns="0" rtlCol="0">
            <a:spAutoFit/>
          </a:bodyPr>
          <a:lstStyle>
            <a:defPPr>
              <a:defRPr lang="zh-CN"/>
            </a:defPPr>
            <a:lvl1pPr>
              <a:defRPr sz="2000">
                <a:solidFill>
                  <a:srgbClr val="FFFFFF">
                    <a:alpha val="63000"/>
                  </a:srgbClr>
                </a:solidFill>
                <a:latin typeface="思源宋体 CN Heavy" panose="02020300000000000000" pitchFamily="18" charset="-122"/>
                <a:ea typeface="思源宋体 CN Heavy" panose="02020300000000000000" pitchFamily="18" charset="-122"/>
                <a:cs typeface="思源宋体 CN Heavy" panose="02020300000000000000" pitchFamily="18" charset="-122"/>
              </a:defRPr>
            </a:lvl1pPr>
          </a:lstStyle>
          <a:p>
            <a:pPr marL="0" algn="l" defTabSz="914400" rtl="0" eaLnBrk="1" latinLnBrk="0" hangingPunct="1"/>
            <a:r>
              <a:rPr lang="zh-CN" altLang="en-US" sz="2800" b="1" kern="1200" dirty="0">
                <a:gradFill flip="none" rotWithShape="1">
                  <a:gsLst>
                    <a:gs pos="100000">
                      <a:srgbClr val="FAD77E">
                        <a:lumMod val="20000"/>
                        <a:lumOff val="80000"/>
                      </a:srgbClr>
                    </a:gs>
                    <a:gs pos="0">
                      <a:srgbClr val="FAD77E"/>
                    </a:gs>
                  </a:gsLst>
                  <a:lin ang="16200000" scaled="1"/>
                </a:gradFill>
                <a:latin typeface="思源宋体 CN Heavy" panose="02020300000000000000" pitchFamily="18" charset="-122"/>
                <a:ea typeface="思源宋体 CN Heavy" panose="02020300000000000000" pitchFamily="18" charset="-122"/>
                <a:cs typeface="OPPOSans B" panose="00020600040101010101" pitchFamily="18" charset="-122"/>
                <a:sym typeface="思源黑体 CN Bold" panose="020B0800000000000000" pitchFamily="34" charset="-122"/>
              </a:rPr>
              <a:t>测试验证</a:t>
            </a:r>
            <a:endParaRPr/>
          </a:p>
        </p:txBody>
      </p:sp>
      <p:cxnSp>
        <p:nvCxnSpPr>
          <p:cNvPr id="81" name="淘宝店铺-想搞设计(校园PPT每学期更新)"/>
          <p:cNvCxnSpPr/>
          <p:nvPr userDrawn="1"/>
        </p:nvCxn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82" name="淘宝店铺-想搞设计(校园PPT每学期更新)"/>
          <p:cNvCxnSpPr/>
          <p:nvPr userDrawn="1"/>
        </p:nvCxn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83" name="淘宝店铺-想搞设计(校园PPT每学期更新)"/>
          <p:cNvPicPr>
            <a:picLocks noChangeAspect="1"/>
          </p:cNvPicPr>
          <p:nvPr userDrawn="1"/>
        </p:nvPicPr>
        <p:blipFill>
          <a:blip r:embed="rId3"/>
          <a:stretch>
            <a:fillRect/>
          </a:stretch>
        </p:blipFill>
        <p:spPr>
          <a:xfrm rot="16200000">
            <a:off x="7701079" y="15374"/>
            <a:ext cx="822345" cy="1161297"/>
          </a:xfrm>
          <a:prstGeom prst="rect">
            <a:avLst/>
          </a:prstGeom>
        </p:spPr>
      </p:pic>
      <p:pic>
        <p:nvPicPr>
          <p:cNvPr id="84" name="淘宝店铺-想搞设计(校园PPT每学期更新)"/>
          <p:cNvPicPr/>
          <p:nvPr userDrawn="1"/>
        </p:nvPicPr>
        <p:blipFill>
          <a:blip r:embed="rId4"/>
          <a:stretch>
            <a:fillRect/>
          </a:stretch>
        </p:blipFill>
        <p:spPr>
          <a:xfrm>
            <a:off x="9711556" y="170846"/>
            <a:ext cx="2047049" cy="378421"/>
          </a:xfrm>
          <a:prstGeom prst="rect">
            <a:avLst/>
          </a:prstGeom>
        </p:spPr>
      </p:pic>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淘宝店铺-想搞设计(校园PPT每学期更新)">
    <p:spTree>
      <p:nvGrpSpPr>
        <p:cNvPr id="1" name=""/>
        <p:cNvGrpSpPr/>
        <p:nvPr/>
      </p:nvGrpSpPr>
      <p:grpSpPr>
        <a:xfrm>
          <a:off x="0" y="0"/>
          <a:ext cx="0" cy="0"/>
          <a:chOff x="0" y="0"/>
          <a:chExt cx="0" cy="0"/>
        </a:xfrm>
      </p:grpSpPr>
      <p:sp>
        <p:nvSpPr>
          <p:cNvPr id="86" name="淘宝店铺-想搞设计(校园PPT每学期更新)"/>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a:p>
        </p:txBody>
      </p:sp>
      <p:sp>
        <p:nvSpPr>
          <p:cNvPr id="87" name="淘宝店铺-想搞设计(校园PPT每学期更新)"/>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a:p>
        </p:txBody>
      </p:sp>
      <p:sp>
        <p:nvSpPr>
          <p:cNvPr id="88"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89" name="淘宝店铺-想搞设计(校园PPT每学期更新)"/>
          <p:cNvSpPr>
            <a:spLocks noGrp="1"/>
          </p:cNvSpPr>
          <p:nvPr>
            <p:ph type="ftr" sz="quarter" idx="11"/>
          </p:nvPr>
        </p:nvSpPr>
        <p:spPr/>
        <p:txBody>
          <a:bodyPr/>
          <a:lstStyle/>
          <a:p>
            <a:endParaRPr lang="zh-CN" altLang="en-US"/>
          </a:p>
        </p:txBody>
      </p:sp>
      <p:sp>
        <p:nvSpPr>
          <p:cNvPr id="90"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淘宝店铺-想搞设计(校园PPT每学期更新)">
    <p:spTree>
      <p:nvGrpSpPr>
        <p:cNvPr id="1" name=""/>
        <p:cNvGrpSpPr/>
        <p:nvPr/>
      </p:nvGrpSpPr>
      <p:grpSpPr>
        <a:xfrm>
          <a:off x="0" y="0"/>
          <a:ext cx="0" cy="0"/>
          <a:chOff x="0" y="0"/>
          <a:chExt cx="0" cy="0"/>
        </a:xfrm>
      </p:grpSpPr>
      <p:sp>
        <p:nvSpPr>
          <p:cNvPr id="92" name="淘宝店铺-想搞设计(校园PPT每学期更新)"/>
          <p:cNvSpPr>
            <a:spLocks noGrp="1"/>
          </p:cNvSpPr>
          <p:nvPr>
            <p:ph type="title"/>
          </p:nvPr>
        </p:nvSpPr>
        <p:spPr/>
        <p:txBody>
          <a:bodyPr/>
          <a:lstStyle/>
          <a:p>
            <a:r>
              <a:rPr lang="zh-CN" altLang="en-US"/>
              <a:t>单击此处编辑母版标题样式</a:t>
            </a:r>
            <a:endParaRPr/>
          </a:p>
        </p:txBody>
      </p:sp>
      <p:sp>
        <p:nvSpPr>
          <p:cNvPr id="93" name="淘宝店铺-想搞设计(校园PPT每学期更新)"/>
          <p:cNvSpPr>
            <a:spLocks noGrp="1"/>
          </p:cNvSpPr>
          <p:nvPr>
            <p:ph sz="half" idx="1"/>
          </p:nvPr>
        </p:nvSpPr>
        <p:spPr>
          <a:xfrm>
            <a:off x="838200" y="1825625"/>
            <a:ext cx="5181600" cy="4351338"/>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94" name="淘宝店铺-想搞设计(校园PPT每学期更新)"/>
          <p:cNvSpPr>
            <a:spLocks noGrp="1"/>
          </p:cNvSpPr>
          <p:nvPr>
            <p:ph sz="half" idx="2"/>
          </p:nvPr>
        </p:nvSpPr>
        <p:spPr>
          <a:xfrm>
            <a:off x="6172200" y="1825625"/>
            <a:ext cx="5181600" cy="4351338"/>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95"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96" name="淘宝店铺-想搞设计(校园PPT每学期更新)"/>
          <p:cNvSpPr>
            <a:spLocks noGrp="1"/>
          </p:cNvSpPr>
          <p:nvPr>
            <p:ph type="ftr" sz="quarter" idx="11"/>
          </p:nvPr>
        </p:nvSpPr>
        <p:spPr/>
        <p:txBody>
          <a:bodyPr/>
          <a:lstStyle/>
          <a:p>
            <a:endParaRPr lang="zh-CN" altLang="en-US"/>
          </a:p>
        </p:txBody>
      </p:sp>
      <p:sp>
        <p:nvSpPr>
          <p:cNvPr id="97"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淘宝店铺-想搞设计(校园PPT每学期更新)">
    <p:spTree>
      <p:nvGrpSpPr>
        <p:cNvPr id="1" name=""/>
        <p:cNvGrpSpPr/>
        <p:nvPr/>
      </p:nvGrpSpPr>
      <p:grpSpPr>
        <a:xfrm>
          <a:off x="0" y="0"/>
          <a:ext cx="0" cy="0"/>
          <a:chOff x="0" y="0"/>
          <a:chExt cx="0" cy="0"/>
        </a:xfrm>
      </p:grpSpPr>
      <p:sp>
        <p:nvSpPr>
          <p:cNvPr id="99" name="淘宝店铺-想搞设计(校园PPT每学期更新)"/>
          <p:cNvSpPr>
            <a:spLocks noGrp="1"/>
          </p:cNvSpPr>
          <p:nvPr>
            <p:ph type="title"/>
          </p:nvPr>
        </p:nvSpPr>
        <p:spPr>
          <a:xfrm>
            <a:off x="839788" y="365125"/>
            <a:ext cx="10515600" cy="1325563"/>
          </a:xfrm>
        </p:spPr>
        <p:txBody>
          <a:bodyPr/>
          <a:lstStyle/>
          <a:p>
            <a:r>
              <a:rPr lang="zh-CN" altLang="en-US"/>
              <a:t>单击此处编辑母版标题样式</a:t>
            </a:r>
            <a:endParaRPr/>
          </a:p>
        </p:txBody>
      </p:sp>
      <p:sp>
        <p:nvSpPr>
          <p:cNvPr id="100" name="淘宝店铺-想搞设计(校园PPT每学期更新)"/>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101" name="淘宝店铺-想搞设计(校园PPT每学期更新)"/>
          <p:cNvSpPr>
            <a:spLocks noGrp="1"/>
          </p:cNvSpPr>
          <p:nvPr>
            <p:ph sz="half" idx="2"/>
          </p:nvPr>
        </p:nvSpPr>
        <p:spPr>
          <a:xfrm>
            <a:off x="839788" y="2505075"/>
            <a:ext cx="5157787" cy="3684588"/>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02" name="淘宝店铺-想搞设计(校园PPT每学期更新)"/>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103" name="淘宝店铺-想搞设计(校园PPT每学期更新)"/>
          <p:cNvSpPr>
            <a:spLocks noGrp="1"/>
          </p:cNvSpPr>
          <p:nvPr>
            <p:ph sz="quarter" idx="4"/>
          </p:nvPr>
        </p:nvSpPr>
        <p:spPr>
          <a:xfrm>
            <a:off x="6172200" y="2505075"/>
            <a:ext cx="5183188" cy="3684588"/>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04"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105" name="淘宝店铺-想搞设计(校园PPT每学期更新)"/>
          <p:cNvSpPr>
            <a:spLocks noGrp="1"/>
          </p:cNvSpPr>
          <p:nvPr>
            <p:ph type="ftr" sz="quarter" idx="11"/>
          </p:nvPr>
        </p:nvSpPr>
        <p:spPr/>
        <p:txBody>
          <a:bodyPr/>
          <a:lstStyle/>
          <a:p>
            <a:endParaRPr lang="zh-CN" altLang="en-US"/>
          </a:p>
        </p:txBody>
      </p:sp>
      <p:sp>
        <p:nvSpPr>
          <p:cNvPr id="106"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淘宝店铺-想搞设计(校园PPT每学期更新)">
    <p:spTree>
      <p:nvGrpSpPr>
        <p:cNvPr id="1" name=""/>
        <p:cNvGrpSpPr/>
        <p:nvPr/>
      </p:nvGrpSpPr>
      <p:grpSpPr>
        <a:xfrm>
          <a:off x="0" y="0"/>
          <a:ext cx="0" cy="0"/>
          <a:chOff x="0" y="0"/>
          <a:chExt cx="0" cy="0"/>
        </a:xfrm>
      </p:grpSpPr>
      <p:sp>
        <p:nvSpPr>
          <p:cNvPr id="108" name="淘宝店铺-想搞设计(校园PPT每学期更新)"/>
          <p:cNvSpPr>
            <a:spLocks noGrp="1"/>
          </p:cNvSpPr>
          <p:nvPr>
            <p:ph type="title"/>
          </p:nvPr>
        </p:nvSpPr>
        <p:spPr/>
        <p:txBody>
          <a:bodyPr/>
          <a:lstStyle/>
          <a:p>
            <a:r>
              <a:rPr lang="zh-CN" altLang="en-US"/>
              <a:t>单击此处编辑母版标题样式</a:t>
            </a:r>
            <a:endParaRPr/>
          </a:p>
        </p:txBody>
      </p:sp>
      <p:sp>
        <p:nvSpPr>
          <p:cNvPr id="109"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110" name="淘宝店铺-想搞设计(校园PPT每学期更新)"/>
          <p:cNvSpPr>
            <a:spLocks noGrp="1"/>
          </p:cNvSpPr>
          <p:nvPr>
            <p:ph type="ftr" sz="quarter" idx="11"/>
          </p:nvPr>
        </p:nvSpPr>
        <p:spPr/>
        <p:txBody>
          <a:bodyPr/>
          <a:lstStyle/>
          <a:p>
            <a:endParaRPr lang="zh-CN" altLang="en-US"/>
          </a:p>
        </p:txBody>
      </p:sp>
      <p:sp>
        <p:nvSpPr>
          <p:cNvPr id="111"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淘宝店铺-想搞设计(校园PPT每学期更新)">
    <p:spTree>
      <p:nvGrpSpPr>
        <p:cNvPr id="1" name=""/>
        <p:cNvGrpSpPr/>
        <p:nvPr/>
      </p:nvGrpSpPr>
      <p:grpSpPr>
        <a:xfrm>
          <a:off x="0" y="0"/>
          <a:ext cx="0" cy="0"/>
          <a:chOff x="0" y="0"/>
          <a:chExt cx="0" cy="0"/>
        </a:xfrm>
      </p:grpSpPr>
      <p:sp>
        <p:nvSpPr>
          <p:cNvPr id="113"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114" name="淘宝店铺-想搞设计(校园PPT每学期更新)"/>
          <p:cNvSpPr>
            <a:spLocks noGrp="1"/>
          </p:cNvSpPr>
          <p:nvPr>
            <p:ph type="ftr" sz="quarter" idx="11"/>
          </p:nvPr>
        </p:nvSpPr>
        <p:spPr/>
        <p:txBody>
          <a:bodyPr/>
          <a:lstStyle/>
          <a:p>
            <a:endParaRPr lang="zh-CN" altLang="en-US"/>
          </a:p>
        </p:txBody>
      </p:sp>
      <p:sp>
        <p:nvSpPr>
          <p:cNvPr id="115"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cSld name="淘宝店铺-想搞设计(校园PPT每学期更新)">
    <p:spTree>
      <p:nvGrpSpPr>
        <p:cNvPr id="1" name=""/>
        <p:cNvGrpSpPr/>
        <p:nvPr/>
      </p:nvGrpSpPr>
      <p:grpSpPr>
        <a:xfrm>
          <a:off x="0" y="0"/>
          <a:ext cx="0" cy="0"/>
          <a:chOff x="0" y="0"/>
          <a:chExt cx="0" cy="0"/>
        </a:xfrm>
      </p:grpSpPr>
      <p:sp>
        <p:nvSpPr>
          <p:cNvPr id="117" name="淘宝店铺-想搞设计(校园PPT每学期更新)"/>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a:p>
        </p:txBody>
      </p:sp>
      <p:sp>
        <p:nvSpPr>
          <p:cNvPr id="118" name="淘宝店铺-想搞设计(校园PPT每学期更新)"/>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19" name="淘宝店铺-想搞设计(校园PPT每学期更新)"/>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a:p>
        </p:txBody>
      </p:sp>
      <p:sp>
        <p:nvSpPr>
          <p:cNvPr id="120"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121" name="淘宝店铺-想搞设计(校园PPT每学期更新)"/>
          <p:cNvSpPr>
            <a:spLocks noGrp="1"/>
          </p:cNvSpPr>
          <p:nvPr>
            <p:ph type="ftr" sz="quarter" idx="11"/>
          </p:nvPr>
        </p:nvSpPr>
        <p:spPr/>
        <p:txBody>
          <a:bodyPr/>
          <a:lstStyle/>
          <a:p>
            <a:endParaRPr lang="zh-CN" altLang="en-US"/>
          </a:p>
        </p:txBody>
      </p:sp>
      <p:sp>
        <p:nvSpPr>
          <p:cNvPr id="122"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淘宝店铺-想搞设计(校园PPT每学期更新)">
    <p:spTree>
      <p:nvGrpSpPr>
        <p:cNvPr id="1" name=""/>
        <p:cNvGrpSpPr/>
        <p:nvPr/>
      </p:nvGrpSpPr>
      <p:grpSpPr>
        <a:xfrm>
          <a:off x="0" y="0"/>
          <a:ext cx="0" cy="0"/>
          <a:chOff x="0" y="0"/>
          <a:chExt cx="0" cy="0"/>
        </a:xfrm>
      </p:grpSpPr>
      <p:sp>
        <p:nvSpPr>
          <p:cNvPr id="30" name="淘宝店铺-想搞设计(校园PPT每学期更新)"/>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a:p>
        </p:txBody>
      </p:sp>
      <p:sp>
        <p:nvSpPr>
          <p:cNvPr id="31" name="淘宝店铺-想搞设计(校园PPT每学期更新)"/>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32" name="淘宝店铺-想搞设计(校园PPT每学期更新)"/>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a:p>
        </p:txBody>
      </p:sp>
      <p:sp>
        <p:nvSpPr>
          <p:cNvPr id="33"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34" name="淘宝店铺-想搞设计(校园PPT每学期更新)"/>
          <p:cNvSpPr>
            <a:spLocks noGrp="1"/>
          </p:cNvSpPr>
          <p:nvPr>
            <p:ph type="ftr" sz="quarter" idx="11"/>
          </p:nvPr>
        </p:nvSpPr>
        <p:spPr/>
        <p:txBody>
          <a:bodyPr/>
          <a:lstStyle/>
          <a:p>
            <a:endParaRPr lang="zh-CN" altLang="en-US"/>
          </a:p>
        </p:txBody>
      </p:sp>
      <p:sp>
        <p:nvSpPr>
          <p:cNvPr id="35"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淘宝店铺-想搞设计(校园PPT每学期更新)">
    <p:spTree>
      <p:nvGrpSpPr>
        <p:cNvPr id="1" name=""/>
        <p:cNvGrpSpPr/>
        <p:nvPr/>
      </p:nvGrpSpPr>
      <p:grpSpPr>
        <a:xfrm>
          <a:off x="0" y="0"/>
          <a:ext cx="0" cy="0"/>
          <a:chOff x="0" y="0"/>
          <a:chExt cx="0" cy="0"/>
        </a:xfrm>
      </p:grpSpPr>
      <p:sp>
        <p:nvSpPr>
          <p:cNvPr id="37" name="淘宝店铺-想搞设计(校园PPT每学期更新)"/>
          <p:cNvSpPr>
            <a:spLocks noGrp="1"/>
          </p:cNvSpPr>
          <p:nvPr>
            <p:ph type="title"/>
          </p:nvPr>
        </p:nvSpPr>
        <p:spPr/>
        <p:txBody>
          <a:bodyPr/>
          <a:lstStyle/>
          <a:p>
            <a:r>
              <a:rPr lang="zh-CN" altLang="en-US"/>
              <a:t>单击此处编辑母版标题样式</a:t>
            </a:r>
            <a:endParaRPr/>
          </a:p>
        </p:txBody>
      </p:sp>
      <p:sp>
        <p:nvSpPr>
          <p:cNvPr id="38" name="淘宝店铺-想搞设计(校园PPT每学期更新)"/>
          <p:cNvSpPr>
            <a:spLocks noGrp="1"/>
          </p:cNvSpPr>
          <p:nvPr>
            <p:ph type="body" orient="vert" idx="1"/>
          </p:nvPr>
        </p:nvSpPr>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39"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40" name="淘宝店铺-想搞设计(校园PPT每学期更新)"/>
          <p:cNvSpPr>
            <a:spLocks noGrp="1"/>
          </p:cNvSpPr>
          <p:nvPr>
            <p:ph type="ftr" sz="quarter" idx="11"/>
          </p:nvPr>
        </p:nvSpPr>
        <p:spPr/>
        <p:txBody>
          <a:bodyPr/>
          <a:lstStyle/>
          <a:p>
            <a:endParaRPr lang="zh-CN" altLang="en-US"/>
          </a:p>
        </p:txBody>
      </p:sp>
      <p:sp>
        <p:nvSpPr>
          <p:cNvPr id="41"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cSld name="淘宝店铺-想搞设计(校园PPT每学期更新)">
    <p:spTree>
      <p:nvGrpSpPr>
        <p:cNvPr id="1" name=""/>
        <p:cNvGrpSpPr/>
        <p:nvPr/>
      </p:nvGrpSpPr>
      <p:grpSpPr>
        <a:xfrm>
          <a:off x="0" y="0"/>
          <a:ext cx="0" cy="0"/>
          <a:chOff x="0" y="0"/>
          <a:chExt cx="0" cy="0"/>
        </a:xfrm>
      </p:grpSpPr>
      <p:sp>
        <p:nvSpPr>
          <p:cNvPr id="43" name="淘宝店铺-想搞设计(校园PPT每学期更新)"/>
          <p:cNvSpPr>
            <a:spLocks noGrp="1"/>
          </p:cNvSpPr>
          <p:nvPr>
            <p:ph type="title" orient="vert"/>
          </p:nvPr>
        </p:nvSpPr>
        <p:spPr>
          <a:xfrm>
            <a:off x="8724900" y="365125"/>
            <a:ext cx="2628900" cy="5811838"/>
          </a:xfrm>
        </p:spPr>
        <p:txBody>
          <a:bodyPr vert="eaVert"/>
          <a:lstStyle/>
          <a:p>
            <a:r>
              <a:rPr lang="zh-CN" altLang="en-US"/>
              <a:t>单击此处编辑母版标题样式</a:t>
            </a:r>
            <a:endParaRPr/>
          </a:p>
        </p:txBody>
      </p:sp>
      <p:sp>
        <p:nvSpPr>
          <p:cNvPr id="44" name="淘宝店铺-想搞设计(校园PPT每学期更新)"/>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45" name="淘宝店铺-想搞设计(校园PPT每学期更新)"/>
          <p:cNvSpPr>
            <a:spLocks noGrp="1"/>
          </p:cNvSpPr>
          <p:nvPr>
            <p:ph type="dt" sz="half" idx="10"/>
          </p:nvPr>
        </p:nvSpPr>
        <p:spPr/>
        <p:txBody>
          <a:bodyPr/>
          <a:lstStyle/>
          <a:p>
            <a:fld id="{8947109F-22A2-4AD6-9503-DAA8895A2288}" type="datetimeFigureOut">
              <a:rPr lang="zh-CN" altLang="en-US" smtClean="0"/>
              <a:t>2026-08-18</a:t>
            </a:fld>
            <a:endParaRPr lang="zh-CN" altLang="en-US"/>
          </a:p>
        </p:txBody>
      </p:sp>
      <p:sp>
        <p:nvSpPr>
          <p:cNvPr id="46" name="淘宝店铺-想搞设计(校园PPT每学期更新)"/>
          <p:cNvSpPr>
            <a:spLocks noGrp="1"/>
          </p:cNvSpPr>
          <p:nvPr>
            <p:ph type="ftr" sz="quarter" idx="11"/>
          </p:nvPr>
        </p:nvSpPr>
        <p:spPr/>
        <p:txBody>
          <a:bodyPr/>
          <a:lstStyle/>
          <a:p>
            <a:endParaRPr lang="zh-CN" altLang="en-US"/>
          </a:p>
        </p:txBody>
      </p:sp>
      <p:sp>
        <p:nvSpPr>
          <p:cNvPr id="47" name="淘宝店铺-想搞设计(校园PPT每学期更新)"/>
          <p:cNvSpPr>
            <a:spLocks noGrp="1"/>
          </p:cNvSpPr>
          <p:nvPr>
            <p:ph type="sldNum" sz="quarter" idx="12"/>
          </p:nvPr>
        </p:nvSpPr>
        <p:spPr/>
        <p:txBody>
          <a:bodyPr/>
          <a:lstStyle/>
          <a:p>
            <a:fld id="{4CE29569-5A3A-47A0-9C9B-C756991C4544}" type="slidenum">
              <a:rPr lang="zh-CN" altLang="en-US" smtClean="0"/>
              <a:t>‹#›</a:t>
            </a:fld>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淘宝店铺-想搞设计(校园PPT每学期更新)">
    <p:spTree>
      <p:nvGrpSpPr>
        <p:cNvPr id="1" name=""/>
        <p:cNvGrpSpPr/>
        <p:nvPr/>
      </p:nvGrpSpPr>
      <p:grpSpPr>
        <a:xfrm>
          <a:off x="0" y="0"/>
          <a:ext cx="0" cy="0"/>
          <a:chOff x="0" y="0"/>
          <a:chExt cx="0" cy="0"/>
        </a:xfrm>
      </p:grpSpPr>
      <p:sp>
        <p:nvSpPr>
          <p:cNvPr id="49" name="淘宝店铺-想搞设计(校园PPT每学期更新)"/>
          <p:cNvSpPr>
            <a:spLocks noGrp="1"/>
          </p:cNvSpPr>
          <p:nvPr>
            <p:ph type="dt" sz="half" idx="10"/>
          </p:nvPr>
        </p:nvSpPr>
        <p:spPr>
          <a:xfrm>
            <a:off x="838200" y="6356350"/>
            <a:ext cx="2743200" cy="365125"/>
          </a:xfrm>
        </p:spPr>
        <p:txBody>
          <a:bodyPr/>
          <a:lstStyle/>
          <a:p>
            <a:fld id="{6B498514-FB4B-4573-BC60-5B1EB4C35A68}" type="datetimeFigureOut">
              <a:rPr lang="zh-CN" altLang="en-US" smtClean="0"/>
              <a:t>2026-08-18</a:t>
            </a:fld>
            <a:endParaRPr lang="zh-CN" altLang="en-US"/>
          </a:p>
        </p:txBody>
      </p:sp>
      <p:sp>
        <p:nvSpPr>
          <p:cNvPr id="50" name="淘宝店铺-想搞设计(校园PPT每学期更新)"/>
          <p:cNvSpPr>
            <a:spLocks noGrp="1"/>
          </p:cNvSpPr>
          <p:nvPr>
            <p:ph type="ftr" sz="quarter" idx="11"/>
          </p:nvPr>
        </p:nvSpPr>
        <p:spPr>
          <a:xfrm>
            <a:off x="4038600" y="6356350"/>
            <a:ext cx="4114800" cy="365125"/>
          </a:xfrm>
        </p:spPr>
        <p:txBody>
          <a:bodyPr/>
          <a:lstStyle/>
          <a:p>
            <a:endParaRPr lang="zh-CN" altLang="en-US"/>
          </a:p>
        </p:txBody>
      </p:sp>
      <p:sp>
        <p:nvSpPr>
          <p:cNvPr id="51" name="淘宝店铺-想搞设计(校园PPT每学期更新)"/>
          <p:cNvSpPr>
            <a:spLocks noGrp="1"/>
          </p:cNvSpPr>
          <p:nvPr>
            <p:ph type="sldNum" sz="quarter" idx="12"/>
          </p:nvPr>
        </p:nvSpPr>
        <p:spPr>
          <a:xfrm>
            <a:off x="8610600" y="6356350"/>
            <a:ext cx="2743200" cy="365125"/>
          </a:xfrm>
        </p:spPr>
        <p:txBody>
          <a:bodyPr/>
          <a:lstStyle/>
          <a:p>
            <a:fld id="{41C22DD9-A74D-4269-BD31-13DF1C34465C}" type="slidenum">
              <a:rPr lang="zh-CN" altLang="en-US" smtClean="0"/>
              <a:t>‹#›</a:t>
            </a:fld>
            <a:endParaRPr lang="zh-CN" altLang="en-US"/>
          </a:p>
        </p:txBody>
      </p:sp>
      <p:sp>
        <p:nvSpPr>
          <p:cNvPr id="52" name="淘宝店铺-想搞设计(校园PPT每学期更新)"/>
          <p:cNvSpPr/>
          <p:nvPr userDrawn="1"/>
        </p:nvSpPr>
        <p:spPr>
          <a:xfrm>
            <a:off x="-1" y="0"/>
            <a:ext cx="12192000" cy="6858000"/>
          </a:xfrm>
          <a:prstGeom prst="rect">
            <a:avLst/>
          </a:prstGeom>
          <a:blipFill dpi="0" rotWithShape="1">
            <a:blip r:embed="rId2">
              <a:alphaModFix amt="63000"/>
            </a:blip>
            <a:stretch>
              <a:fillRect/>
            </a:stretch>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3" name="淘宝店铺-想搞设计(校园PPT每学期更新)"/>
          <p:cNvSpPr/>
          <p:nvPr userDrawn="1"/>
        </p:nvSpPr>
        <p:spPr>
          <a:xfrm>
            <a:off x="0" y="6696680"/>
            <a:ext cx="12192000" cy="161320"/>
          </a:xfrm>
          <a:prstGeom prst="rect">
            <a:avLst/>
          </a:prstGeom>
          <a:gradFill flip="none" rotWithShape="1">
            <a:gsLst>
              <a:gs pos="55000">
                <a:srgbClr val="C00000"/>
              </a:gs>
              <a:gs pos="100000">
                <a:srgbClr val="FFC000"/>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54" name="淘宝店铺-想搞设计(校园PPT每学期更新)"/>
          <p:cNvGrpSpPr/>
          <p:nvPr userDrawn="1"/>
        </p:nvGrpSpPr>
        <p:grpSpPr>
          <a:xfrm>
            <a:off x="0" y="762529"/>
            <a:ext cx="12192000" cy="95578"/>
            <a:chOff x="0" y="701701"/>
            <a:chExt cx="12192000" cy="95578"/>
          </a:xfrm>
        </p:grpSpPr>
        <p:cxnSp>
          <p:nvCxnSpPr>
            <p:cNvPr id="55" name="淘宝店铺-想搞设计(校园PPT每学期更新)"/>
            <p:cNvCxnSpPr/>
            <p:nvPr/>
          </p:nvCxnSpPr>
          <p:spPr>
            <a:xfrm flipV="1">
              <a:off x="0" y="701701"/>
              <a:ext cx="12192000" cy="3645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淘宝店铺-想搞设计(校园PPT每学期更新)"/>
            <p:cNvCxnSpPr/>
            <p:nvPr/>
          </p:nvCxnSpPr>
          <p:spPr>
            <a:xfrm flipV="1">
              <a:off x="0" y="760826"/>
              <a:ext cx="12192000" cy="36453"/>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124"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125"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126" name="淘宝店铺-想搞设计(校园PPT每学期更新)"/>
          <p:cNvSpPr>
            <a:spLocks noGrp="1"/>
          </p:cNvSpPr>
          <p:nvPr/>
        </p:nvSpPr>
        <p:spPr>
          <a:xfrm>
            <a:off x="700837" y="133726"/>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a:ea typeface="思源宋体 CN Heavy"/>
                <a:cs typeface="思源宋体 CN Heavy"/>
              </a:rPr>
              <a:t>项目背景</a:t>
            </a:r>
            <a:endParaRPr/>
          </a:p>
        </p:txBody>
      </p:sp>
      <p:sp>
        <p:nvSpPr>
          <p:cNvPr id="127"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28"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129" name="淘宝店铺-想搞设计(校园PPT每学期更新)"/>
          <p:cNvSpPr>
            <a:spLocks noGrp="1"/>
          </p:cNvSpPr>
          <p:nvPr/>
        </p:nvSpPr>
        <p:spPr>
          <a:xfrm flipV="1">
            <a:off x="1138883"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a:ea typeface="思源宋体 CN Heavy"/>
              <a:cs typeface="思源宋体 CN Heavy"/>
            </a:endParaRPr>
          </a:p>
        </p:txBody>
      </p:sp>
      <p:sp>
        <p:nvSpPr>
          <p:cNvPr id="130" name="淘宝店铺-想搞设计(校园PPT每学期更新)"/>
          <p:cNvSpPr>
            <a:spLocks noGrp="1"/>
          </p:cNvSpPr>
          <p:nvPr/>
        </p:nvSpPr>
        <p:spPr>
          <a:xfrm>
            <a:off x="3073362" y="164503"/>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总体目标</a:t>
            </a:r>
            <a:endParaRPr/>
          </a:p>
        </p:txBody>
      </p:sp>
      <p:sp>
        <p:nvSpPr>
          <p:cNvPr id="131" name="淘宝店铺-想搞设计(校园PPT每学期更新)"/>
          <p:cNvSpPr>
            <a:spLocks noGrp="1"/>
          </p:cNvSpPr>
          <p:nvPr/>
        </p:nvSpPr>
        <p:spPr>
          <a:xfrm>
            <a:off x="5240702" y="164503"/>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r>
              <a:rPr sz="2400">
                <a:solidFill>
                  <a:schemeClr val="bg1"/>
                </a:solidFill>
                <a:latin typeface="思源宋体 CN Heavy"/>
                <a:ea typeface="思源宋体 CN Heavy"/>
                <a:cs typeface="思源宋体 CN Heavy"/>
              </a:rPr>
              <a:t>方案实现</a:t>
            </a:r>
            <a:endParaRPr sz="2400" baseline="0">
              <a:solidFill>
                <a:schemeClr val="bg1">
                  <a:alpha val="92000"/>
                </a:schemeClr>
              </a:solidFill>
              <a:latin typeface="思源宋体 CN Heavy"/>
              <a:ea typeface="思源宋体 CN Heavy"/>
              <a:cs typeface="思源宋体 CN Heavy"/>
            </a:endParaRPr>
          </a:p>
        </p:txBody>
      </p:sp>
      <p:sp>
        <p:nvSpPr>
          <p:cNvPr id="132" name="淘宝店铺-想搞设计(校园PPT每学期更新)"/>
          <p:cNvSpPr>
            <a:spLocks noGrp="1"/>
          </p:cNvSpPr>
          <p:nvPr/>
        </p:nvSpPr>
        <p:spPr>
          <a:xfrm>
            <a:off x="7408044" y="164503"/>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测试验证</a:t>
            </a:r>
            <a:endParaRPr/>
          </a:p>
        </p:txBody>
      </p:sp>
      <p:sp>
        <p:nvSpPr>
          <p:cNvPr id="133"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134"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35" name="淘宝店铺-想搞设计(校园PPT每学期更新)"/>
          <p:cNvPicPr>
            <a:picLocks noChangeAspect="1"/>
          </p:cNvPicPr>
          <p:nvPr/>
        </p:nvPicPr>
        <p:blipFill>
          <a:blip r:embed="rId3"/>
          <a:stretch>
            <a:fillRect/>
          </a:stretch>
        </p:blipFill>
        <p:spPr>
          <a:xfrm rot="16200000">
            <a:off x="949214" y="-1267"/>
            <a:ext cx="822345" cy="1161297"/>
          </a:xfrm>
          <a:prstGeom prst="rect">
            <a:avLst/>
          </a:prstGeom>
        </p:spPr>
      </p:pic>
      <p:pic>
        <p:nvPicPr>
          <p:cNvPr id="136"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138"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139"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140" name="淘宝店铺-想搞设计(校园PPT每学期更新)"/>
          <p:cNvSpPr>
            <a:spLocks noGrp="1"/>
          </p:cNvSpPr>
          <p:nvPr/>
        </p:nvSpPr>
        <p:spPr>
          <a:xfrm>
            <a:off x="700837" y="17989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项目背景</a:t>
            </a:r>
            <a:endParaRPr/>
          </a:p>
        </p:txBody>
      </p:sp>
      <p:sp>
        <p:nvSpPr>
          <p:cNvPr id="141"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42"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143" name="淘宝店铺-想搞设计(校园PPT每学期更新)"/>
          <p:cNvSpPr>
            <a:spLocks noGrp="1"/>
          </p:cNvSpPr>
          <p:nvPr/>
        </p:nvSpPr>
        <p:spPr>
          <a:xfrm flipV="1">
            <a:off x="3453068"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a:ea typeface="思源宋体 CN Heavy"/>
              <a:cs typeface="思源宋体 CN Heavy"/>
            </a:endParaRPr>
          </a:p>
        </p:txBody>
      </p:sp>
      <p:sp>
        <p:nvSpPr>
          <p:cNvPr id="144" name="淘宝店铺-想搞设计(校园PPT每学期更新)"/>
          <p:cNvSpPr>
            <a:spLocks noGrp="1"/>
          </p:cNvSpPr>
          <p:nvPr/>
        </p:nvSpPr>
        <p:spPr>
          <a:xfrm>
            <a:off x="3073362" y="149115"/>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a:ea typeface="思源宋体 CN Heavy"/>
                <a:cs typeface="思源宋体 CN Heavy"/>
              </a:rPr>
              <a:t>总体目标</a:t>
            </a:r>
            <a:endParaRPr/>
          </a:p>
        </p:txBody>
      </p:sp>
      <p:sp>
        <p:nvSpPr>
          <p:cNvPr id="145" name="淘宝店铺-想搞设计(校园PPT每学期更新)"/>
          <p:cNvSpPr>
            <a:spLocks noGrp="1"/>
          </p:cNvSpPr>
          <p:nvPr/>
        </p:nvSpPr>
        <p:spPr>
          <a:xfrm>
            <a:off x="5240702" y="17989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r>
              <a:rPr sz="2400">
                <a:solidFill>
                  <a:schemeClr val="bg1"/>
                </a:solidFill>
                <a:latin typeface="思源宋体 CN Heavy"/>
                <a:ea typeface="思源宋体 CN Heavy"/>
                <a:cs typeface="思源宋体 CN Heavy"/>
              </a:rPr>
              <a:t>方案实现</a:t>
            </a:r>
            <a:endParaRPr sz="2400" baseline="0">
              <a:solidFill>
                <a:schemeClr val="bg1">
                  <a:alpha val="92000"/>
                </a:schemeClr>
              </a:solidFill>
              <a:latin typeface="思源宋体 CN Heavy"/>
              <a:ea typeface="思源宋体 CN Heavy"/>
              <a:cs typeface="思源宋体 CN Heavy"/>
            </a:endParaRPr>
          </a:p>
        </p:txBody>
      </p:sp>
      <p:sp>
        <p:nvSpPr>
          <p:cNvPr id="146" name="淘宝店铺-想搞设计(校园PPT每学期更新)"/>
          <p:cNvSpPr>
            <a:spLocks noGrp="1"/>
          </p:cNvSpPr>
          <p:nvPr/>
        </p:nvSpPr>
        <p:spPr>
          <a:xfrm>
            <a:off x="7408044" y="17989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测试验证</a:t>
            </a:r>
            <a:endParaRPr/>
          </a:p>
        </p:txBody>
      </p:sp>
      <p:sp>
        <p:nvSpPr>
          <p:cNvPr id="147"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148"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49" name="淘宝店铺-想搞设计(校园PPT每学期更新)"/>
          <p:cNvPicPr>
            <a:picLocks noChangeAspect="1"/>
          </p:cNvPicPr>
          <p:nvPr/>
        </p:nvPicPr>
        <p:blipFill>
          <a:blip r:embed="rId3"/>
          <a:stretch>
            <a:fillRect/>
          </a:stretch>
        </p:blipFill>
        <p:spPr>
          <a:xfrm rot="16200000">
            <a:off x="3312645" y="-1267"/>
            <a:ext cx="822345" cy="1161297"/>
          </a:xfrm>
          <a:prstGeom prst="rect">
            <a:avLst/>
          </a:prstGeom>
        </p:spPr>
      </p:pic>
      <p:pic>
        <p:nvPicPr>
          <p:cNvPr id="150"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179"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180"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181" name="淘宝店铺-想搞设计(校园PPT每学期更新)"/>
          <p:cNvSpPr>
            <a:spLocks noGrp="1"/>
          </p:cNvSpPr>
          <p:nvPr/>
        </p:nvSpPr>
        <p:spPr>
          <a:xfrm>
            <a:off x="700837" y="195281"/>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项目背景</a:t>
            </a:r>
            <a:endParaRPr/>
          </a:p>
        </p:txBody>
      </p:sp>
      <p:sp>
        <p:nvSpPr>
          <p:cNvPr id="182"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83"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184" name="淘宝店铺-想搞设计(校园PPT每学期更新)"/>
          <p:cNvSpPr>
            <a:spLocks noGrp="1"/>
          </p:cNvSpPr>
          <p:nvPr/>
        </p:nvSpPr>
        <p:spPr>
          <a:xfrm flipV="1">
            <a:off x="5708960"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a:ea typeface="思源宋体 CN Heavy"/>
              <a:cs typeface="思源宋体 CN Heavy"/>
            </a:endParaRPr>
          </a:p>
        </p:txBody>
      </p:sp>
      <p:sp>
        <p:nvSpPr>
          <p:cNvPr id="185" name="淘宝店铺-想搞设计(校园PPT每学期更新)"/>
          <p:cNvSpPr>
            <a:spLocks noGrp="1"/>
          </p:cNvSpPr>
          <p:nvPr/>
        </p:nvSpPr>
        <p:spPr>
          <a:xfrm>
            <a:off x="3073362" y="195281"/>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总体目标</a:t>
            </a:r>
            <a:endParaRPr/>
          </a:p>
        </p:txBody>
      </p:sp>
      <p:sp>
        <p:nvSpPr>
          <p:cNvPr id="186" name="淘宝店铺-想搞设计(校园PPT每学期更新)"/>
          <p:cNvSpPr>
            <a:spLocks noGrp="1"/>
          </p:cNvSpPr>
          <p:nvPr/>
        </p:nvSpPr>
        <p:spPr>
          <a:xfrm>
            <a:off x="5240702" y="164504"/>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a:ea typeface="思源宋体 CN Heavy"/>
                <a:cs typeface="思源宋体 CN Heavy"/>
              </a:rPr>
              <a:t>方案实现</a:t>
            </a:r>
            <a:endParaRPr/>
          </a:p>
        </p:txBody>
      </p:sp>
      <p:sp>
        <p:nvSpPr>
          <p:cNvPr id="187" name="淘宝店铺-想搞设计(校园PPT每学期更新)"/>
          <p:cNvSpPr>
            <a:spLocks noGrp="1"/>
          </p:cNvSpPr>
          <p:nvPr/>
        </p:nvSpPr>
        <p:spPr>
          <a:xfrm>
            <a:off x="7408044" y="195281"/>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测试验证</a:t>
            </a:r>
            <a:endParaRPr/>
          </a:p>
        </p:txBody>
      </p:sp>
      <p:sp>
        <p:nvSpPr>
          <p:cNvPr id="188"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189"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90" name="淘宝店铺-想搞设计(校园PPT每学期更新)"/>
          <p:cNvPicPr>
            <a:picLocks noChangeAspect="1"/>
          </p:cNvPicPr>
          <p:nvPr/>
        </p:nvPicPr>
        <p:blipFill>
          <a:blip r:embed="rId3"/>
          <a:stretch>
            <a:fillRect/>
          </a:stretch>
        </p:blipFill>
        <p:spPr>
          <a:xfrm rot="16200000">
            <a:off x="5489748" y="15374"/>
            <a:ext cx="822345" cy="1161297"/>
          </a:xfrm>
          <a:prstGeom prst="rect">
            <a:avLst/>
          </a:prstGeom>
        </p:spPr>
      </p:pic>
      <p:pic>
        <p:nvPicPr>
          <p:cNvPr id="191"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193"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194"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195" name="淘宝店铺-想搞设计(校园PPT每学期更新)"/>
          <p:cNvSpPr>
            <a:spLocks noGrp="1"/>
          </p:cNvSpPr>
          <p:nvPr/>
        </p:nvSpPr>
        <p:spPr>
          <a:xfrm>
            <a:off x="700837"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项目背景</a:t>
            </a:r>
            <a:endParaRPr/>
          </a:p>
        </p:txBody>
      </p:sp>
      <p:sp>
        <p:nvSpPr>
          <p:cNvPr id="196"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197"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198" name="淘宝店铺-想搞设计(校园PPT每学期更新)"/>
          <p:cNvSpPr>
            <a:spLocks noGrp="1"/>
          </p:cNvSpPr>
          <p:nvPr/>
        </p:nvSpPr>
        <p:spPr>
          <a:xfrm flipV="1">
            <a:off x="7915445"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a:ea typeface="思源宋体 CN Heavy"/>
              <a:cs typeface="思源宋体 CN Heavy"/>
            </a:endParaRPr>
          </a:p>
        </p:txBody>
      </p:sp>
      <p:sp>
        <p:nvSpPr>
          <p:cNvPr id="199" name="淘宝店铺-想搞设计(校园PPT每学期更新)"/>
          <p:cNvSpPr>
            <a:spLocks noGrp="1"/>
          </p:cNvSpPr>
          <p:nvPr/>
        </p:nvSpPr>
        <p:spPr>
          <a:xfrm>
            <a:off x="3073364"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400">
                <a:solidFill>
                  <a:schemeClr val="bg1"/>
                </a:solidFill>
                <a:latin typeface="思源宋体 CN Heavy"/>
                <a:ea typeface="思源宋体 CN Heavy"/>
                <a:cs typeface="思源宋体 CN Heavy"/>
              </a:rPr>
              <a:t>总体目标</a:t>
            </a:r>
            <a:endParaRPr/>
          </a:p>
        </p:txBody>
      </p:sp>
      <p:sp>
        <p:nvSpPr>
          <p:cNvPr id="200" name="淘宝店铺-想搞设计(校园PPT每学期更新)"/>
          <p:cNvSpPr>
            <a:spLocks noGrp="1"/>
          </p:cNvSpPr>
          <p:nvPr/>
        </p:nvSpPr>
        <p:spPr>
          <a:xfrm>
            <a:off x="5287412"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r>
              <a:rPr sz="2400">
                <a:solidFill>
                  <a:schemeClr val="bg1"/>
                </a:solidFill>
                <a:latin typeface="思源宋体 CN Heavy"/>
                <a:ea typeface="思源宋体 CN Heavy"/>
                <a:cs typeface="思源宋体 CN Heavy"/>
              </a:rPr>
              <a:t>方案实现</a:t>
            </a:r>
            <a:endParaRPr sz="2400" baseline="0">
              <a:solidFill>
                <a:schemeClr val="bg1">
                  <a:alpha val="92000"/>
                </a:schemeClr>
              </a:solidFill>
              <a:latin typeface="思源宋体 CN Heavy"/>
              <a:ea typeface="思源宋体 CN Heavy"/>
              <a:cs typeface="思源宋体 CN Heavy"/>
            </a:endParaRPr>
          </a:p>
        </p:txBody>
      </p:sp>
      <p:sp>
        <p:nvSpPr>
          <p:cNvPr id="201" name="淘宝店铺-想搞设计(校园PPT每学期更新)"/>
          <p:cNvSpPr>
            <a:spLocks noGrp="1"/>
          </p:cNvSpPr>
          <p:nvPr/>
        </p:nvSpPr>
        <p:spPr>
          <a:xfrm>
            <a:off x="7408044" y="164365"/>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a:ea typeface="思源宋体 CN Heavy"/>
                <a:cs typeface="思源宋体 CN Heavy"/>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a:ea typeface="思源宋体 CN Heavy"/>
                <a:cs typeface="思源宋体 CN Heavy"/>
              </a:rPr>
              <a:t>测试验证</a:t>
            </a:r>
            <a:endParaRPr/>
          </a:p>
        </p:txBody>
      </p:sp>
      <p:sp>
        <p:nvSpPr>
          <p:cNvPr id="202"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203"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204" name="淘宝店铺-想搞设计(校园PPT每学期更新)"/>
          <p:cNvPicPr>
            <a:picLocks noChangeAspect="1"/>
          </p:cNvPicPr>
          <p:nvPr/>
        </p:nvPicPr>
        <p:blipFill>
          <a:blip r:embed="rId3"/>
          <a:stretch>
            <a:fillRect/>
          </a:stretch>
        </p:blipFill>
        <p:spPr>
          <a:xfrm rot="16200000">
            <a:off x="7701079" y="15374"/>
            <a:ext cx="822345" cy="1161297"/>
          </a:xfrm>
          <a:prstGeom prst="rect">
            <a:avLst/>
          </a:prstGeom>
        </p:spPr>
      </p:pic>
      <p:pic>
        <p:nvPicPr>
          <p:cNvPr id="205"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淘宝店铺-想搞设计(校园PPT每学期更新)">
    <p:spTree>
      <p:nvGrpSpPr>
        <p:cNvPr id="1" name=""/>
        <p:cNvGrpSpPr/>
        <p:nvPr/>
      </p:nvGrpSpPr>
      <p:grpSpPr>
        <a:xfrm>
          <a:off x="0" y="0"/>
          <a:ext cx="0" cy="0"/>
          <a:chOff x="0" y="0"/>
          <a:chExt cx="0" cy="0"/>
        </a:xfrm>
      </p:grpSpPr>
      <p:sp>
        <p:nvSpPr>
          <p:cNvPr id="207" name="淘宝店铺-想搞设计(校园PPT每学期更新)"/>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208" name="淘宝店铺-想搞设计(校园PPT每学期更新)"/>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单击此处编辑母版文本样式</a:t>
            </a:r>
          </a:p>
        </p:txBody>
      </p:sp>
      <p:sp>
        <p:nvSpPr>
          <p:cNvPr id="209"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10" name="淘宝店铺-想搞设计(校园PPT每学期更新)"/>
          <p:cNvSpPr>
            <a:spLocks noGrp="1"/>
          </p:cNvSpPr>
          <p:nvPr>
            <p:ph type="ftr" idx="11"/>
          </p:nvPr>
        </p:nvSpPr>
        <p:spPr/>
        <p:txBody>
          <a:bodyPr/>
          <a:lstStyle/>
          <a:p>
            <a:endParaRPr/>
          </a:p>
        </p:txBody>
      </p:sp>
      <p:sp>
        <p:nvSpPr>
          <p:cNvPr id="211"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淘宝店铺-想搞设计(校园PPT每学期更新)">
    <p:spTree>
      <p:nvGrpSpPr>
        <p:cNvPr id="1" name=""/>
        <p:cNvGrpSpPr/>
        <p:nvPr/>
      </p:nvGrpSpPr>
      <p:grpSpPr>
        <a:xfrm>
          <a:off x="0" y="0"/>
          <a:ext cx="0" cy="0"/>
          <a:chOff x="0" y="0"/>
          <a:chExt cx="0" cy="0"/>
        </a:xfrm>
      </p:grpSpPr>
      <p:sp>
        <p:nvSpPr>
          <p:cNvPr id="213" name="淘宝店铺-想搞设计(校园PPT每学期更新)"/>
          <p:cNvSpPr>
            <a:spLocks noGrp="1"/>
          </p:cNvSpPr>
          <p:nvPr>
            <p:ph type="title"/>
          </p:nvPr>
        </p:nvSpPr>
        <p:spPr/>
        <p:txBody>
          <a:bodyPr/>
          <a:lstStyle/>
          <a:p>
            <a:r>
              <a:t>单击此处编辑母版标题样式</a:t>
            </a:r>
          </a:p>
        </p:txBody>
      </p:sp>
      <p:sp>
        <p:nvSpPr>
          <p:cNvPr id="214" name="淘宝店铺-想搞设计(校园PPT每学期更新)"/>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15" name="淘宝店铺-想搞设计(校园PPT每学期更新)"/>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16"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17" name="淘宝店铺-想搞设计(校园PPT每学期更新)"/>
          <p:cNvSpPr>
            <a:spLocks noGrp="1"/>
          </p:cNvSpPr>
          <p:nvPr>
            <p:ph type="ftr" idx="11"/>
          </p:nvPr>
        </p:nvSpPr>
        <p:spPr/>
        <p:txBody>
          <a:bodyPr/>
          <a:lstStyle/>
          <a:p>
            <a:endParaRPr/>
          </a:p>
        </p:txBody>
      </p:sp>
      <p:sp>
        <p:nvSpPr>
          <p:cNvPr id="218"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cSld name="淘宝店铺-想搞设计(校园PPT每学期更新)">
    <p:spTree>
      <p:nvGrpSpPr>
        <p:cNvPr id="1" name=""/>
        <p:cNvGrpSpPr/>
        <p:nvPr/>
      </p:nvGrpSpPr>
      <p:grpSpPr>
        <a:xfrm>
          <a:off x="0" y="0"/>
          <a:ext cx="0" cy="0"/>
          <a:chOff x="0" y="0"/>
          <a:chExt cx="0" cy="0"/>
        </a:xfrm>
      </p:grpSpPr>
      <p:sp>
        <p:nvSpPr>
          <p:cNvPr id="220" name="淘宝店铺-想搞设计(校园PPT每学期更新)"/>
          <p:cNvSpPr>
            <a:spLocks noGrp="1"/>
          </p:cNvSpPr>
          <p:nvPr>
            <p:ph type="title"/>
          </p:nvPr>
        </p:nvSpPr>
        <p:spPr>
          <a:xfrm>
            <a:off x="839788" y="365125"/>
            <a:ext cx="10515600" cy="1325563"/>
          </a:xfrm>
        </p:spPr>
        <p:txBody>
          <a:bodyPr/>
          <a:lstStyle/>
          <a:p>
            <a:r>
              <a:t>单击此处编辑母版标题样式</a:t>
            </a:r>
          </a:p>
        </p:txBody>
      </p:sp>
      <p:sp>
        <p:nvSpPr>
          <p:cNvPr id="221" name="淘宝店铺-想搞设计(校园PPT每学期更新)"/>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222" name="淘宝店铺-想搞设计(校园PPT每学期更新)"/>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23" name="淘宝店铺-想搞设计(校园PPT每学期更新)"/>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224" name="淘宝店铺-想搞设计(校园PPT每学期更新)"/>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25"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26" name="淘宝店铺-想搞设计(校园PPT每学期更新)"/>
          <p:cNvSpPr>
            <a:spLocks noGrp="1"/>
          </p:cNvSpPr>
          <p:nvPr>
            <p:ph type="ftr" idx="11"/>
          </p:nvPr>
        </p:nvSpPr>
        <p:spPr/>
        <p:txBody>
          <a:bodyPr/>
          <a:lstStyle/>
          <a:p>
            <a:endParaRPr/>
          </a:p>
        </p:txBody>
      </p:sp>
      <p:sp>
        <p:nvSpPr>
          <p:cNvPr id="227"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淘宝店铺-想搞设计(校园PPT每学期更新)">
    <p:spTree>
      <p:nvGrpSpPr>
        <p:cNvPr id="1" name=""/>
        <p:cNvGrpSpPr/>
        <p:nvPr/>
      </p:nvGrpSpPr>
      <p:grpSpPr>
        <a:xfrm>
          <a:off x="0" y="0"/>
          <a:ext cx="0" cy="0"/>
          <a:chOff x="0" y="0"/>
          <a:chExt cx="0" cy="0"/>
        </a:xfrm>
      </p:grpSpPr>
      <p:sp>
        <p:nvSpPr>
          <p:cNvPr id="229" name="淘宝店铺-想搞设计(校园PPT每学期更新)"/>
          <p:cNvSpPr>
            <a:spLocks noGrp="1"/>
          </p:cNvSpPr>
          <p:nvPr>
            <p:ph type="title"/>
          </p:nvPr>
        </p:nvSpPr>
        <p:spPr/>
        <p:txBody>
          <a:bodyPr/>
          <a:lstStyle/>
          <a:p>
            <a:r>
              <a:t>单击此处编辑母版标题样式</a:t>
            </a:r>
          </a:p>
        </p:txBody>
      </p:sp>
      <p:sp>
        <p:nvSpPr>
          <p:cNvPr id="230"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31" name="淘宝店铺-想搞设计(校园PPT每学期更新)"/>
          <p:cNvSpPr>
            <a:spLocks noGrp="1"/>
          </p:cNvSpPr>
          <p:nvPr>
            <p:ph type="ftr" idx="11"/>
          </p:nvPr>
        </p:nvSpPr>
        <p:spPr/>
        <p:txBody>
          <a:bodyPr/>
          <a:lstStyle/>
          <a:p>
            <a:endParaRPr/>
          </a:p>
        </p:txBody>
      </p:sp>
      <p:sp>
        <p:nvSpPr>
          <p:cNvPr id="232"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淘宝店铺-想搞设计(校园PPT每学期更新)">
    <p:spTree>
      <p:nvGrpSpPr>
        <p:cNvPr id="1" name=""/>
        <p:cNvGrpSpPr/>
        <p:nvPr/>
      </p:nvGrpSpPr>
      <p:grpSpPr>
        <a:xfrm>
          <a:off x="0" y="0"/>
          <a:ext cx="0" cy="0"/>
          <a:chOff x="0" y="0"/>
          <a:chExt cx="0" cy="0"/>
        </a:xfrm>
      </p:grpSpPr>
      <p:sp>
        <p:nvSpPr>
          <p:cNvPr id="234"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35" name="淘宝店铺-想搞设计(校园PPT每学期更新)"/>
          <p:cNvSpPr>
            <a:spLocks noGrp="1"/>
          </p:cNvSpPr>
          <p:nvPr>
            <p:ph type="ftr" idx="11"/>
          </p:nvPr>
        </p:nvSpPr>
        <p:spPr/>
        <p:txBody>
          <a:bodyPr/>
          <a:lstStyle/>
          <a:p>
            <a:endParaRPr/>
          </a:p>
        </p:txBody>
      </p:sp>
      <p:sp>
        <p:nvSpPr>
          <p:cNvPr id="236"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cSld name="淘宝店铺-想搞设计(校园PPT每学期更新)">
    <p:spTree>
      <p:nvGrpSpPr>
        <p:cNvPr id="1" name=""/>
        <p:cNvGrpSpPr/>
        <p:nvPr/>
      </p:nvGrpSpPr>
      <p:grpSpPr>
        <a:xfrm>
          <a:off x="0" y="0"/>
          <a:ext cx="0" cy="0"/>
          <a:chOff x="0" y="0"/>
          <a:chExt cx="0" cy="0"/>
        </a:xfrm>
      </p:grpSpPr>
      <p:sp>
        <p:nvSpPr>
          <p:cNvPr id="238" name="淘宝店铺-想搞设计(校园PPT每学期更新)"/>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239" name="淘宝店铺-想搞设计(校园PPT每学期更新)"/>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40" name="淘宝店铺-想搞设计(校园PPT每学期更新)"/>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241"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242" name="淘宝店铺-想搞设计(校园PPT每学期更新)"/>
          <p:cNvSpPr>
            <a:spLocks noGrp="1"/>
          </p:cNvSpPr>
          <p:nvPr>
            <p:ph type="ftr" idx="11"/>
          </p:nvPr>
        </p:nvSpPr>
        <p:spPr/>
        <p:txBody>
          <a:bodyPr/>
          <a:lstStyle/>
          <a:p>
            <a:endParaRPr/>
          </a:p>
        </p:txBody>
      </p:sp>
      <p:sp>
        <p:nvSpPr>
          <p:cNvPr id="243"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淘宝店铺-想搞设计(校园PPT每学期更新)">
    <p:spTree>
      <p:nvGrpSpPr>
        <p:cNvPr id="1" name=""/>
        <p:cNvGrpSpPr/>
        <p:nvPr/>
      </p:nvGrpSpPr>
      <p:grpSpPr>
        <a:xfrm>
          <a:off x="0" y="0"/>
          <a:ext cx="0" cy="0"/>
          <a:chOff x="0" y="0"/>
          <a:chExt cx="0" cy="0"/>
        </a:xfrm>
      </p:grpSpPr>
      <p:sp>
        <p:nvSpPr>
          <p:cNvPr id="152" name="淘宝店铺-想搞设计(校园PPT每学期更新)"/>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153" name="淘宝店铺-想搞设计(校园PPT每学期更新)"/>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154" name="淘宝店铺-想搞设计(校园PPT每学期更新)"/>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155"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156" name="淘宝店铺-想搞设计(校园PPT每学期更新)"/>
          <p:cNvSpPr>
            <a:spLocks noGrp="1"/>
          </p:cNvSpPr>
          <p:nvPr>
            <p:ph type="ftr" idx="11"/>
          </p:nvPr>
        </p:nvSpPr>
        <p:spPr/>
        <p:txBody>
          <a:bodyPr/>
          <a:lstStyle/>
          <a:p>
            <a:endParaRPr/>
          </a:p>
        </p:txBody>
      </p:sp>
      <p:sp>
        <p:nvSpPr>
          <p:cNvPr id="157"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cSld name="淘宝店铺-想搞设计(校园PPT每学期更新)">
    <p:spTree>
      <p:nvGrpSpPr>
        <p:cNvPr id="1" name=""/>
        <p:cNvGrpSpPr/>
        <p:nvPr/>
      </p:nvGrpSpPr>
      <p:grpSpPr>
        <a:xfrm>
          <a:off x="0" y="0"/>
          <a:ext cx="0" cy="0"/>
          <a:chOff x="0" y="0"/>
          <a:chExt cx="0" cy="0"/>
        </a:xfrm>
      </p:grpSpPr>
      <p:sp>
        <p:nvSpPr>
          <p:cNvPr id="159" name="淘宝店铺-想搞设计(校园PPT每学期更新)"/>
          <p:cNvSpPr>
            <a:spLocks noGrp="1"/>
          </p:cNvSpPr>
          <p:nvPr>
            <p:ph type="title"/>
          </p:nvPr>
        </p:nvSpPr>
        <p:spPr/>
        <p:txBody>
          <a:bodyPr/>
          <a:lstStyle/>
          <a:p>
            <a:r>
              <a:t>单击此处编辑母版标题样式</a:t>
            </a:r>
          </a:p>
        </p:txBody>
      </p:sp>
      <p:sp>
        <p:nvSpPr>
          <p:cNvPr id="160" name="淘宝店铺-想搞设计(校园PPT每学期更新)"/>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61"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162" name="淘宝店铺-想搞设计(校园PPT每学期更新)"/>
          <p:cNvSpPr>
            <a:spLocks noGrp="1"/>
          </p:cNvSpPr>
          <p:nvPr>
            <p:ph type="ftr" idx="11"/>
          </p:nvPr>
        </p:nvSpPr>
        <p:spPr/>
        <p:txBody>
          <a:bodyPr/>
          <a:lstStyle/>
          <a:p>
            <a:endParaRPr/>
          </a:p>
        </p:txBody>
      </p:sp>
      <p:sp>
        <p:nvSpPr>
          <p:cNvPr id="163"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cSld name="淘宝店铺-想搞设计(校园PPT每学期更新)">
    <p:spTree>
      <p:nvGrpSpPr>
        <p:cNvPr id="1" name=""/>
        <p:cNvGrpSpPr/>
        <p:nvPr/>
      </p:nvGrpSpPr>
      <p:grpSpPr>
        <a:xfrm>
          <a:off x="0" y="0"/>
          <a:ext cx="0" cy="0"/>
          <a:chOff x="0" y="0"/>
          <a:chExt cx="0" cy="0"/>
        </a:xfrm>
      </p:grpSpPr>
      <p:sp>
        <p:nvSpPr>
          <p:cNvPr id="165" name="淘宝店铺-想搞设计(校园PPT每学期更新)"/>
          <p:cNvSpPr>
            <a:spLocks noGrp="1"/>
          </p:cNvSpPr>
          <p:nvPr>
            <p:ph type="title"/>
          </p:nvPr>
        </p:nvSpPr>
        <p:spPr>
          <a:xfrm>
            <a:off x="8724900" y="365125"/>
            <a:ext cx="2628900" cy="5811838"/>
          </a:xfrm>
        </p:spPr>
        <p:txBody>
          <a:bodyPr vert="eaVert"/>
          <a:lstStyle/>
          <a:p>
            <a:r>
              <a:t>单击此处编辑母版标题样式</a:t>
            </a:r>
          </a:p>
        </p:txBody>
      </p:sp>
      <p:sp>
        <p:nvSpPr>
          <p:cNvPr id="166" name="淘宝店铺-想搞设计(校园PPT每学期更新)"/>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67" name="淘宝店铺-想搞设计(校园PPT每学期更新)"/>
          <p:cNvSpPr>
            <a:spLocks noGrp="1"/>
          </p:cNvSpPr>
          <p:nvPr>
            <p:ph type="dt" idx="10"/>
          </p:nvPr>
        </p:nvSpPr>
        <p:spPr/>
        <p:txBody>
          <a:bodyPr/>
          <a:lstStyle/>
          <a:p>
            <a:fld id="{8947109F-22A2-4AD6-9503-DAA8895A2288}" type="datetimeFigureOut">
              <a:rPr lang="zh-CN" altLang="en-US"/>
              <a:t>2026-08-18</a:t>
            </a:fld>
            <a:endParaRPr/>
          </a:p>
        </p:txBody>
      </p:sp>
      <p:sp>
        <p:nvSpPr>
          <p:cNvPr id="168" name="淘宝店铺-想搞设计(校园PPT每学期更新)"/>
          <p:cNvSpPr>
            <a:spLocks noGrp="1"/>
          </p:cNvSpPr>
          <p:nvPr>
            <p:ph type="ftr" idx="11"/>
          </p:nvPr>
        </p:nvSpPr>
        <p:spPr/>
        <p:txBody>
          <a:bodyPr/>
          <a:lstStyle/>
          <a:p>
            <a:endParaRPr/>
          </a:p>
        </p:txBody>
      </p:sp>
      <p:sp>
        <p:nvSpPr>
          <p:cNvPr id="169" name="淘宝店铺-想搞设计(校园PPT每学期更新)"/>
          <p:cNvSpPr>
            <a:spLocks noGrp="1"/>
          </p:cNvSpPr>
          <p:nvPr>
            <p:ph type="sldNum" idx="12"/>
          </p:nvPr>
        </p:nvSpPr>
        <p:spPr/>
        <p:txBody>
          <a:bodyPr/>
          <a:lstStyle/>
          <a:p>
            <a:fld id="{4CE29569-5A3A-47A0-9C9B-C756991C4544}" type="slidenum">
              <a:r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淘宝店铺-想搞设计(校园PPT每学期更新)">
    <p:spTree>
      <p:nvGrpSpPr>
        <p:cNvPr id="1" name=""/>
        <p:cNvGrpSpPr/>
        <p:nvPr/>
      </p:nvGrpSpPr>
      <p:grpSpPr>
        <a:xfrm>
          <a:off x="0" y="0"/>
          <a:ext cx="0" cy="0"/>
          <a:chOff x="0" y="0"/>
          <a:chExt cx="0" cy="0"/>
        </a:xfrm>
      </p:grpSpPr>
      <p:sp>
        <p:nvSpPr>
          <p:cNvPr id="171" name="淘宝店铺-想搞设计(校园PPT每学期更新)"/>
          <p:cNvSpPr>
            <a:spLocks noGrp="1"/>
          </p:cNvSpPr>
          <p:nvPr>
            <p:ph type="dt" idx="10"/>
          </p:nvPr>
        </p:nvSpPr>
        <p:spPr>
          <a:xfrm>
            <a:off x="838200" y="6356350"/>
            <a:ext cx="2743200" cy="365125"/>
          </a:xfrm>
        </p:spPr>
        <p:txBody>
          <a:bodyPr/>
          <a:lstStyle/>
          <a:p>
            <a:fld id="{6B498514-FB4B-4573-BC60-5B1EB4C35A68}" type="datetimeFigureOut">
              <a:rPr lang="zh-CN" altLang="en-US"/>
              <a:t>2026-08-18</a:t>
            </a:fld>
            <a:endParaRPr/>
          </a:p>
        </p:txBody>
      </p:sp>
      <p:sp>
        <p:nvSpPr>
          <p:cNvPr id="172" name="淘宝店铺-想搞设计(校园PPT每学期更新)"/>
          <p:cNvSpPr>
            <a:spLocks noGrp="1"/>
          </p:cNvSpPr>
          <p:nvPr>
            <p:ph type="ftr" idx="11"/>
          </p:nvPr>
        </p:nvSpPr>
        <p:spPr>
          <a:xfrm>
            <a:off x="4038600" y="6356350"/>
            <a:ext cx="4114800" cy="365125"/>
          </a:xfrm>
        </p:spPr>
        <p:txBody>
          <a:bodyPr/>
          <a:lstStyle/>
          <a:p>
            <a:endParaRPr/>
          </a:p>
        </p:txBody>
      </p:sp>
      <p:sp>
        <p:nvSpPr>
          <p:cNvPr id="173" name="淘宝店铺-想搞设计(校园PPT每学期更新)"/>
          <p:cNvSpPr>
            <a:spLocks noGrp="1"/>
          </p:cNvSpPr>
          <p:nvPr>
            <p:ph type="sldNum" idx="12"/>
          </p:nvPr>
        </p:nvSpPr>
        <p:spPr>
          <a:xfrm>
            <a:off x="8610600" y="6356350"/>
            <a:ext cx="2743200" cy="365125"/>
          </a:xfrm>
        </p:spPr>
        <p:txBody>
          <a:bodyPr/>
          <a:lstStyle/>
          <a:p>
            <a:fld id="{41C22DD9-A74D-4269-BD31-13DF1C34465C}" type="slidenum">
              <a:rPr/>
              <a:t>‹#›</a:t>
            </a:fld>
            <a:endParaRPr/>
          </a:p>
        </p:txBody>
      </p:sp>
      <p:sp>
        <p:nvSpPr>
          <p:cNvPr id="174" name="淘宝店铺-想搞设计(校园PPT每学期更新)"/>
          <p:cNvSpPr>
            <a:spLocks noGrp="1"/>
          </p:cNvSpPr>
          <p:nvPr/>
        </p:nvSpPr>
        <p:spPr>
          <a:xfrm>
            <a:off x="-1" y="0"/>
            <a:ext cx="12192000" cy="6858000"/>
          </a:xfrm>
          <a:prstGeom prst="rect">
            <a:avLst/>
          </a:prstGeom>
          <a:blipFill rotWithShape="1">
            <a:blip r:embed="rId2">
              <a:alphaModFix amt="63000"/>
            </a:blip>
            <a:stretch>
              <a:fillRect/>
            </a:stretch>
          </a:blip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微软雅黑"/>
              <a:ea typeface="微软雅黑"/>
              <a:cs typeface="微软雅黑"/>
            </a:endParaRPr>
          </a:p>
        </p:txBody>
      </p:sp>
      <p:sp>
        <p:nvSpPr>
          <p:cNvPr id="175" name="淘宝店铺-想搞设计(校园PPT每学期更新)"/>
          <p:cNvSpPr>
            <a:spLocks noGrp="1"/>
          </p:cNvSpPr>
          <p:nvPr/>
        </p:nvSpPr>
        <p:spPr>
          <a:xfrm>
            <a:off x="0" y="6696680"/>
            <a:ext cx="12192000" cy="161320"/>
          </a:xfrm>
          <a:prstGeom prst="rect">
            <a:avLst/>
          </a:prstGeom>
          <a:gradFill rotWithShape="1">
            <a:gsLst>
              <a:gs pos="55000">
                <a:srgbClr val="C00000"/>
              </a:gs>
              <a:gs pos="100000">
                <a:srgbClr val="FFC000"/>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微软雅黑"/>
              <a:ea typeface="微软雅黑"/>
              <a:cs typeface="微软雅黑"/>
            </a:endParaRPr>
          </a:p>
        </p:txBody>
      </p:sp>
      <p:sp>
        <p:nvSpPr>
          <p:cNvPr id="176" name="淘宝店铺-想搞设计(校园PPT每学期更新)"/>
          <p:cNvSpPr>
            <a:spLocks noGrp="1"/>
          </p:cNvSpPr>
          <p:nvPr/>
        </p:nvSpPr>
        <p:spPr>
          <a:xfrm flipV="1">
            <a:off x="0" y="762529"/>
            <a:ext cx="12192000" cy="3645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77" name="淘宝店铺-想搞设计(校园PPT每学期更新)"/>
          <p:cNvSpPr>
            <a:spLocks noGrp="1"/>
          </p:cNvSpPr>
          <p:nvPr/>
        </p:nvSpPr>
        <p:spPr>
          <a:xfrm flipV="1">
            <a:off x="0" y="821654"/>
            <a:ext cx="12192000" cy="36453"/>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245"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246"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247" name="淘宝店铺-想搞设计(校园PPT每学期更新)"/>
          <p:cNvSpPr>
            <a:spLocks noGrp="1"/>
          </p:cNvSpPr>
          <p:nvPr/>
        </p:nvSpPr>
        <p:spPr>
          <a:xfrm>
            <a:off x="700837"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项目背景</a:t>
            </a:r>
          </a:p>
        </p:txBody>
      </p:sp>
      <p:sp>
        <p:nvSpPr>
          <p:cNvPr id="248"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249"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250" name="淘宝店铺-想搞设计(校园PPT每学期更新)"/>
          <p:cNvSpPr>
            <a:spLocks noGrp="1"/>
          </p:cNvSpPr>
          <p:nvPr/>
        </p:nvSpPr>
        <p:spPr>
          <a:xfrm flipV="1">
            <a:off x="7915445"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51" name="淘宝店铺-想搞设计(校园PPT每学期更新)"/>
          <p:cNvSpPr>
            <a:spLocks noGrp="1"/>
          </p:cNvSpPr>
          <p:nvPr/>
        </p:nvSpPr>
        <p:spPr>
          <a:xfrm>
            <a:off x="3073364"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总体目标</a:t>
            </a:r>
          </a:p>
        </p:txBody>
      </p:sp>
      <p:sp>
        <p:nvSpPr>
          <p:cNvPr id="252" name="淘宝店铺-想搞设计(校园PPT每学期更新)"/>
          <p:cNvSpPr>
            <a:spLocks noGrp="1"/>
          </p:cNvSpPr>
          <p:nvPr/>
        </p:nvSpPr>
        <p:spPr>
          <a:xfrm>
            <a:off x="5287412"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方案实现</a:t>
            </a:r>
            <a:endParaRPr sz="2400" baseline="0">
              <a:solidFill>
                <a:schemeClr val="bg1">
                  <a:alpha val="92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53" name="淘宝店铺-想搞设计(校园PPT每学期更新)"/>
          <p:cNvSpPr>
            <a:spLocks noGrp="1"/>
          </p:cNvSpPr>
          <p:nvPr/>
        </p:nvSpPr>
        <p:spPr>
          <a:xfrm>
            <a:off x="7408044" y="164365"/>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panose="02020900000000000000" pitchFamily="18" charset="-122"/>
                <a:ea typeface="思源宋体 CN Heavy" panose="02020900000000000000" pitchFamily="18" charset="-122"/>
                <a:cs typeface="思源宋体 CN Heavy" panose="02020900000000000000" pitchFamily="18" charset="-122"/>
              </a:rPr>
              <a:t>测试验证</a:t>
            </a:r>
          </a:p>
        </p:txBody>
      </p:sp>
      <p:sp>
        <p:nvSpPr>
          <p:cNvPr id="254"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255"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256" name="淘宝店铺-想搞设计(校园PPT每学期更新)"/>
          <p:cNvPicPr>
            <a:picLocks noChangeAspect="1"/>
          </p:cNvPicPr>
          <p:nvPr/>
        </p:nvPicPr>
        <p:blipFill>
          <a:blip r:embed="rId3"/>
          <a:stretch>
            <a:fillRect/>
          </a:stretch>
        </p:blipFill>
        <p:spPr>
          <a:xfrm rot="16200000">
            <a:off x="7701079" y="15374"/>
            <a:ext cx="822345" cy="1161297"/>
          </a:xfrm>
          <a:prstGeom prst="rect">
            <a:avLst/>
          </a:prstGeom>
        </p:spPr>
      </p:pic>
      <p:pic>
        <p:nvPicPr>
          <p:cNvPr id="257"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淘宝店铺-想搞设计(校园PPT每学期更新)">
    <p:bg>
      <p:bgPr>
        <a:solidFill>
          <a:schemeClr val="bg1"/>
        </a:solidFill>
        <a:effectLst/>
      </p:bgPr>
    </p:bg>
    <p:spTree>
      <p:nvGrpSpPr>
        <p:cNvPr id="1" name=""/>
        <p:cNvGrpSpPr/>
        <p:nvPr/>
      </p:nvGrpSpPr>
      <p:grpSpPr>
        <a:xfrm>
          <a:off x="0" y="0"/>
          <a:ext cx="0" cy="0"/>
          <a:chOff x="0" y="0"/>
          <a:chExt cx="0" cy="0"/>
        </a:xfrm>
      </p:grpSpPr>
      <p:sp>
        <p:nvSpPr>
          <p:cNvPr id="259" name="淘宝店铺-想搞设计(校园PPT每学期更新)"/>
          <p:cNvSpPr>
            <a:spLocks noGrp="1"/>
          </p:cNvSpPr>
          <p:nvPr/>
        </p:nvSpPr>
        <p:spPr>
          <a:xfrm>
            <a:off x="0" y="0"/>
            <a:ext cx="12344401" cy="701003"/>
          </a:xfrm>
          <a:prstGeom prst="rect">
            <a:avLst/>
          </a:prstGeom>
          <a:solidFill>
            <a:schemeClr val="bg1"/>
          </a:solidFill>
          <a:ln>
            <a:noFill/>
          </a:ln>
          <a:effectLst>
            <a:outerShdw blurRad="444500" dist="254000" dir="5400000" sx="94000" sy="94000" algn="t" rotWithShape="0">
              <a:schemeClr val="accent1">
                <a:lumMod val="75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HarmonyOS Sans SC"/>
              <a:ea typeface="HarmonyOS Sans SC"/>
              <a:cs typeface="HarmonyOS Sans SC"/>
            </a:endParaRPr>
          </a:p>
        </p:txBody>
      </p:sp>
      <p:sp>
        <p:nvSpPr>
          <p:cNvPr id="260" name="淘宝店铺-想搞设计(校园PPT每学期更新)"/>
          <p:cNvSpPr>
            <a:spLocks noGrp="1"/>
          </p:cNvSpPr>
          <p:nvPr/>
        </p:nvSpPr>
        <p:spPr>
          <a:xfrm>
            <a:off x="0" y="7042"/>
            <a:ext cx="9587984" cy="708116"/>
          </a:xfrm>
          <a:custGeom>
            <a:avLst/>
            <a:gdLst>
              <a:gd name="connsiteX0" fmla="*/ 0 w 9587984"/>
              <a:gd name="connsiteY0" fmla="*/ 0 h 708116"/>
              <a:gd name="connsiteX1" fmla="*/ 9587984 w 9587984"/>
              <a:gd name="connsiteY1" fmla="*/ 0 h 708116"/>
              <a:gd name="connsiteX2" fmla="*/ 9587984 w 9587984"/>
              <a:gd name="connsiteY2" fmla="*/ 43841 h 708116"/>
              <a:gd name="connsiteX3" fmla="*/ 9172880 w 9587984"/>
              <a:gd name="connsiteY3" fmla="*/ 708116 h 708116"/>
              <a:gd name="connsiteX4" fmla="*/ 0 w 9587984"/>
              <a:gd name="connsiteY4" fmla="*/ 708116 h 708116"/>
            </a:gdLst>
            <a:ahLst/>
            <a:cxnLst/>
            <a:rect l="l" t="t" r="r" b="b"/>
            <a:pathLst>
              <a:path w="9587984" h="708116">
                <a:moveTo>
                  <a:pt x="0" y="0"/>
                </a:moveTo>
                <a:lnTo>
                  <a:pt x="9587984" y="0"/>
                </a:lnTo>
                <a:lnTo>
                  <a:pt x="9587984" y="43841"/>
                </a:lnTo>
                <a:lnTo>
                  <a:pt x="9172880" y="708116"/>
                </a:lnTo>
                <a:lnTo>
                  <a:pt x="0" y="708116"/>
                </a:lnTo>
                <a:close/>
              </a:path>
            </a:pathLst>
          </a:custGeom>
          <a:gradFill rotWithShape="1">
            <a:gsLst>
              <a:gs pos="59000">
                <a:schemeClr val="accent1"/>
              </a:gs>
              <a:gs pos="0">
                <a:schemeClr val="accent1"/>
              </a:gs>
              <a:gs pos="94000">
                <a:schemeClr val="accent1">
                  <a:lumMod val="75000"/>
                </a:schemeClr>
              </a:gs>
              <a:gs pos="31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prstClr val="white"/>
              </a:solidFill>
              <a:latin typeface="HarmonyOS Sans SC"/>
              <a:ea typeface="HarmonyOS Sans SC"/>
              <a:cs typeface="HarmonyOS Sans SC"/>
            </a:endParaRPr>
          </a:p>
        </p:txBody>
      </p:sp>
      <p:sp>
        <p:nvSpPr>
          <p:cNvPr id="261" name="淘宝店铺-想搞设计(校园PPT每学期更新)"/>
          <p:cNvSpPr>
            <a:spLocks noGrp="1"/>
          </p:cNvSpPr>
          <p:nvPr/>
        </p:nvSpPr>
        <p:spPr>
          <a:xfrm>
            <a:off x="700837"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项目背景</a:t>
            </a:r>
          </a:p>
        </p:txBody>
      </p:sp>
      <p:sp>
        <p:nvSpPr>
          <p:cNvPr id="262" name="淘宝店铺-想搞设计(校园PPT每学期更新)"/>
          <p:cNvSpPr>
            <a:spLocks noGrp="1"/>
          </p:cNvSpPr>
          <p:nvPr/>
        </p:nvSpPr>
        <p:spPr>
          <a:xfrm flipH="1">
            <a:off x="693992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263" name="淘宝店铺-想搞设计(校园PPT每学期更新)"/>
          <p:cNvPicPr>
            <a:picLocks noChangeAspect="1"/>
          </p:cNvPicPr>
          <p:nvPr/>
        </p:nvPicPr>
        <p:blipFill>
          <a:blip r:embed="rId2"/>
          <a:srcRect t="8337" r="6027" b="4383"/>
          <a:stretch>
            <a:fillRect/>
          </a:stretch>
        </p:blipFill>
        <p:spPr>
          <a:xfrm>
            <a:off x="8794046" y="0"/>
            <a:ext cx="769996" cy="715158"/>
          </a:xfrm>
          <a:prstGeom prst="rect">
            <a:avLst/>
          </a:prstGeom>
          <a:ln>
            <a:noFill/>
          </a:ln>
          <a:effectLst>
            <a:outerShdw blurRad="63500" dist="38100" algn="l" rotWithShape="0">
              <a:prstClr val="black">
                <a:alpha val="48000"/>
              </a:prstClr>
            </a:outerShdw>
          </a:effectLst>
        </p:spPr>
      </p:pic>
      <p:sp>
        <p:nvSpPr>
          <p:cNvPr id="264" name="淘宝店铺-想搞设计(校园PPT每学期更新)"/>
          <p:cNvSpPr>
            <a:spLocks noGrp="1"/>
          </p:cNvSpPr>
          <p:nvPr/>
        </p:nvSpPr>
        <p:spPr>
          <a:xfrm flipV="1">
            <a:off x="7915445" y="678184"/>
            <a:ext cx="560198" cy="204046"/>
          </a:xfrm>
          <a:prstGeom prst="triangle">
            <a:avLst/>
          </a:prstGeom>
          <a:gradFill rotWithShape="1">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5" name="淘宝店铺-想搞设计(校园PPT每学期更新)"/>
          <p:cNvSpPr>
            <a:spLocks noGrp="1"/>
          </p:cNvSpPr>
          <p:nvPr/>
        </p:nvSpPr>
        <p:spPr>
          <a:xfrm>
            <a:off x="3073364"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总体目标</a:t>
            </a:r>
          </a:p>
        </p:txBody>
      </p:sp>
      <p:sp>
        <p:nvSpPr>
          <p:cNvPr id="266" name="淘宝店铺-想搞设计(校园PPT每学期更新)"/>
          <p:cNvSpPr>
            <a:spLocks noGrp="1"/>
          </p:cNvSpPr>
          <p:nvPr/>
        </p:nvSpPr>
        <p:spPr>
          <a:xfrm>
            <a:off x="5287412" y="195142"/>
            <a:ext cx="1231106" cy="369332"/>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r>
              <a:rPr sz="2400">
                <a:solidFill>
                  <a:schemeClr val="bg1"/>
                </a:solidFill>
                <a:latin typeface="思源宋体 CN Heavy" panose="02020900000000000000" pitchFamily="18" charset="-122"/>
                <a:ea typeface="思源宋体 CN Heavy" panose="02020900000000000000" pitchFamily="18" charset="-122"/>
                <a:cs typeface="思源宋体 CN Heavy" panose="02020900000000000000" pitchFamily="18" charset="-122"/>
              </a:rPr>
              <a:t>方案实现</a:t>
            </a:r>
            <a:endParaRPr sz="2400" baseline="0">
              <a:solidFill>
                <a:schemeClr val="bg1">
                  <a:alpha val="92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7" name="淘宝店铺-想搞设计(校园PPT每学期更新)"/>
          <p:cNvSpPr>
            <a:spLocks noGrp="1"/>
          </p:cNvSpPr>
          <p:nvPr/>
        </p:nvSpPr>
        <p:spPr>
          <a:xfrm>
            <a:off x="7408044" y="164365"/>
            <a:ext cx="1436291" cy="430887"/>
          </a:xfrm>
          <a:prstGeom prst="rect">
            <a:avLst/>
          </a:prstGeom>
          <a:noFill/>
          <a:ln>
            <a:noFill/>
          </a:ln>
        </p:spPr>
        <p:txBody>
          <a:bodyPr vert="horz" wrap="none" lIns="0" tIns="0" rIns="0" bIns="0">
            <a:spAutoFit/>
          </a:bodyPr>
          <a:lstStyle>
            <a:lvl1pPr>
              <a:buNone/>
              <a:defRPr sz="2000">
                <a:solidFill>
                  <a:srgbClr val="FFFFFF">
                    <a:alpha val="63000"/>
                  </a:srgb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pPr marL="0" algn="l" defTabSz="914400">
              <a:buNone/>
            </a:pPr>
            <a:r>
              <a:rPr sz="2800" b="1">
                <a:gradFill rotWithShape="1">
                  <a:gsLst>
                    <a:gs pos="100000">
                      <a:srgbClr val="FAD77E">
                        <a:lumMod val="20000"/>
                        <a:lumOff val="80000"/>
                      </a:srgbClr>
                    </a:gs>
                    <a:gs pos="0">
                      <a:srgbClr val="FAD77E"/>
                    </a:gs>
                  </a:gsLst>
                  <a:lin ang="16200000" scaled="1"/>
                </a:gradFill>
                <a:latin typeface="思源宋体 CN Heavy" panose="02020900000000000000" pitchFamily="18" charset="-122"/>
                <a:ea typeface="思源宋体 CN Heavy" panose="02020900000000000000" pitchFamily="18" charset="-122"/>
                <a:cs typeface="思源宋体 CN Heavy" panose="02020900000000000000" pitchFamily="18" charset="-122"/>
              </a:rPr>
              <a:t>测试验证</a:t>
            </a:r>
          </a:p>
        </p:txBody>
      </p:sp>
      <p:sp>
        <p:nvSpPr>
          <p:cNvPr id="268" name="淘宝店铺-想搞设计(校园PPT每学期更新)"/>
          <p:cNvSpPr>
            <a:spLocks noGrp="1"/>
          </p:cNvSpPr>
          <p:nvPr/>
        </p:nvSpPr>
        <p:spPr>
          <a:xfrm flipH="1">
            <a:off x="477258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269" name="淘宝店铺-想搞设计(校园PPT每学期更新)"/>
          <p:cNvSpPr>
            <a:spLocks noGrp="1"/>
          </p:cNvSpPr>
          <p:nvPr/>
        </p:nvSpPr>
        <p:spPr>
          <a:xfrm flipH="1">
            <a:off x="2605245" y="187169"/>
            <a:ext cx="0" cy="324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a:p>
        </p:txBody>
      </p:sp>
      <p:pic>
        <p:nvPicPr>
          <p:cNvPr id="270" name="淘宝店铺-想搞设计(校园PPT每学期更新)"/>
          <p:cNvPicPr>
            <a:picLocks noChangeAspect="1"/>
          </p:cNvPicPr>
          <p:nvPr/>
        </p:nvPicPr>
        <p:blipFill>
          <a:blip r:embed="rId3"/>
          <a:stretch>
            <a:fillRect/>
          </a:stretch>
        </p:blipFill>
        <p:spPr>
          <a:xfrm rot="16200000">
            <a:off x="7701079" y="15374"/>
            <a:ext cx="822345" cy="1161297"/>
          </a:xfrm>
          <a:prstGeom prst="rect">
            <a:avLst/>
          </a:prstGeom>
        </p:spPr>
      </p:pic>
      <p:pic>
        <p:nvPicPr>
          <p:cNvPr id="271" name="淘宝店铺-想搞设计(校园PPT每学期更新)"/>
          <p:cNvPicPr>
            <a:picLocks noChangeAspect="1"/>
          </p:cNvPicPr>
          <p:nvPr/>
        </p:nvPicPr>
        <p:blipFill>
          <a:blip r:embed="rId4"/>
          <a:stretch>
            <a:fillRect/>
          </a:stretch>
        </p:blipFill>
        <p:spPr>
          <a:xfrm>
            <a:off x="9711556" y="170846"/>
            <a:ext cx="2047049" cy="37842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淘宝店铺-想搞设计(校园PPT每学期更新)"/>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a:p>
        </p:txBody>
      </p:sp>
      <p:sp>
        <p:nvSpPr>
          <p:cNvPr id="3" name="淘宝店铺-想搞设计(校园PPT每学期更新)"/>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4" name="淘宝店铺-想搞设计(校园PPT每学期更新)"/>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47109F-22A2-4AD6-9503-DAA8895A2288}" type="datetimeFigureOut">
              <a:rPr lang="zh-CN" altLang="en-US" smtClean="0"/>
              <a:t>2026-08-18</a:t>
            </a:fld>
            <a:endParaRPr lang="zh-CN" altLang="en-US"/>
          </a:p>
        </p:txBody>
      </p:sp>
      <p:sp>
        <p:nvSpPr>
          <p:cNvPr id="5" name="淘宝店铺-想搞设计(校园PPT每学期更新)"/>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淘宝店铺-想搞设计(校园PPT每学期更新)"/>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E29569-5A3A-47A0-9C9B-C756991C4544}" type="slidenum">
              <a:rPr lang="zh-CN" altLang="en-US" smtClean="0"/>
              <a:t>‹#›</a:t>
            </a:fld>
            <a:endParaRPr lang="zh-CN" altLang="en-US"/>
          </a:p>
        </p:txBody>
      </p:sp>
      <p:sp>
        <p:nvSpPr>
          <p:cNvPr id="7" name="淘宝店铺-想搞设计(校园PPT每学期更新)"/>
          <p:cNvSpPr/>
          <p:nvPr userDrawn="1"/>
        </p:nvSpPr>
        <p:spPr>
          <a:xfrm>
            <a:off x="5778500" y="-22860000"/>
            <a:ext cx="635000" cy="63500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店铺-想搞设计(校园PPT每学期更新)"/>
          <p:cNvSpPr/>
          <p:nvPr userDrawn="1"/>
        </p:nvSpPr>
        <p:spPr>
          <a:xfrm>
            <a:off x="5778500" y="22860000"/>
            <a:ext cx="635000" cy="635000"/>
          </a:xfrm>
          <a:prstGeom prst="ellipse">
            <a:avLst/>
          </a:prstGeom>
          <a:no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defTabSz="914400" rtl="0" eaLnBrk="1" latinLnBrk="0" hangingPunct="1">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淘宝店铺-想搞设计(校园PPT每学期更新)"/>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11" name="淘宝店铺-想搞设计(校园PPT每学期更新)"/>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2" name="淘宝店铺-想搞设计(校园PPT每学期更新)"/>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947109F-22A2-4AD6-9503-DAA8895A2288}" type="datetimeFigureOut">
              <a:rPr lang="zh-CN" altLang="en-US"/>
              <a:t>2026-08-18</a:t>
            </a:fld>
            <a:endParaRPr/>
          </a:p>
        </p:txBody>
      </p:sp>
      <p:sp>
        <p:nvSpPr>
          <p:cNvPr id="13" name="淘宝店铺-想搞设计(校园PPT每学期更新)"/>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14" name="淘宝店铺-想搞设计(校园PPT每学期更新)"/>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4CE29569-5A3A-47A0-9C9B-C756991C4544}" type="slidenum">
              <a:rPr/>
              <a:t>‹#›</a:t>
            </a:fld>
            <a:endParaRPr/>
          </a:p>
        </p:txBody>
      </p:sp>
      <p:sp>
        <p:nvSpPr>
          <p:cNvPr id="15" name="淘宝店铺-想搞设计(校园PPT每学期更新)"/>
          <p:cNvSpPr>
            <a:spLocks noGrp="1"/>
          </p:cNvSpPr>
          <p:nvPr/>
        </p:nvSpPr>
        <p:spPr>
          <a:xfrm>
            <a:off x="5778500" y="-22860000"/>
            <a:ext cx="635000" cy="635000"/>
          </a:xfrm>
          <a:prstGeom prst="ellipse">
            <a:avLst/>
          </a:prstGeom>
          <a:no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淘宝店铺-想搞设计(校园PPT每学期更新)"/>
          <p:cNvSpPr>
            <a:spLocks noGrp="1"/>
          </p:cNvSpPr>
          <p:nvPr/>
        </p:nvSpPr>
        <p:spPr>
          <a:xfrm>
            <a:off x="5778500" y="22860000"/>
            <a:ext cx="635000" cy="635000"/>
          </a:xfrm>
          <a:prstGeom prst="ellipse">
            <a:avLst/>
          </a:prstGeom>
          <a:no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a:lnSpc>
          <a:spcPct val="90000"/>
        </a:lnSpc>
        <a:spcBef>
          <a:spcPct val="1"/>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淘宝店铺-想搞设计(校园PPT每学期更新)"/>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19" name="淘宝店铺-想搞设计(校园PPT每学期更新)"/>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20" name="淘宝店铺-想搞设计(校园PPT每学期更新)"/>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947109F-22A2-4AD6-9503-DAA8895A2288}" type="datetimeFigureOut">
              <a:rPr lang="zh-CN" altLang="en-US"/>
              <a:t>2026-08-18</a:t>
            </a:fld>
            <a:endParaRPr lang="zh-CN" altLang="en-US"/>
          </a:p>
        </p:txBody>
      </p:sp>
      <p:sp>
        <p:nvSpPr>
          <p:cNvPr id="21" name="淘宝店铺-想搞设计(校园PPT每学期更新)"/>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22" name="淘宝店铺-想搞设计(校园PPT每学期更新)"/>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4CE29569-5A3A-47A0-9C9B-C756991C4544}" type="slidenum">
              <a:rPr/>
              <a:t>‹#›</a:t>
            </a:fld>
            <a:endParaRPr/>
          </a:p>
        </p:txBody>
      </p:sp>
      <p:sp>
        <p:nvSpPr>
          <p:cNvPr id="23" name="淘宝店铺-想搞设计(校园PPT每学期更新)"/>
          <p:cNvSpPr>
            <a:spLocks noGrp="1"/>
          </p:cNvSpPr>
          <p:nvPr/>
        </p:nvSpPr>
        <p:spPr>
          <a:xfrm>
            <a:off x="5778500" y="-22860000"/>
            <a:ext cx="635000" cy="635000"/>
          </a:xfrm>
          <a:prstGeom prst="ellipse">
            <a:avLst/>
          </a:prstGeom>
          <a:no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淘宝店铺-想搞设计(校园PPT每学期更新)"/>
          <p:cNvSpPr>
            <a:spLocks noGrp="1"/>
          </p:cNvSpPr>
          <p:nvPr/>
        </p:nvSpPr>
        <p:spPr>
          <a:xfrm>
            <a:off x="5778500" y="22860000"/>
            <a:ext cx="635000" cy="635000"/>
          </a:xfrm>
          <a:prstGeom prst="ellipse">
            <a:avLst/>
          </a:prstGeom>
          <a:no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Lst>
  <p:txStyles>
    <p:titleStyle>
      <a:lvl1pPr algn="l" defTabSz="914400">
        <a:lnSpc>
          <a:spcPct val="90000"/>
        </a:lnSpc>
        <a:spcBef>
          <a:spcPct val="1"/>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gitlab.eduxiji.net/T2026100119910438/project3136859-387115/-/blob/main/docs/embassy%E8%B0%83%E8%AF%95%E6%BC%94%E7%A4%BA.mp4" TargetMode="External"/><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gitlab.eduxiji.net/T2026100119910438/project3136859-387115/-/blob/main/docs/osgdb_StarryOS%E8%B0%83%E8%AF%95%E6%BC%94%E7%A4%BA.mp4"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淘宝店铺-想搞设计(校园PPT每学期更新)"/>
          <p:cNvPicPr>
            <a:picLocks noChangeAspect="1"/>
          </p:cNvPicPr>
          <p:nvPr/>
        </p:nvPicPr>
        <p:blipFill>
          <a:blip r:embed="rId3"/>
          <a:stretch>
            <a:fillRect/>
          </a:stretch>
        </p:blipFill>
        <p:spPr>
          <a:xfrm>
            <a:off x="0" y="925162"/>
            <a:ext cx="12192000" cy="4069080"/>
          </a:xfrm>
          <a:prstGeom prst="rect">
            <a:avLst/>
          </a:prstGeom>
        </p:spPr>
      </p:pic>
      <p:sp>
        <p:nvSpPr>
          <p:cNvPr id="220" name="淘宝店铺-想搞设计(校园PPT每学期更新)"/>
          <p:cNvSpPr/>
          <p:nvPr/>
        </p:nvSpPr>
        <p:spPr>
          <a:xfrm>
            <a:off x="0" y="400050"/>
            <a:ext cx="12192000" cy="4960638"/>
          </a:xfrm>
          <a:prstGeom prst="rect">
            <a:avLst/>
          </a:prstGeom>
          <a:gradFill flip="none" rotWithShape="1">
            <a:gsLst>
              <a:gs pos="60000">
                <a:schemeClr val="bg1"/>
              </a:gs>
              <a:gs pos="100000">
                <a:schemeClr val="bg1">
                  <a:alpha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defRPr/>
            </a:pPr>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221" name="淘宝店铺-想搞设计(校园PPT每学期更新)"/>
          <p:cNvSpPr/>
          <p:nvPr/>
        </p:nvSpPr>
        <p:spPr>
          <a:xfrm>
            <a:off x="-60113" y="4937760"/>
            <a:ext cx="12312226" cy="1964669"/>
          </a:xfrm>
          <a:prstGeom prst="roundRect">
            <a:avLst>
              <a:gd name="adj" fmla="val 0"/>
            </a:avLst>
          </a:prstGeom>
          <a:gradFill>
            <a:gsLst>
              <a:gs pos="0">
                <a:schemeClr val="accent6"/>
              </a:gs>
              <a:gs pos="100000">
                <a:schemeClr val="accent6">
                  <a:lumMod val="90000"/>
                </a:schemeClr>
              </a:gs>
            </a:gsLst>
            <a:lin ang="5400000" scaled="1"/>
          </a:gradFill>
          <a:ln>
            <a:solidFill>
              <a:schemeClr val="bg1"/>
            </a:solidFill>
          </a:ln>
          <a:effectLst>
            <a:outerShdw blurRad="165100" dist="38100" dir="2700000" algn="tl" rotWithShape="0">
              <a:schemeClr val="accent6">
                <a:lumMod val="7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defRPr/>
            </a:pPr>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222" name="淘宝店铺-想搞设计(校园PPT每学期更新)"/>
          <p:cNvSpPr txBox="1"/>
          <p:nvPr/>
        </p:nvSpPr>
        <p:spPr>
          <a:xfrm>
            <a:off x="1616917" y="1281259"/>
            <a:ext cx="8959850" cy="2476500"/>
          </a:xfrm>
          <a:prstGeom prst="rect">
            <a:avLst/>
          </a:prstGeom>
          <a:noFill/>
        </p:spPr>
        <p:txBody>
          <a:bodyPr wrap="square">
            <a:spAutoFit/>
          </a:bodyPr>
          <a:lstStyle/>
          <a:p>
            <a:pPr algn="dist" defTabSz="894145">
              <a:defRPr sz="1800">
                <a:solidFill>
                  <a:schemeClr val="tx1">
                    <a:alpha val="100000"/>
                  </a:schemeClr>
                </a:solidFill>
                <a:latin typeface="Roboto"/>
                <a:ea typeface="HarmonyOS Sans SC"/>
                <a:cs typeface="+mn-cs"/>
              </a:defRPr>
            </a:pPr>
            <a:r>
              <a:rPr lang="zh-CN" sz="7823">
                <a:gradFill>
                  <a:gsLst>
                    <a:gs pos="0">
                      <a:srgbClr val="052E68">
                        <a:alpha val="100000"/>
                      </a:srgbClr>
                    </a:gs>
                    <a:gs pos="100000">
                      <a:srgbClr val="063E8F">
                        <a:alpha val="100000"/>
                      </a:srgbClr>
                    </a:gs>
                  </a:gsLst>
                  <a:lin ang="5400000" scaled="1"/>
                </a:gradFill>
                <a:latin typeface="思源宋体 CN Heavy"/>
                <a:ea typeface="思源宋体 CN Heavy"/>
                <a:cs typeface="Times New Roman"/>
              </a:rPr>
              <a:t>源代码级异步操作系统调试方法</a:t>
            </a:r>
            <a:endParaRPr/>
          </a:p>
        </p:txBody>
      </p:sp>
      <p:sp>
        <p:nvSpPr>
          <p:cNvPr id="223" name="淘宝店铺-想搞设计(校园PPT每学期更新)"/>
          <p:cNvSpPr txBox="1"/>
          <p:nvPr/>
        </p:nvSpPr>
        <p:spPr>
          <a:xfrm>
            <a:off x="1031006" y="3921877"/>
            <a:ext cx="10147351" cy="634020"/>
          </a:xfrm>
          <a:prstGeom prst="rect">
            <a:avLst/>
          </a:prstGeom>
          <a:noFill/>
        </p:spPr>
        <p:txBody>
          <a:bodyPr wrap="square">
            <a:spAutoFit/>
          </a:bodyPr>
          <a:lstStyle/>
          <a:p>
            <a:pPr algn="dist" defTabSz="894145">
              <a:defRPr/>
            </a:pPr>
            <a:r>
              <a:rPr lang="zh-CN" altLang="en-US" sz="3520" dirty="0">
                <a:gradFill>
                  <a:gsLst>
                    <a:gs pos="0">
                      <a:srgbClr val="052E68"/>
                    </a:gs>
                    <a:gs pos="100000">
                      <a:srgbClr val="052E68">
                        <a:lumMod val="90000"/>
                        <a:lumOff val="10000"/>
                      </a:srgbClr>
                    </a:gs>
                  </a:gsLst>
                  <a:lin ang="5400000" scaled="1"/>
                </a:gradFill>
                <a:latin typeface="华文中宋" panose="02010600040101010101" pitchFamily="2" charset="-122"/>
                <a:ea typeface="华文中宋" panose="02010600040101010101" pitchFamily="2" charset="-122"/>
                <a:cs typeface="Times New Roman" panose="02020603050405020304" pitchFamily="18" charset="0"/>
              </a:rPr>
              <a:t>面向 Rust 操作系统的跨特权级与异步统一调试</a:t>
            </a:r>
            <a:endParaRPr sz="1200"/>
          </a:p>
        </p:txBody>
      </p:sp>
      <p:pic>
        <p:nvPicPr>
          <p:cNvPr id="224" name="淘宝店铺-想搞设计(校园PPT每学期更新)"/>
          <p:cNvPicPr>
            <a:picLocks noChangeAspect="1"/>
          </p:cNvPicPr>
          <p:nvPr/>
        </p:nvPicPr>
        <p:blipFill>
          <a:blip r:embed="rId4">
            <a:alphaModFix amt="10000"/>
          </a:blip>
          <a:srcRect t="50000" b="28724"/>
          <a:stretch>
            <a:fillRect/>
          </a:stretch>
        </p:blipFill>
        <p:spPr>
          <a:xfrm>
            <a:off x="-60114" y="4960306"/>
            <a:ext cx="12312226" cy="1964669"/>
          </a:xfrm>
          <a:prstGeom prst="rect">
            <a:avLst/>
          </a:prstGeom>
        </p:spPr>
      </p:pic>
      <p:grpSp>
        <p:nvGrpSpPr>
          <p:cNvPr id="225" name="淘宝店铺-想搞设计(校园PPT每学期更新)"/>
          <p:cNvGrpSpPr/>
          <p:nvPr/>
        </p:nvGrpSpPr>
        <p:grpSpPr>
          <a:xfrm>
            <a:off x="1785521" y="794406"/>
            <a:ext cx="8547565" cy="0"/>
            <a:chOff x="2781939" y="9501547"/>
            <a:chExt cx="8310254" cy="0"/>
          </a:xfrm>
          <a:solidFill>
            <a:schemeClr val="accent1"/>
          </a:solidFill>
        </p:grpSpPr>
        <p:cxnSp>
          <p:nvCxnSpPr>
            <p:cNvPr id="226" name="淘宝店铺-想搞设计(校园PPT每学期更新)"/>
            <p:cNvCxnSpPr/>
            <p:nvPr/>
          </p:nvCxnSpPr>
          <p:spPr>
            <a:xfrm flipH="1">
              <a:off x="2781939" y="9501547"/>
              <a:ext cx="2580640" cy="0"/>
            </a:xfrm>
            <a:prstGeom prst="line">
              <a:avLst/>
            </a:prstGeom>
            <a:grpFill/>
            <a:ln w="6350" cap="rnd" cmpd="sng">
              <a:gradFill>
                <a:gsLst>
                  <a:gs pos="0">
                    <a:schemeClr val="accent1">
                      <a:lumMod val="5000"/>
                      <a:lumOff val="95000"/>
                    </a:schemeClr>
                  </a:gs>
                  <a:gs pos="99000">
                    <a:schemeClr val="accent6"/>
                  </a:gs>
                </a:gsLst>
                <a:lin ang="10800000" scaled="0"/>
              </a:gradFill>
              <a:prstDash val="solid"/>
              <a:round/>
              <a:headEnd type="oval"/>
            </a:ln>
            <a:effectLst/>
          </p:spPr>
          <p:style>
            <a:lnRef idx="2">
              <a:schemeClr val="accent1"/>
            </a:lnRef>
            <a:fillRef idx="0">
              <a:schemeClr val="accent1"/>
            </a:fillRef>
            <a:effectRef idx="1">
              <a:schemeClr val="accent1"/>
            </a:effectRef>
            <a:fontRef idx="minor">
              <a:schemeClr val="tx1"/>
            </a:fontRef>
          </p:style>
        </p:cxnSp>
        <p:cxnSp>
          <p:nvCxnSpPr>
            <p:cNvPr id="227" name="淘宝店铺-想搞设计(校园PPT每学期更新)"/>
            <p:cNvCxnSpPr/>
            <p:nvPr/>
          </p:nvCxnSpPr>
          <p:spPr>
            <a:xfrm>
              <a:off x="8511553" y="9501547"/>
              <a:ext cx="2580640" cy="0"/>
            </a:xfrm>
            <a:prstGeom prst="line">
              <a:avLst/>
            </a:prstGeom>
            <a:grpFill/>
            <a:ln w="6350" cap="rnd" cmpd="sng">
              <a:gradFill>
                <a:gsLst>
                  <a:gs pos="0">
                    <a:schemeClr val="accent1">
                      <a:lumMod val="5000"/>
                      <a:lumOff val="95000"/>
                    </a:schemeClr>
                  </a:gs>
                  <a:gs pos="99000">
                    <a:schemeClr val="accent6"/>
                  </a:gs>
                </a:gsLst>
                <a:lin ang="10800000" scaled="0"/>
              </a:gradFill>
              <a:prstDash val="solid"/>
              <a:round/>
              <a:headEnd type="oval"/>
            </a:ln>
            <a:effectLst/>
          </p:spPr>
          <p:style>
            <a:lnRef idx="2">
              <a:schemeClr val="accent1"/>
            </a:lnRef>
            <a:fillRef idx="0">
              <a:schemeClr val="accent1"/>
            </a:fillRef>
            <a:effectRef idx="1">
              <a:schemeClr val="accent1"/>
            </a:effectRef>
            <a:fontRef idx="minor">
              <a:schemeClr val="tx1"/>
            </a:fontRef>
          </p:style>
        </p:cxnSp>
      </p:grpSp>
      <p:pic>
        <p:nvPicPr>
          <p:cNvPr id="228" name="淘宝店铺-想搞设计(校园PPT每学期更新)"/>
          <p:cNvPicPr/>
          <p:nvPr/>
        </p:nvPicPr>
        <p:blipFill>
          <a:blip r:embed="rId5"/>
          <a:stretch>
            <a:fillRect/>
          </a:stretch>
        </p:blipFill>
        <p:spPr>
          <a:xfrm>
            <a:off x="5029660" y="569288"/>
            <a:ext cx="2047049" cy="378421"/>
          </a:xfrm>
          <a:prstGeom prst="rect">
            <a:avLst/>
          </a:prstGeom>
        </p:spPr>
      </p:pic>
      <p:sp>
        <p:nvSpPr>
          <p:cNvPr id="229" name="淘宝店铺-想搞设计(校园PPT每学期更新)"/>
          <p:cNvSpPr txBox="1"/>
          <p:nvPr/>
        </p:nvSpPr>
        <p:spPr>
          <a:xfrm>
            <a:off x="11527280" y="-968586"/>
            <a:ext cx="235962" cy="363176"/>
          </a:xfrm>
          <a:prstGeom prst="rect">
            <a:avLst/>
          </a:prstGeom>
          <a:noFill/>
        </p:spPr>
        <p:txBody>
          <a:bodyPr wrap="none" rtlCol="0">
            <a:spAutoFit/>
          </a:bodyPr>
          <a:lstStyle/>
          <a:p>
            <a:pPr defTabSz="894145">
              <a:defRPr/>
            </a:pPr>
            <a:r>
              <a:rPr lang="en-US" altLang="zh-CN" sz="1760" dirty="0">
                <a:solidFill>
                  <a:prstClr val="black"/>
                </a:solidFill>
                <a:latin typeface="DIN"/>
                <a:ea typeface="华文中宋" panose="02010600040101010101" pitchFamily="2" charset="-122"/>
                <a:cs typeface="Arial"/>
              </a:rPr>
              <a:t> </a:t>
            </a:r>
            <a:endParaRPr lang="zh-CN" altLang="en-US" sz="1760" dirty="0">
              <a:solidFill>
                <a:prstClr val="black"/>
              </a:solidFill>
              <a:latin typeface="DIN"/>
              <a:ea typeface="华文中宋" panose="02010600040101010101" pitchFamily="2" charset="-122"/>
              <a:cs typeface="Arial"/>
            </a:endParaRPr>
          </a:p>
        </p:txBody>
      </p:sp>
      <p:sp>
        <p:nvSpPr>
          <p:cNvPr id="230" name="TextBox 51"/>
          <p:cNvSpPr txBox="1"/>
          <p:nvPr/>
        </p:nvSpPr>
        <p:spPr>
          <a:xfrm>
            <a:off x="1634281" y="5491253"/>
            <a:ext cx="8940800" cy="367099"/>
          </a:xfrm>
          <a:prstGeom prst="rect">
            <a:avLst/>
          </a:prstGeom>
          <a:noFill/>
        </p:spPr>
        <p:txBody>
          <a:bodyPr wrap="square" lIns="44704" tIns="17881" rIns="44704" bIns="17881" anchor="t">
            <a:spAutoFit/>
          </a:bodyPr>
          <a:lstStyle/>
          <a:p>
            <a:pPr algn="ctr" defTabSz="894145">
              <a:defRPr/>
            </a:pPr>
            <a:r>
              <a:rPr sz="2151" dirty="0" err="1">
                <a:solidFill>
                  <a:prstClr val="white"/>
                </a:solidFill>
                <a:latin typeface="华文中宋" panose="02010600040101010101" pitchFamily="2" charset="-122"/>
                <a:ea typeface="华文中宋" panose="02010600040101010101" pitchFamily="2" charset="-122"/>
                <a:cs typeface="思源黑体 CN Medium"/>
              </a:rPr>
              <a:t>团队成员：曾小红</a:t>
            </a:r>
            <a:r>
              <a:rPr sz="2151" dirty="0">
                <a:solidFill>
                  <a:prstClr val="white"/>
                </a:solidFill>
                <a:latin typeface="华文中宋" panose="02010600040101010101" pitchFamily="2" charset="-122"/>
                <a:ea typeface="华文中宋" panose="02010600040101010101" pitchFamily="2" charset="-122"/>
                <a:cs typeface="思源黑体 CN Medium"/>
              </a:rPr>
              <a:t> · </a:t>
            </a:r>
            <a:r>
              <a:rPr sz="2151" dirty="0" err="1">
                <a:solidFill>
                  <a:prstClr val="white"/>
                </a:solidFill>
                <a:latin typeface="华文中宋" panose="02010600040101010101" pitchFamily="2" charset="-122"/>
                <a:ea typeface="华文中宋" panose="02010600040101010101" pitchFamily="2" charset="-122"/>
                <a:cs typeface="思源黑体 CN Medium"/>
              </a:rPr>
              <a:t>王浩铭</a:t>
            </a:r>
            <a:r>
              <a:rPr sz="2151" dirty="0">
                <a:solidFill>
                  <a:prstClr val="white"/>
                </a:solidFill>
                <a:latin typeface="华文中宋" panose="02010600040101010101" pitchFamily="2" charset="-122"/>
                <a:ea typeface="华文中宋" panose="02010600040101010101" pitchFamily="2" charset="-122"/>
                <a:cs typeface="思源黑体 CN Medium"/>
              </a:rPr>
              <a:t> · </a:t>
            </a:r>
            <a:r>
              <a:rPr sz="2151" dirty="0" err="1">
                <a:solidFill>
                  <a:prstClr val="white"/>
                </a:solidFill>
                <a:latin typeface="华文中宋" panose="02010600040101010101" pitchFamily="2" charset="-122"/>
                <a:ea typeface="华文中宋" panose="02010600040101010101" pitchFamily="2" charset="-122"/>
                <a:cs typeface="思源黑体 CN Medium"/>
              </a:rPr>
              <a:t>武雪妍</a:t>
            </a:r>
            <a:r>
              <a:rPr sz="2151" dirty="0">
                <a:solidFill>
                  <a:prstClr val="white"/>
                </a:solidFill>
                <a:latin typeface="华文中宋" panose="02010600040101010101" pitchFamily="2" charset="-122"/>
                <a:ea typeface="华文中宋" panose="02010600040101010101" pitchFamily="2" charset="-122"/>
                <a:cs typeface="思源黑体 CN Medium"/>
              </a:rPr>
              <a:t>    </a:t>
            </a:r>
            <a:r>
              <a:rPr sz="2151" dirty="0" err="1">
                <a:solidFill>
                  <a:prstClr val="white"/>
                </a:solidFill>
                <a:latin typeface="华文中宋" panose="02010600040101010101" pitchFamily="2" charset="-122"/>
                <a:ea typeface="华文中宋" panose="02010600040101010101" pitchFamily="2" charset="-122"/>
                <a:cs typeface="思源黑体 CN Medium"/>
              </a:rPr>
              <a:t>指导教师：吴竞邦</a:t>
            </a:r>
            <a:endParaRPr sz="2151" dirty="0">
              <a:solidFill>
                <a:prstClr val="white"/>
              </a:solidFill>
              <a:latin typeface="华文中宋" panose="02010600040101010101" pitchFamily="2" charset="-122"/>
              <a:ea typeface="华文中宋" panose="02010600040101010101" pitchFamily="2" charset="-122"/>
              <a:cs typeface="思源黑体 CN Medium"/>
            </a:endParaRPr>
          </a:p>
        </p:txBody>
      </p:sp>
      <p:sp>
        <p:nvSpPr>
          <p:cNvPr id="231" name="TextBox 52"/>
          <p:cNvSpPr txBox="1"/>
          <p:nvPr/>
        </p:nvSpPr>
        <p:spPr>
          <a:xfrm>
            <a:off x="1582783" y="6119571"/>
            <a:ext cx="8940800" cy="323850"/>
          </a:xfrm>
          <a:prstGeom prst="rect">
            <a:avLst/>
          </a:prstGeom>
          <a:noFill/>
        </p:spPr>
        <p:txBody>
          <a:bodyPr wrap="square" lIns="44704" tIns="17881" rIns="44704" bIns="17881" anchor="t">
            <a:spAutoFit/>
          </a:bodyPr>
          <a:lstStyle/>
          <a:p>
            <a:pPr algn="ctr" defTabSz="894145">
              <a:defRPr sz="1800">
                <a:solidFill>
                  <a:schemeClr val="tx1">
                    <a:alpha val="100000"/>
                  </a:schemeClr>
                </a:solidFill>
                <a:latin typeface="Roboto"/>
                <a:ea typeface="HarmonyOS Sans SC"/>
                <a:cs typeface="+mn-cs"/>
              </a:defRPr>
            </a:pPr>
            <a:r>
              <a:rPr sz="1955">
                <a:solidFill>
                  <a:srgbClr val="FFFFFF">
                    <a:alpha val="100000"/>
                  </a:srgbClr>
                </a:solidFill>
                <a:latin typeface="华文中宋"/>
                <a:ea typeface="华文中宋"/>
                <a:cs typeface="思源黑体 CN Medium"/>
              </a:rPr>
              <a:t>北京工商大学 · 计算机与人工智能学院 · 2026 年 8 月</a:t>
            </a:r>
            <a:endParaRPr sz="1200"/>
          </a:p>
        </p:txBody>
      </p:sp>
      <p:pic>
        <p:nvPicPr>
          <p:cNvPr id="232" name="图片 4"/>
          <p:cNvPicPr>
            <a:picLocks noChangeAspect="1"/>
          </p:cNvPicPr>
          <p:nvPr/>
        </p:nvPicPr>
        <p:blipFill>
          <a:blip r:embed="rId6"/>
          <a:srcRect l="4987" b="7610"/>
          <a:stretch>
            <a:fillRect/>
          </a:stretch>
        </p:blipFill>
        <p:spPr>
          <a:xfrm rot="16200000" flipH="1" flipV="1">
            <a:off x="-99640" y="4978075"/>
            <a:ext cx="2647495" cy="2566865"/>
          </a:xfrm>
          <a:prstGeom prst="rect">
            <a:avLst/>
          </a:prstGeom>
        </p:spPr>
      </p:pic>
      <p:pic>
        <p:nvPicPr>
          <p:cNvPr id="233" name="图片 9"/>
          <p:cNvPicPr>
            <a:picLocks noChangeAspect="1"/>
          </p:cNvPicPr>
          <p:nvPr/>
        </p:nvPicPr>
        <p:blipFill>
          <a:blip r:embed="rId7"/>
          <a:srcRect r="31143" b="34882"/>
          <a:stretch>
            <a:fillRect/>
          </a:stretch>
        </p:blipFill>
        <p:spPr>
          <a:xfrm>
            <a:off x="9410042" y="4960306"/>
            <a:ext cx="2842071" cy="1988933"/>
          </a:xfrm>
          <a:custGeom>
            <a:avLst/>
            <a:gdLst>
              <a:gd name="connsiteX0" fmla="*/ 0 w 4263107"/>
              <a:gd name="connsiteY0" fmla="*/ 0 h 2983400"/>
              <a:gd name="connsiteX1" fmla="*/ 4263107 w 4263107"/>
              <a:gd name="connsiteY1" fmla="*/ 0 h 2983400"/>
              <a:gd name="connsiteX2" fmla="*/ 4263107 w 4263107"/>
              <a:gd name="connsiteY2" fmla="*/ 2983400 h 2983400"/>
              <a:gd name="connsiteX3" fmla="*/ 0 w 4263107"/>
              <a:gd name="connsiteY3" fmla="*/ 2983400 h 2983400"/>
            </a:gdLst>
            <a:ahLst/>
            <a:cxnLst>
              <a:cxn ang="0">
                <a:pos x="connsiteX0" y="connsiteY0"/>
              </a:cxn>
              <a:cxn ang="0">
                <a:pos x="connsiteX1" y="connsiteY1"/>
              </a:cxn>
              <a:cxn ang="0">
                <a:pos x="connsiteX2" y="connsiteY2"/>
              </a:cxn>
              <a:cxn ang="0">
                <a:pos x="connsiteX3" y="connsiteY3"/>
              </a:cxn>
            </a:cxnLst>
            <a:rect l="l" t="t" r="r" b="b"/>
            <a:pathLst>
              <a:path w="4263107" h="2983400">
                <a:moveTo>
                  <a:pt x="0" y="0"/>
                </a:moveTo>
                <a:lnTo>
                  <a:pt x="4263107" y="0"/>
                </a:lnTo>
                <a:lnTo>
                  <a:pt x="4263107" y="2983400"/>
                </a:lnTo>
                <a:lnTo>
                  <a:pt x="0" y="2983400"/>
                </a:lnTo>
                <a:close/>
              </a:path>
            </a:pathLst>
          </a:cu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淘宝店铺-想搞设计(校园PPT每学期更新)"/>
          <p:cNvPicPr>
            <a:picLocks noChangeAspect="1"/>
          </p:cNvPicPr>
          <p:nvPr/>
        </p:nvPicPr>
        <p:blipFill>
          <a:blip r:embed="rId3">
            <a:alphaModFix amt="60000"/>
          </a:blip>
          <a:stretch>
            <a:fillRect/>
          </a:stretch>
        </p:blipFill>
        <p:spPr>
          <a:xfrm rot="10800000">
            <a:off x="197461" y="49785"/>
            <a:ext cx="12064688" cy="2805155"/>
          </a:xfrm>
          <a:prstGeom prst="rect">
            <a:avLst/>
          </a:prstGeom>
        </p:spPr>
      </p:pic>
      <p:pic>
        <p:nvPicPr>
          <p:cNvPr id="236" name="淘宝店铺-想搞设计(校园PPT每学期更新)"/>
          <p:cNvPicPr>
            <a:picLocks noChangeAspect="1"/>
          </p:cNvPicPr>
          <p:nvPr/>
        </p:nvPicPr>
        <p:blipFill>
          <a:blip r:embed="rId4"/>
          <a:srcRect r="16168"/>
          <a:stretch>
            <a:fillRect/>
          </a:stretch>
        </p:blipFill>
        <p:spPr>
          <a:xfrm flipH="1">
            <a:off x="197461" y="4305264"/>
            <a:ext cx="12064688" cy="2543161"/>
          </a:xfrm>
          <a:prstGeom prst="rect">
            <a:avLst/>
          </a:prstGeom>
        </p:spPr>
      </p:pic>
      <p:sp>
        <p:nvSpPr>
          <p:cNvPr id="237" name="淘宝店铺-想搞设计(校园PPT每学期更新)"/>
          <p:cNvSpPr/>
          <p:nvPr/>
        </p:nvSpPr>
        <p:spPr>
          <a:xfrm flipH="1">
            <a:off x="2629419" y="766591"/>
            <a:ext cx="8235562" cy="5794871"/>
          </a:xfrm>
          <a:prstGeom prst="roundRect">
            <a:avLst>
              <a:gd name="adj" fmla="val 841"/>
            </a:avLst>
          </a:prstGeom>
          <a:gradFill flip="none" rotWithShape="1">
            <a:gsLst>
              <a:gs pos="25000">
                <a:schemeClr val="bg1"/>
              </a:gs>
              <a:gs pos="99083">
                <a:schemeClr val="bg1"/>
              </a:gs>
            </a:gsLst>
            <a:lin ang="5400000" scaled="1"/>
          </a:gradFill>
          <a:ln w="3175">
            <a:gradFill flip="none" rotWithShape="1">
              <a:gsLst>
                <a:gs pos="0">
                  <a:schemeClr val="bg1"/>
                </a:gs>
                <a:gs pos="100000">
                  <a:schemeClr val="accent6">
                    <a:lumMod val="100000"/>
                  </a:schemeClr>
                </a:gs>
              </a:gsLst>
              <a:lin ang="10800000" scaled="1"/>
            </a:gradFill>
          </a:ln>
          <a:effectLst>
            <a:outerShdw blurRad="304800" sx="102000" sy="102000" algn="ctr" rotWithShape="0">
              <a:schemeClr val="accent6">
                <a:lumMod val="20000"/>
                <a:lumOff val="80000"/>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238" name="淘宝店铺-想搞设计(校园PPT每学期更新)"/>
          <p:cNvSpPr/>
          <p:nvPr/>
        </p:nvSpPr>
        <p:spPr>
          <a:xfrm>
            <a:off x="-19360" y="-77492"/>
            <a:ext cx="4171091" cy="7028482"/>
          </a:xfrm>
          <a:prstGeom prst="roundRect">
            <a:avLst>
              <a:gd name="adj" fmla="val 0"/>
            </a:avLst>
          </a:prstGeom>
          <a:gradFill>
            <a:gsLst>
              <a:gs pos="0">
                <a:schemeClr val="accent6"/>
              </a:gs>
              <a:gs pos="100000">
                <a:schemeClr val="accent6">
                  <a:lumMod val="90000"/>
                </a:schemeClr>
              </a:gs>
            </a:gsLst>
            <a:lin ang="5400000" scaled="1"/>
          </a:gradFill>
          <a:ln>
            <a:solidFill>
              <a:schemeClr val="bg1"/>
            </a:solidFill>
          </a:ln>
          <a:effectLst>
            <a:outerShdw blurRad="165100" dist="38100" dir="2700000" algn="tl" rotWithShape="0">
              <a:schemeClr val="bg1">
                <a:lumMod val="8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pic>
        <p:nvPicPr>
          <p:cNvPr id="239" name="淘宝店铺-想搞设计(校园PPT每学期更新)"/>
          <p:cNvPicPr>
            <a:picLocks noChangeAspect="1"/>
          </p:cNvPicPr>
          <p:nvPr/>
        </p:nvPicPr>
        <p:blipFill>
          <a:blip r:embed="rId5">
            <a:alphaModFix amt="7000"/>
          </a:blip>
          <a:srcRect l="29460" r="29859"/>
          <a:stretch>
            <a:fillRect/>
          </a:stretch>
        </p:blipFill>
        <p:spPr>
          <a:xfrm>
            <a:off x="-27514" y="61167"/>
            <a:ext cx="4150779" cy="6758195"/>
          </a:xfrm>
          <a:prstGeom prst="rect">
            <a:avLst/>
          </a:prstGeom>
        </p:spPr>
      </p:pic>
      <p:grpSp>
        <p:nvGrpSpPr>
          <p:cNvPr id="240" name="淘宝店铺-想搞设计(校园PPT每学期更新)"/>
          <p:cNvGrpSpPr/>
          <p:nvPr/>
        </p:nvGrpSpPr>
        <p:grpSpPr>
          <a:xfrm>
            <a:off x="1251644" y="1249254"/>
            <a:ext cx="1806873" cy="4491533"/>
            <a:chOff x="1266517" y="1564791"/>
            <a:chExt cx="1499884" cy="3728416"/>
          </a:xfrm>
        </p:grpSpPr>
        <p:grpSp>
          <p:nvGrpSpPr>
            <p:cNvPr id="241" name="淘宝店铺-想搞设计(校园PPT每学期更新)"/>
            <p:cNvGrpSpPr/>
            <p:nvPr/>
          </p:nvGrpSpPr>
          <p:grpSpPr>
            <a:xfrm>
              <a:off x="1266517" y="1564791"/>
              <a:ext cx="1098290" cy="3728416"/>
              <a:chOff x="2429336" y="1489115"/>
              <a:chExt cx="1098290" cy="3728416"/>
            </a:xfrm>
          </p:grpSpPr>
          <p:sp>
            <p:nvSpPr>
              <p:cNvPr id="242" name="淘宝店铺-想搞设计(校园PPT每学期更新)"/>
              <p:cNvSpPr txBox="1"/>
              <p:nvPr/>
            </p:nvSpPr>
            <p:spPr>
              <a:xfrm rot="5400000">
                <a:off x="1260789" y="3522684"/>
                <a:ext cx="2863394" cy="526300"/>
              </a:xfrm>
              <a:prstGeom prst="rect">
                <a:avLst/>
              </a:prstGeom>
              <a:noFill/>
            </p:spPr>
            <p:txBody>
              <a:bodyPr vert="horz" wrap="square">
                <a:spAutoFit/>
              </a:bodyPr>
              <a:lstStyle/>
              <a:p>
                <a:pPr algn="dist" defTabSz="894145"/>
                <a:r>
                  <a:rPr lang="en-US" altLang="zh-CN" sz="3520">
                    <a:ln>
                      <a:solidFill>
                        <a:prstClr val="white">
                          <a:alpha val="22000"/>
                        </a:prstClr>
                      </a:solidFill>
                    </a:ln>
                    <a:noFill/>
                    <a:latin typeface="DIN Black"/>
                    <a:ea typeface="微软雅黑" panose="020B0503020204020204" pitchFamily="34" charset="-122"/>
                    <a:cs typeface="阿里巴巴普惠体 Heavy" panose="00020600040101010101" pitchFamily="18" charset="-122"/>
                  </a:rPr>
                  <a:t>CONTENTS</a:t>
                </a:r>
                <a:endParaRPr sz="1200"/>
              </a:p>
            </p:txBody>
          </p:sp>
          <p:sp>
            <p:nvSpPr>
              <p:cNvPr id="243" name="淘宝店铺-想搞设计(校园PPT每学期更新)"/>
              <p:cNvSpPr/>
              <p:nvPr/>
            </p:nvSpPr>
            <p:spPr>
              <a:xfrm>
                <a:off x="2610429" y="1489115"/>
                <a:ext cx="917197" cy="1784366"/>
              </a:xfrm>
              <a:prstGeom prst="parallelogram">
                <a:avLst>
                  <a:gd name="adj" fmla="val 43802"/>
                </a:avLst>
              </a:prstGeom>
              <a:gradFill>
                <a:gsLst>
                  <a:gs pos="73000">
                    <a:schemeClr val="bg1">
                      <a:alpha val="0"/>
                    </a:schemeClr>
                  </a:gs>
                  <a:gs pos="0">
                    <a:schemeClr val="bg1">
                      <a:alpha val="2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spcBef>
                    <a:spcPct val="1"/>
                  </a:spcBef>
                  <a:spcAft>
                    <a:spcPct val="1"/>
                  </a:spcAft>
                  <a:defRPr/>
                </a:pPr>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244" name="淘宝店铺-想搞设计(校园PPT每学期更新)"/>
              <p:cNvSpPr/>
              <p:nvPr/>
            </p:nvSpPr>
            <p:spPr>
              <a:xfrm>
                <a:off x="2439546" y="1936465"/>
                <a:ext cx="584776" cy="1137656"/>
              </a:xfrm>
              <a:prstGeom prst="parallelogram">
                <a:avLst>
                  <a:gd name="adj" fmla="val 43802"/>
                </a:avLst>
              </a:prstGeom>
              <a:gradFill>
                <a:gsLst>
                  <a:gs pos="73000">
                    <a:schemeClr val="bg1">
                      <a:alpha val="0"/>
                    </a:schemeClr>
                  </a:gs>
                  <a:gs pos="0">
                    <a:schemeClr val="bg1">
                      <a:alpha val="2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spcBef>
                    <a:spcPct val="1"/>
                  </a:spcBef>
                  <a:spcAft>
                    <a:spcPct val="1"/>
                  </a:spcAft>
                  <a:defRPr/>
                </a:pPr>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cxnSp>
            <p:nvCxnSpPr>
              <p:cNvPr id="245" name="淘宝店铺-想搞设计(校园PPT每学期更新)"/>
              <p:cNvCxnSpPr/>
              <p:nvPr/>
            </p:nvCxnSpPr>
            <p:spPr>
              <a:xfrm flipH="1">
                <a:off x="3069028" y="2981499"/>
                <a:ext cx="0" cy="2056789"/>
              </a:xfrm>
              <a:prstGeom prst="line">
                <a:avLst/>
              </a:prstGeom>
              <a:ln>
                <a:solidFill>
                  <a:schemeClr val="bg1">
                    <a:alpha val="17000"/>
                  </a:schemeClr>
                </a:solidFill>
              </a:ln>
            </p:spPr>
            <p:style>
              <a:lnRef idx="1">
                <a:schemeClr val="accent1"/>
              </a:lnRef>
              <a:fillRef idx="0">
                <a:schemeClr val="accent1"/>
              </a:fillRef>
              <a:effectRef idx="0">
                <a:schemeClr val="accent1"/>
              </a:effectRef>
              <a:fontRef idx="minor">
                <a:schemeClr val="tx1"/>
              </a:fontRef>
            </p:style>
          </p:cxnSp>
        </p:grpSp>
        <p:sp>
          <p:nvSpPr>
            <p:cNvPr id="246" name="淘宝店铺-想搞设计(校园PPT每学期更新)"/>
            <p:cNvSpPr txBox="1"/>
            <p:nvPr/>
          </p:nvSpPr>
          <p:spPr>
            <a:xfrm>
              <a:off x="1986274" y="1616018"/>
              <a:ext cx="780127" cy="3374530"/>
            </a:xfrm>
            <a:prstGeom prst="rect">
              <a:avLst/>
            </a:prstGeom>
            <a:noFill/>
          </p:spPr>
          <p:txBody>
            <a:bodyPr wrap="square" rtlCol="0">
              <a:spAutoFit/>
            </a:bodyPr>
            <a:lstStyle/>
            <a:p>
              <a:pPr defTabSz="894145"/>
              <a:r>
                <a:rPr lang="zh-CN" altLang="en-US" sz="6454">
                  <a:solidFill>
                    <a:srgbClr val="FFFFFF">
                      <a:alpha val="100000"/>
                    </a:srgbClr>
                  </a:solidFill>
                  <a:latin typeface="思源宋体 CN Heavy"/>
                  <a:ea typeface="思源宋体 CN Heavy"/>
                  <a:cs typeface="Arial"/>
                </a:rPr>
                <a:t>项目目录</a:t>
              </a:r>
              <a:endParaRPr sz="1200"/>
            </a:p>
          </p:txBody>
        </p:sp>
      </p:grpSp>
      <p:pic>
        <p:nvPicPr>
          <p:cNvPr id="247" name="淘宝店铺-想搞设计(校园PPT每学期更新)"/>
          <p:cNvPicPr/>
          <p:nvPr/>
        </p:nvPicPr>
        <p:blipFill>
          <a:blip r:embed="rId6"/>
          <a:stretch>
            <a:fillRect/>
          </a:stretch>
        </p:blipFill>
        <p:spPr>
          <a:xfrm>
            <a:off x="309027" y="210982"/>
            <a:ext cx="1370495" cy="253721"/>
          </a:xfrm>
          <a:prstGeom prst="rect">
            <a:avLst/>
          </a:prstGeom>
        </p:spPr>
      </p:pic>
      <p:pic>
        <p:nvPicPr>
          <p:cNvPr id="248" name="淘宝店铺-想搞设计(校园PPT每学期更新)"/>
          <p:cNvPicPr>
            <a:picLocks noChangeAspect="1"/>
          </p:cNvPicPr>
          <p:nvPr/>
        </p:nvPicPr>
        <p:blipFill>
          <a:blip r:embed="rId7"/>
          <a:srcRect l="7433" r="59168" b="34258"/>
          <a:stretch>
            <a:fillRect/>
          </a:stretch>
        </p:blipFill>
        <p:spPr>
          <a:xfrm flipH="1">
            <a:off x="8020908" y="-1098"/>
            <a:ext cx="4171092" cy="6861709"/>
          </a:xfrm>
          <a:prstGeom prst="rect">
            <a:avLst/>
          </a:prstGeom>
        </p:spPr>
      </p:pic>
      <p:sp>
        <p:nvSpPr>
          <p:cNvPr id="249" name="TextBox 397"/>
          <p:cNvSpPr txBox="1"/>
          <p:nvPr/>
        </p:nvSpPr>
        <p:spPr>
          <a:xfrm>
            <a:off x="4480560" y="1097280"/>
            <a:ext cx="914400" cy="457200"/>
          </a:xfrm>
          <a:prstGeom prst="rect">
            <a:avLst/>
          </a:prstGeom>
          <a:noFill/>
        </p:spPr>
        <p:txBody>
          <a:bodyPr wrap="square">
            <a:spAutoFit/>
          </a:bodyPr>
          <a:lstStyle/>
          <a:p>
            <a:pPr algn="r">
              <a:lnSpc>
                <a:spcPct val="135000"/>
              </a:lnSpc>
              <a:spcAft>
                <a:spcPts val="200"/>
              </a:spcAft>
            </a:pPr>
            <a:r>
              <a:rPr sz="1900" b="1">
                <a:solidFill>
                  <a:srgbClr val="052E68"/>
                </a:solidFill>
                <a:latin typeface="思源宋体 CN Heavy"/>
                <a:ea typeface="思源宋体 CN Heavy"/>
              </a:rPr>
              <a:t>01</a:t>
            </a:r>
            <a:endParaRPr/>
          </a:p>
        </p:txBody>
      </p:sp>
      <p:sp>
        <p:nvSpPr>
          <p:cNvPr id="250" name="TextBox 398"/>
          <p:cNvSpPr txBox="1"/>
          <p:nvPr/>
        </p:nvSpPr>
        <p:spPr>
          <a:xfrm>
            <a:off x="5577840" y="1097280"/>
            <a:ext cx="5943600" cy="640080"/>
          </a:xfrm>
          <a:prstGeom prst="rect">
            <a:avLst/>
          </a:prstGeom>
          <a:noFill/>
        </p:spPr>
        <p:txBody>
          <a:bodyPr wrap="square">
            <a:spAutoFit/>
          </a:bodyPr>
          <a:lstStyle/>
          <a:p>
            <a:pPr algn="l">
              <a:lnSpc>
                <a:spcPct val="135000"/>
              </a:lnSpc>
              <a:spcAft>
                <a:spcPts val="200"/>
              </a:spcAft>
            </a:pPr>
            <a:r>
              <a:rPr sz="3200" b="1">
                <a:solidFill>
                  <a:srgbClr val="052C62"/>
                </a:solidFill>
                <a:latin typeface="思源宋体 CN Heavy"/>
                <a:ea typeface="思源宋体 CN Heavy"/>
              </a:rPr>
              <a:t>项目背景</a:t>
            </a:r>
            <a:endParaRPr/>
          </a:p>
        </p:txBody>
      </p:sp>
      <p:sp>
        <p:nvSpPr>
          <p:cNvPr id="251" name="TextBox 399"/>
          <p:cNvSpPr txBox="1"/>
          <p:nvPr/>
        </p:nvSpPr>
        <p:spPr>
          <a:xfrm>
            <a:off x="5577840" y="1691640"/>
            <a:ext cx="6400800" cy="365760"/>
          </a:xfrm>
          <a:prstGeom prst="rect">
            <a:avLst/>
          </a:prstGeom>
          <a:noFill/>
        </p:spPr>
        <p:txBody>
          <a:bodyPr wrap="square">
            <a:spAutoFit/>
          </a:bodyPr>
          <a:lstStyle/>
          <a:p>
            <a:pPr algn="l">
              <a:lnSpc>
                <a:spcPct val="135000"/>
              </a:lnSpc>
              <a:spcAft>
                <a:spcPts val="200"/>
              </a:spcAft>
            </a:pPr>
            <a:r>
              <a:rPr sz="1600" b="0">
                <a:solidFill>
                  <a:srgbClr val="666666"/>
                </a:solidFill>
                <a:latin typeface="华文中宋"/>
                <a:ea typeface="华文中宋"/>
              </a:rPr>
              <a:t>赛题与调试器背景、项目增量</a:t>
            </a:r>
            <a:endParaRPr/>
          </a:p>
        </p:txBody>
      </p:sp>
      <p:sp>
        <p:nvSpPr>
          <p:cNvPr id="252" name="TextBox 400"/>
          <p:cNvSpPr txBox="1"/>
          <p:nvPr/>
        </p:nvSpPr>
        <p:spPr>
          <a:xfrm>
            <a:off x="4480560" y="2468880"/>
            <a:ext cx="914400" cy="457200"/>
          </a:xfrm>
          <a:prstGeom prst="rect">
            <a:avLst/>
          </a:prstGeom>
          <a:noFill/>
        </p:spPr>
        <p:txBody>
          <a:bodyPr wrap="square">
            <a:spAutoFit/>
          </a:bodyPr>
          <a:lstStyle/>
          <a:p>
            <a:pPr algn="r">
              <a:lnSpc>
                <a:spcPct val="135000"/>
              </a:lnSpc>
              <a:spcAft>
                <a:spcPts val="200"/>
              </a:spcAft>
            </a:pPr>
            <a:r>
              <a:rPr sz="1900" b="1">
                <a:solidFill>
                  <a:srgbClr val="052E68"/>
                </a:solidFill>
                <a:latin typeface="思源宋体 CN Heavy"/>
                <a:ea typeface="思源宋体 CN Heavy"/>
              </a:rPr>
              <a:t>02</a:t>
            </a:r>
            <a:endParaRPr/>
          </a:p>
        </p:txBody>
      </p:sp>
      <p:sp>
        <p:nvSpPr>
          <p:cNvPr id="253" name="TextBox 401"/>
          <p:cNvSpPr txBox="1"/>
          <p:nvPr/>
        </p:nvSpPr>
        <p:spPr>
          <a:xfrm>
            <a:off x="5577840" y="2468880"/>
            <a:ext cx="5943600" cy="640080"/>
          </a:xfrm>
          <a:prstGeom prst="rect">
            <a:avLst/>
          </a:prstGeom>
          <a:noFill/>
        </p:spPr>
        <p:txBody>
          <a:bodyPr wrap="square">
            <a:spAutoFit/>
          </a:bodyPr>
          <a:lstStyle/>
          <a:p>
            <a:pPr algn="l">
              <a:lnSpc>
                <a:spcPct val="135000"/>
              </a:lnSpc>
              <a:spcAft>
                <a:spcPts val="200"/>
              </a:spcAft>
            </a:pPr>
            <a:r>
              <a:rPr sz="3200" b="1">
                <a:solidFill>
                  <a:srgbClr val="052C62"/>
                </a:solidFill>
                <a:latin typeface="思源宋体 CN Heavy"/>
                <a:ea typeface="思源宋体 CN Heavy"/>
              </a:rPr>
              <a:t>总体目标</a:t>
            </a:r>
            <a:endParaRPr/>
          </a:p>
        </p:txBody>
      </p:sp>
      <p:sp>
        <p:nvSpPr>
          <p:cNvPr id="254" name="TextBox 402"/>
          <p:cNvSpPr txBox="1"/>
          <p:nvPr/>
        </p:nvSpPr>
        <p:spPr>
          <a:xfrm>
            <a:off x="5577840" y="3063240"/>
            <a:ext cx="6400800" cy="365760"/>
          </a:xfrm>
          <a:prstGeom prst="rect">
            <a:avLst/>
          </a:prstGeom>
          <a:noFill/>
        </p:spPr>
        <p:txBody>
          <a:bodyPr wrap="square">
            <a:spAutoFit/>
          </a:bodyPr>
          <a:lstStyle/>
          <a:p>
            <a:pPr algn="l">
              <a:lnSpc>
                <a:spcPct val="135000"/>
              </a:lnSpc>
              <a:spcAft>
                <a:spcPts val="200"/>
              </a:spcAft>
            </a:pPr>
            <a:r>
              <a:rPr sz="1600" b="0">
                <a:solidFill>
                  <a:srgbClr val="666666"/>
                </a:solidFill>
                <a:latin typeface="华文中宋"/>
                <a:ea typeface="华文中宋"/>
              </a:rPr>
              <a:t>工作目标与项目总览</a:t>
            </a:r>
            <a:endParaRPr/>
          </a:p>
        </p:txBody>
      </p:sp>
      <p:sp>
        <p:nvSpPr>
          <p:cNvPr id="255" name="TextBox 403"/>
          <p:cNvSpPr txBox="1"/>
          <p:nvPr/>
        </p:nvSpPr>
        <p:spPr>
          <a:xfrm>
            <a:off x="4480560" y="3840480"/>
            <a:ext cx="914400" cy="457200"/>
          </a:xfrm>
          <a:prstGeom prst="rect">
            <a:avLst/>
          </a:prstGeom>
          <a:noFill/>
        </p:spPr>
        <p:txBody>
          <a:bodyPr wrap="square">
            <a:spAutoFit/>
          </a:bodyPr>
          <a:lstStyle/>
          <a:p>
            <a:pPr algn="r">
              <a:lnSpc>
                <a:spcPct val="135000"/>
              </a:lnSpc>
              <a:spcAft>
                <a:spcPts val="200"/>
              </a:spcAft>
            </a:pPr>
            <a:r>
              <a:rPr sz="1900" b="1">
                <a:solidFill>
                  <a:srgbClr val="052E68"/>
                </a:solidFill>
                <a:latin typeface="思源宋体 CN Heavy"/>
                <a:ea typeface="思源宋体 CN Heavy"/>
              </a:rPr>
              <a:t>03</a:t>
            </a:r>
            <a:endParaRPr/>
          </a:p>
        </p:txBody>
      </p:sp>
      <p:sp>
        <p:nvSpPr>
          <p:cNvPr id="256" name="TextBox 404"/>
          <p:cNvSpPr txBox="1"/>
          <p:nvPr/>
        </p:nvSpPr>
        <p:spPr>
          <a:xfrm>
            <a:off x="5577840" y="3840480"/>
            <a:ext cx="5943600" cy="749300"/>
          </a:xfrm>
          <a:prstGeom prst="rect">
            <a:avLst/>
          </a:prstGeom>
          <a:noFill/>
        </p:spPr>
        <p:txBody>
          <a:bodyPr wrap="square">
            <a:spAutoFit/>
          </a:bodyPr>
          <a:lstStyle/>
          <a:p>
            <a:pPr algn="l">
              <a:lnSpc>
                <a:spcPct val="135000"/>
              </a:lnSpc>
              <a:spcAft>
                <a:spcPts val="200"/>
              </a:spcAft>
            </a:pPr>
            <a:r>
              <a:rPr lang="zh-CN" sz="3200" b="1">
                <a:solidFill>
                  <a:srgbClr val="052C62">
                    <a:alpha val="100000"/>
                  </a:srgbClr>
                </a:solidFill>
                <a:latin typeface="思源宋体 CN Heavy"/>
                <a:ea typeface="思源宋体 CN Heavy"/>
                <a:cs typeface="+mn-cs"/>
              </a:rPr>
              <a:t>关键技术实现</a:t>
            </a:r>
            <a:endParaRPr/>
          </a:p>
        </p:txBody>
      </p:sp>
      <p:sp>
        <p:nvSpPr>
          <p:cNvPr id="257" name="TextBox 405"/>
          <p:cNvSpPr txBox="1"/>
          <p:nvPr/>
        </p:nvSpPr>
        <p:spPr>
          <a:xfrm>
            <a:off x="5577840" y="4434840"/>
            <a:ext cx="6400800" cy="365760"/>
          </a:xfrm>
          <a:prstGeom prst="rect">
            <a:avLst/>
          </a:prstGeom>
          <a:noFill/>
        </p:spPr>
        <p:txBody>
          <a:bodyPr wrap="square">
            <a:spAutoFit/>
          </a:bodyPr>
          <a:lstStyle/>
          <a:p>
            <a:pPr algn="l">
              <a:lnSpc>
                <a:spcPct val="135000"/>
              </a:lnSpc>
              <a:spcAft>
                <a:spcPts val="200"/>
              </a:spcAft>
            </a:pPr>
            <a:r>
              <a:rPr sz="1600" b="0">
                <a:solidFill>
                  <a:srgbClr val="666666"/>
                </a:solidFill>
                <a:latin typeface="华文中宋"/>
                <a:ea typeface="华文中宋"/>
              </a:rPr>
              <a:t>五个技术方案分述</a:t>
            </a:r>
            <a:endParaRPr/>
          </a:p>
        </p:txBody>
      </p:sp>
      <p:sp>
        <p:nvSpPr>
          <p:cNvPr id="258" name="TextBox 406"/>
          <p:cNvSpPr txBox="1"/>
          <p:nvPr/>
        </p:nvSpPr>
        <p:spPr>
          <a:xfrm>
            <a:off x="4480560" y="5212080"/>
            <a:ext cx="914400" cy="457200"/>
          </a:xfrm>
          <a:prstGeom prst="rect">
            <a:avLst/>
          </a:prstGeom>
          <a:noFill/>
        </p:spPr>
        <p:txBody>
          <a:bodyPr wrap="square">
            <a:spAutoFit/>
          </a:bodyPr>
          <a:lstStyle/>
          <a:p>
            <a:pPr algn="r">
              <a:lnSpc>
                <a:spcPct val="135000"/>
              </a:lnSpc>
              <a:spcAft>
                <a:spcPts val="200"/>
              </a:spcAft>
            </a:pPr>
            <a:r>
              <a:rPr sz="1900" b="1">
                <a:solidFill>
                  <a:srgbClr val="052E68"/>
                </a:solidFill>
                <a:latin typeface="思源宋体 CN Heavy"/>
                <a:ea typeface="思源宋体 CN Heavy"/>
              </a:rPr>
              <a:t>04</a:t>
            </a:r>
            <a:endParaRPr/>
          </a:p>
        </p:txBody>
      </p:sp>
      <p:sp>
        <p:nvSpPr>
          <p:cNvPr id="259" name="TextBox 407"/>
          <p:cNvSpPr txBox="1"/>
          <p:nvPr/>
        </p:nvSpPr>
        <p:spPr>
          <a:xfrm>
            <a:off x="5577840" y="5212080"/>
            <a:ext cx="5943600" cy="640080"/>
          </a:xfrm>
          <a:prstGeom prst="rect">
            <a:avLst/>
          </a:prstGeom>
          <a:noFill/>
        </p:spPr>
        <p:txBody>
          <a:bodyPr wrap="square">
            <a:spAutoFit/>
          </a:bodyPr>
          <a:lstStyle/>
          <a:p>
            <a:pPr algn="l">
              <a:lnSpc>
                <a:spcPct val="135000"/>
              </a:lnSpc>
              <a:spcAft>
                <a:spcPts val="200"/>
              </a:spcAft>
            </a:pPr>
            <a:r>
              <a:rPr sz="3200" b="1">
                <a:solidFill>
                  <a:srgbClr val="052C62"/>
                </a:solidFill>
                <a:latin typeface="思源宋体 CN Heavy"/>
                <a:ea typeface="思源宋体 CN Heavy"/>
              </a:rPr>
              <a:t>测试验证</a:t>
            </a:r>
            <a:endParaRPr/>
          </a:p>
        </p:txBody>
      </p:sp>
      <p:sp>
        <p:nvSpPr>
          <p:cNvPr id="260" name="TextBox 408"/>
          <p:cNvSpPr txBox="1"/>
          <p:nvPr/>
        </p:nvSpPr>
        <p:spPr>
          <a:xfrm>
            <a:off x="5577840" y="5806440"/>
            <a:ext cx="6400800" cy="365760"/>
          </a:xfrm>
          <a:prstGeom prst="rect">
            <a:avLst/>
          </a:prstGeom>
          <a:noFill/>
        </p:spPr>
        <p:txBody>
          <a:bodyPr wrap="square">
            <a:spAutoFit/>
          </a:bodyPr>
          <a:lstStyle/>
          <a:p>
            <a:pPr algn="l">
              <a:lnSpc>
                <a:spcPct val="135000"/>
              </a:lnSpc>
              <a:spcAft>
                <a:spcPts val="200"/>
              </a:spcAft>
            </a:pPr>
            <a:r>
              <a:rPr sz="1600" b="0">
                <a:solidFill>
                  <a:srgbClr val="666666"/>
                </a:solidFill>
                <a:latin typeface="华文中宋"/>
                <a:ea typeface="华文中宋"/>
              </a:rPr>
              <a:t>四平台验证与完成情况</a:t>
            </a:r>
            <a:endParaRPr/>
          </a:p>
        </p:txBody>
      </p:sp>
      <p:sp>
        <p:nvSpPr>
          <p:cNvPr id="261" name="TextBox 409"/>
          <p:cNvSpPr txBox="1"/>
          <p:nvPr/>
        </p:nvSpPr>
        <p:spPr>
          <a:xfrm>
            <a:off x="11384280" y="6419088"/>
            <a:ext cx="457200" cy="228600"/>
          </a:xfrm>
          <a:prstGeom prst="rect">
            <a:avLst/>
          </a:prstGeom>
          <a:noFill/>
        </p:spPr>
        <p:txBody>
          <a:bodyPr wrap="square" lIns="109728" tIns="54864" rIns="109728" bIns="36576" anchor="ctr">
            <a:spAutoFit/>
          </a:bodyPr>
          <a:lstStyle/>
          <a:p>
            <a:pPr algn="r">
              <a:spcAft>
                <a:spcPts val="0"/>
              </a:spcAft>
            </a:pPr>
            <a:r>
              <a:rPr sz="1100" b="0">
                <a:solidFill>
                  <a:srgbClr val="666666"/>
                </a:solidFill>
                <a:latin typeface="华文中宋"/>
              </a:rPr>
              <a:t>2</a:t>
            </a: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TextBox 6"/>
          <p:cNvSpPr txBox="1"/>
          <p:nvPr/>
        </p:nvSpPr>
        <p:spPr>
          <a:xfrm>
            <a:off x="609600"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项目背景</a:t>
            </a:r>
            <a:endParaRPr/>
          </a:p>
        </p:txBody>
      </p:sp>
      <p:grpSp>
        <p:nvGrpSpPr>
          <p:cNvPr id="264" name="组合 20"/>
          <p:cNvGrpSpPr/>
          <p:nvPr/>
        </p:nvGrpSpPr>
        <p:grpSpPr>
          <a:xfrm>
            <a:off x="569970" y="1629282"/>
            <a:ext cx="11545045" cy="927215"/>
            <a:chOff x="3222869" y="1653343"/>
            <a:chExt cx="16089343" cy="1291861"/>
          </a:xfrm>
        </p:grpSpPr>
        <p:sp>
          <p:nvSpPr>
            <p:cNvPr id="265" name="文本框 21"/>
            <p:cNvSpPr txBox="1"/>
            <p:nvPr/>
          </p:nvSpPr>
          <p:spPr>
            <a:xfrm>
              <a:off x="4020359" y="2430625"/>
              <a:ext cx="15291853" cy="514579"/>
            </a:xfrm>
            <a:prstGeom prst="rect">
              <a:avLst/>
            </a:prstGeom>
            <a:noFill/>
          </p:spPr>
          <p:txBody>
            <a:bodyPr wrap="square">
              <a:spAutoFit/>
            </a:bodyPr>
            <a:lstStyle>
              <a:defPPr>
                <a:defRPr lang="zh-CN"/>
              </a:defPPr>
              <a:lvl1pPr>
                <a:defRPr>
                  <a:latin typeface="黑体" panose="02010609060101010101" pitchFamily="49" charset="-122"/>
                  <a:ea typeface="黑体" panose="02010609060101010101" pitchFamily="49" charset="-122"/>
                </a:defRPr>
              </a:lvl1pPr>
            </a:lstStyle>
            <a:p>
              <a:pPr lvl="0">
                <a:defRPr/>
              </a:pPr>
              <a:r>
                <a:rPr lang="en-US" altLang="zh-CN" dirty="0">
                  <a:latin typeface="华文中宋" panose="02010600040101010101" pitchFamily="2" charset="-122"/>
                  <a:ea typeface="华文中宋" panose="02010600040101010101" pitchFamily="2" charset="-122"/>
                </a:rPr>
                <a:t>proj55-</a:t>
              </a:r>
              <a:r>
                <a:rPr lang="zh-CN" altLang="en-US" b="1" dirty="0">
                  <a:solidFill>
                    <a:srgbClr val="C00000"/>
                  </a:solidFill>
                  <a:latin typeface="华文中宋" panose="02010600040101010101" pitchFamily="2" charset="-122"/>
                  <a:ea typeface="华文中宋" panose="02010600040101010101" pitchFamily="2" charset="-122"/>
                </a:rPr>
                <a:t>源代码级内核调试器</a:t>
              </a:r>
              <a:endParaRPr lang="zh-CN" altLang="en-US" dirty="0"/>
            </a:p>
          </p:txBody>
        </p:sp>
        <p:sp>
          <p:nvSpPr>
            <p:cNvPr id="266" name="矩形: 圆角 22"/>
            <p:cNvSpPr/>
            <p:nvPr/>
          </p:nvSpPr>
          <p:spPr>
            <a:xfrm>
              <a:off x="3485618" y="1774737"/>
              <a:ext cx="12406869" cy="578843"/>
            </a:xfrm>
            <a:prstGeom prst="roundRect">
              <a:avLst>
                <a:gd name="adj" fmla="val 6500"/>
              </a:avLst>
            </a:prstGeom>
            <a:gradFill flip="none" rotWithShape="1">
              <a:gsLst>
                <a:gs pos="50000">
                  <a:sysClr val="window" lastClr="FFFFFF"/>
                </a:gs>
                <a:gs pos="0">
                  <a:sysClr val="window" lastClr="FFFFFF">
                    <a:alpha val="0"/>
                  </a:sysClr>
                </a:gs>
                <a:gs pos="100000">
                  <a:sysClr val="window" lastClr="FFFFFF">
                    <a:alpha val="0"/>
                  </a:sysClr>
                </a:gs>
              </a:gsLst>
              <a:lin ang="0" scaled="1"/>
              <a:tileRect/>
            </a:gradFill>
            <a:ln w="22225" cap="rnd" cmpd="sng" algn="ctr">
              <a:noFill/>
              <a:prstDash val="solid"/>
            </a:ln>
            <a:effectLst>
              <a:outerShdw blurRad="95250" dist="66675" dir="2699998" algn="tl" rotWithShape="0">
                <a:srgbClr val="06377C">
                  <a:alpha val="30000"/>
                </a:srgbClr>
              </a:outerShdw>
            </a:effectLst>
          </p:spPr>
          <p:txBody>
            <a:bodyPr lIns="68580" tIns="34290" rIns="68580" bIns="3429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nvGrpSpPr>
            <p:cNvPr id="267" name="组合 23"/>
            <p:cNvGrpSpPr/>
            <p:nvPr/>
          </p:nvGrpSpPr>
          <p:grpSpPr>
            <a:xfrm>
              <a:off x="3222869" y="1653343"/>
              <a:ext cx="936833" cy="881701"/>
              <a:chOff x="9690892" y="4669675"/>
              <a:chExt cx="586955" cy="586955"/>
            </a:xfrm>
          </p:grpSpPr>
          <p:sp>
            <p:nvSpPr>
              <p:cNvPr id="268" name="椭圆 26"/>
              <p:cNvSpPr/>
              <p:nvPr/>
            </p:nvSpPr>
            <p:spPr>
              <a:xfrm>
                <a:off x="9690892" y="4669675"/>
                <a:ext cx="586955" cy="586955"/>
              </a:xfrm>
              <a:prstGeom prst="ellipse">
                <a:avLst/>
              </a:prstGeom>
              <a:solidFill>
                <a:sysClr val="window" lastClr="FFFFFF"/>
              </a:soli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269" name="椭圆 27"/>
              <p:cNvSpPr/>
              <p:nvPr/>
            </p:nvSpPr>
            <p:spPr>
              <a:xfrm>
                <a:off x="9738888" y="4717673"/>
                <a:ext cx="490960" cy="490958"/>
              </a:xfrm>
              <a:prstGeom prst="ellipse">
                <a:avLst/>
              </a:prstGeom>
              <a:gradFill flip="none" rotWithShape="1">
                <a:gsLst>
                  <a:gs pos="0">
                    <a:srgbClr val="052C62"/>
                  </a:gs>
                  <a:gs pos="100000">
                    <a:srgbClr val="06377C"/>
                  </a:gs>
                </a:gsLst>
                <a:lin ang="16200000" scaled="1"/>
                <a:tileRect/>
              </a:gra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sp>
          <p:nvSpPr>
            <p:cNvPr id="270" name="文本框 24"/>
            <p:cNvSpPr txBox="1"/>
            <p:nvPr/>
          </p:nvSpPr>
          <p:spPr>
            <a:xfrm>
              <a:off x="4375296" y="1784978"/>
              <a:ext cx="714870" cy="535663"/>
            </a:xfrm>
            <a:prstGeom prst="rect">
              <a:avLst/>
            </a:prstGeom>
            <a:noFill/>
          </p:spPr>
          <p:txBody>
            <a:bodyPr wrap="none" lIns="0" tIns="0" rIns="0" bIns="0" rtlCol="0">
              <a:spAutoFit/>
            </a:bodyPr>
            <a:lstStyle/>
            <a:p>
              <a:pPr>
                <a:lnSpc>
                  <a:spcPct val="140000"/>
                </a:lnSpc>
                <a:spcAft>
                  <a:spcPts val="400"/>
                </a:spcAft>
              </a:pPr>
              <a:r>
                <a:rPr lang="zh-CN" altLang="en-US" sz="2000" b="1" dirty="0">
                  <a:gradFill>
                    <a:gsLst>
                      <a:gs pos="0">
                        <a:srgbClr val="06377C">
                          <a:alpha val="100000"/>
                        </a:srgbClr>
                      </a:gs>
                      <a:gs pos="100000">
                        <a:srgbClr val="355A9A">
                          <a:alpha val="100000"/>
                        </a:srgbClr>
                      </a:gs>
                    </a:gsLst>
                    <a:lin ang="5400000" scaled="1"/>
                  </a:gradFill>
                  <a:latin typeface="思源宋体 CN Heavy"/>
                  <a:ea typeface="思源宋体 CN Heavy"/>
                </a:rPr>
                <a:t>赛题</a:t>
              </a:r>
              <a:endParaRPr/>
            </a:p>
          </p:txBody>
        </p:sp>
        <p:sp>
          <p:nvSpPr>
            <p:cNvPr id="271" name="任意多边形: 形状 25"/>
            <p:cNvSpPr/>
            <p:nvPr/>
          </p:nvSpPr>
          <p:spPr>
            <a:xfrm>
              <a:off x="3485616" y="1834374"/>
              <a:ext cx="418955" cy="475669"/>
            </a:xfrm>
            <a:custGeom>
              <a:avLst/>
              <a:gdLst>
                <a:gd name="connsiteX0" fmla="*/ 212794 w 1626931"/>
                <a:gd name="connsiteY0" fmla="*/ 887145 h 1628823"/>
                <a:gd name="connsiteX1" fmla="*/ 336134 w 1626931"/>
                <a:gd name="connsiteY1" fmla="*/ 887145 h 1628823"/>
                <a:gd name="connsiteX2" fmla="*/ 387354 w 1626931"/>
                <a:gd name="connsiteY2" fmla="*/ 938366 h 1628823"/>
                <a:gd name="connsiteX3" fmla="*/ 336134 w 1626931"/>
                <a:gd name="connsiteY3" fmla="*/ 989587 h 1628823"/>
                <a:gd name="connsiteX4" fmla="*/ 212999 w 1626931"/>
                <a:gd name="connsiteY4" fmla="*/ 989587 h 1628823"/>
                <a:gd name="connsiteX5" fmla="*/ 184520 w 1626931"/>
                <a:gd name="connsiteY5" fmla="*/ 1013968 h 1628823"/>
                <a:gd name="connsiteX6" fmla="*/ 102771 w 1626931"/>
                <a:gd name="connsiteY6" fmla="*/ 1524128 h 1628823"/>
                <a:gd name="connsiteX7" fmla="*/ 103181 w 1626931"/>
                <a:gd name="connsiteY7" fmla="*/ 1525767 h 1628823"/>
                <a:gd name="connsiteX8" fmla="*/ 104615 w 1626931"/>
                <a:gd name="connsiteY8" fmla="*/ 1526382 h 1628823"/>
                <a:gd name="connsiteX9" fmla="*/ 1522614 w 1626931"/>
                <a:gd name="connsiteY9" fmla="*/ 1526382 h 1628823"/>
                <a:gd name="connsiteX10" fmla="*/ 1524048 w 1626931"/>
                <a:gd name="connsiteY10" fmla="*/ 1525767 h 1628823"/>
                <a:gd name="connsiteX11" fmla="*/ 1524458 w 1626931"/>
                <a:gd name="connsiteY11" fmla="*/ 1524128 h 1628823"/>
                <a:gd name="connsiteX12" fmla="*/ 1442709 w 1626931"/>
                <a:gd name="connsiteY12" fmla="*/ 1013968 h 1628823"/>
                <a:gd name="connsiteX13" fmla="*/ 1414231 w 1626931"/>
                <a:gd name="connsiteY13" fmla="*/ 989587 h 1628823"/>
                <a:gd name="connsiteX14" fmla="*/ 1290891 w 1626931"/>
                <a:gd name="connsiteY14" fmla="*/ 989587 h 1628823"/>
                <a:gd name="connsiteX15" fmla="*/ 1239670 w 1626931"/>
                <a:gd name="connsiteY15" fmla="*/ 938366 h 1628823"/>
                <a:gd name="connsiteX16" fmla="*/ 1290891 w 1626931"/>
                <a:gd name="connsiteY16" fmla="*/ 887145 h 1628823"/>
                <a:gd name="connsiteX17" fmla="*/ 1414231 w 1626931"/>
                <a:gd name="connsiteY17" fmla="*/ 887145 h 1628823"/>
                <a:gd name="connsiteX18" fmla="*/ 1543922 w 1626931"/>
                <a:gd name="connsiteY18" fmla="*/ 997782 h 1628823"/>
                <a:gd name="connsiteX19" fmla="*/ 1625670 w 1626931"/>
                <a:gd name="connsiteY19" fmla="*/ 1507942 h 1628823"/>
                <a:gd name="connsiteX20" fmla="*/ 1601699 w 1626931"/>
                <a:gd name="connsiteY20" fmla="*/ 1592149 h 1628823"/>
                <a:gd name="connsiteX21" fmla="*/ 1522204 w 1626931"/>
                <a:gd name="connsiteY21" fmla="*/ 1628823 h 1628823"/>
                <a:gd name="connsiteX22" fmla="*/ 104410 w 1626931"/>
                <a:gd name="connsiteY22" fmla="*/ 1628823 h 1628823"/>
                <a:gd name="connsiteX23" fmla="*/ 24916 w 1626931"/>
                <a:gd name="connsiteY23" fmla="*/ 1592149 h 1628823"/>
                <a:gd name="connsiteX24" fmla="*/ 1354 w 1626931"/>
                <a:gd name="connsiteY24" fmla="*/ 1507942 h 1628823"/>
                <a:gd name="connsiteX25" fmla="*/ 83102 w 1626931"/>
                <a:gd name="connsiteY25" fmla="*/ 997782 h 1628823"/>
                <a:gd name="connsiteX26" fmla="*/ 212794 w 1626931"/>
                <a:gd name="connsiteY26" fmla="*/ 887145 h 1628823"/>
                <a:gd name="connsiteX27" fmla="*/ 813512 w 1626931"/>
                <a:gd name="connsiteY27" fmla="*/ 411816 h 1628823"/>
                <a:gd name="connsiteX28" fmla="*/ 701851 w 1626931"/>
                <a:gd name="connsiteY28" fmla="*/ 523477 h 1628823"/>
                <a:gd name="connsiteX29" fmla="*/ 813512 w 1626931"/>
                <a:gd name="connsiteY29" fmla="*/ 635139 h 1628823"/>
                <a:gd name="connsiteX30" fmla="*/ 925174 w 1626931"/>
                <a:gd name="connsiteY30" fmla="*/ 523477 h 1628823"/>
                <a:gd name="connsiteX31" fmla="*/ 813512 w 1626931"/>
                <a:gd name="connsiteY31" fmla="*/ 411816 h 1628823"/>
                <a:gd name="connsiteX32" fmla="*/ 813512 w 1626931"/>
                <a:gd name="connsiteY32" fmla="*/ 309374 h 1628823"/>
                <a:gd name="connsiteX33" fmla="*/ 1027616 w 1626931"/>
                <a:gd name="connsiteY33" fmla="*/ 523477 h 1628823"/>
                <a:gd name="connsiteX34" fmla="*/ 813512 w 1626931"/>
                <a:gd name="connsiteY34" fmla="*/ 737581 h 1628823"/>
                <a:gd name="connsiteX35" fmla="*/ 599409 w 1626931"/>
                <a:gd name="connsiteY35" fmla="*/ 523477 h 1628823"/>
                <a:gd name="connsiteX36" fmla="*/ 813512 w 1626931"/>
                <a:gd name="connsiteY36" fmla="*/ 309374 h 1628823"/>
                <a:gd name="connsiteX37" fmla="*/ 813512 w 1626931"/>
                <a:gd name="connsiteY37" fmla="*/ 102442 h 1628823"/>
                <a:gd name="connsiteX38" fmla="*/ 416038 w 1626931"/>
                <a:gd name="connsiteY38" fmla="*/ 499916 h 1628823"/>
                <a:gd name="connsiteX39" fmla="*/ 464185 w 1626931"/>
                <a:gd name="connsiteY39" fmla="*/ 701726 h 1628823"/>
                <a:gd name="connsiteX40" fmla="*/ 583428 w 1626931"/>
                <a:gd name="connsiteY40" fmla="*/ 940825 h 1628823"/>
                <a:gd name="connsiteX41" fmla="*/ 724387 w 1626931"/>
                <a:gd name="connsiteY41" fmla="*/ 1136284 h 1628823"/>
                <a:gd name="connsiteX42" fmla="*/ 813512 w 1626931"/>
                <a:gd name="connsiteY42" fmla="*/ 1209018 h 1628823"/>
                <a:gd name="connsiteX43" fmla="*/ 902636 w 1626931"/>
                <a:gd name="connsiteY43" fmla="*/ 1136284 h 1628823"/>
                <a:gd name="connsiteX44" fmla="*/ 1043596 w 1626931"/>
                <a:gd name="connsiteY44" fmla="*/ 940825 h 1628823"/>
                <a:gd name="connsiteX45" fmla="*/ 1162838 w 1626931"/>
                <a:gd name="connsiteY45" fmla="*/ 701726 h 1628823"/>
                <a:gd name="connsiteX46" fmla="*/ 1210986 w 1626931"/>
                <a:gd name="connsiteY46" fmla="*/ 499916 h 1628823"/>
                <a:gd name="connsiteX47" fmla="*/ 813512 w 1626931"/>
                <a:gd name="connsiteY47" fmla="*/ 102442 h 1628823"/>
                <a:gd name="connsiteX48" fmla="*/ 813307 w 1626931"/>
                <a:gd name="connsiteY48" fmla="*/ 0 h 1628823"/>
                <a:gd name="connsiteX49" fmla="*/ 1166731 w 1626931"/>
                <a:gd name="connsiteY49" fmla="*/ 146492 h 1628823"/>
                <a:gd name="connsiteX50" fmla="*/ 1313223 w 1626931"/>
                <a:gd name="connsiteY50" fmla="*/ 499916 h 1628823"/>
                <a:gd name="connsiteX51" fmla="*/ 1127598 w 1626931"/>
                <a:gd name="connsiteY51" fmla="*/ 999627 h 1628823"/>
                <a:gd name="connsiteX52" fmla="*/ 973116 w 1626931"/>
                <a:gd name="connsiteY52" fmla="*/ 1210862 h 1628823"/>
                <a:gd name="connsiteX53" fmla="*/ 813512 w 1626931"/>
                <a:gd name="connsiteY53" fmla="*/ 1311254 h 1628823"/>
                <a:gd name="connsiteX54" fmla="*/ 653908 w 1626931"/>
                <a:gd name="connsiteY54" fmla="*/ 1210862 h 1628823"/>
                <a:gd name="connsiteX55" fmla="*/ 499220 w 1626931"/>
                <a:gd name="connsiteY55" fmla="*/ 999627 h 1628823"/>
                <a:gd name="connsiteX56" fmla="*/ 313596 w 1626931"/>
                <a:gd name="connsiteY56" fmla="*/ 499916 h 1628823"/>
                <a:gd name="connsiteX57" fmla="*/ 460088 w 1626931"/>
                <a:gd name="connsiteY57" fmla="*/ 146492 h 1628823"/>
                <a:gd name="connsiteX58" fmla="*/ 813307 w 1626931"/>
                <a:gd name="connsiteY58" fmla="*/ 0 h 162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26931" h="1628823">
                  <a:moveTo>
                    <a:pt x="212794" y="887145"/>
                  </a:moveTo>
                  <a:lnTo>
                    <a:pt x="336134" y="887145"/>
                  </a:lnTo>
                  <a:cubicBezTo>
                    <a:pt x="364407" y="887145"/>
                    <a:pt x="387354" y="910092"/>
                    <a:pt x="387354" y="938366"/>
                  </a:cubicBezTo>
                  <a:cubicBezTo>
                    <a:pt x="387354" y="966640"/>
                    <a:pt x="364407" y="989587"/>
                    <a:pt x="336134" y="989587"/>
                  </a:cubicBezTo>
                  <a:lnTo>
                    <a:pt x="212999" y="989587"/>
                  </a:lnTo>
                  <a:cubicBezTo>
                    <a:pt x="198862" y="989587"/>
                    <a:pt x="186774" y="999831"/>
                    <a:pt x="184520" y="1013968"/>
                  </a:cubicBezTo>
                  <a:lnTo>
                    <a:pt x="102771" y="1524128"/>
                  </a:lnTo>
                  <a:cubicBezTo>
                    <a:pt x="102771" y="1524538"/>
                    <a:pt x="102566" y="1525152"/>
                    <a:pt x="103181" y="1525767"/>
                  </a:cubicBezTo>
                  <a:cubicBezTo>
                    <a:pt x="103591" y="1526382"/>
                    <a:pt x="104205" y="1526382"/>
                    <a:pt x="104615" y="1526382"/>
                  </a:cubicBezTo>
                  <a:lnTo>
                    <a:pt x="1522614" y="1526382"/>
                  </a:lnTo>
                  <a:cubicBezTo>
                    <a:pt x="1522819" y="1526382"/>
                    <a:pt x="1523433" y="1526382"/>
                    <a:pt x="1524048" y="1525767"/>
                  </a:cubicBezTo>
                  <a:cubicBezTo>
                    <a:pt x="1524663" y="1524947"/>
                    <a:pt x="1524458" y="1524538"/>
                    <a:pt x="1524458" y="1524128"/>
                  </a:cubicBezTo>
                  <a:lnTo>
                    <a:pt x="1442709" y="1013968"/>
                  </a:lnTo>
                  <a:cubicBezTo>
                    <a:pt x="1440456" y="999831"/>
                    <a:pt x="1428572" y="989587"/>
                    <a:pt x="1414231" y="989587"/>
                  </a:cubicBezTo>
                  <a:lnTo>
                    <a:pt x="1290891" y="989587"/>
                  </a:lnTo>
                  <a:cubicBezTo>
                    <a:pt x="1262617" y="989587"/>
                    <a:pt x="1239670" y="966640"/>
                    <a:pt x="1239670" y="938366"/>
                  </a:cubicBezTo>
                  <a:cubicBezTo>
                    <a:pt x="1239670" y="910092"/>
                    <a:pt x="1262617" y="887145"/>
                    <a:pt x="1290891" y="887145"/>
                  </a:cubicBezTo>
                  <a:lnTo>
                    <a:pt x="1414231" y="887145"/>
                  </a:lnTo>
                  <a:cubicBezTo>
                    <a:pt x="1479179" y="887145"/>
                    <a:pt x="1533678" y="933654"/>
                    <a:pt x="1543922" y="997782"/>
                  </a:cubicBezTo>
                  <a:lnTo>
                    <a:pt x="1625670" y="1507942"/>
                  </a:lnTo>
                  <a:cubicBezTo>
                    <a:pt x="1630383" y="1538060"/>
                    <a:pt x="1621778" y="1568792"/>
                    <a:pt x="1601699" y="1592149"/>
                  </a:cubicBezTo>
                  <a:cubicBezTo>
                    <a:pt x="1581825" y="1615506"/>
                    <a:pt x="1552937" y="1628823"/>
                    <a:pt x="1522204" y="1628823"/>
                  </a:cubicBezTo>
                  <a:lnTo>
                    <a:pt x="104410" y="1628823"/>
                  </a:lnTo>
                  <a:cubicBezTo>
                    <a:pt x="73678" y="1628823"/>
                    <a:pt x="44789" y="1615506"/>
                    <a:pt x="24916" y="1592149"/>
                  </a:cubicBezTo>
                  <a:cubicBezTo>
                    <a:pt x="5042" y="1568997"/>
                    <a:pt x="-3563" y="1538265"/>
                    <a:pt x="1354" y="1507942"/>
                  </a:cubicBezTo>
                  <a:lnTo>
                    <a:pt x="83102" y="997782"/>
                  </a:lnTo>
                  <a:cubicBezTo>
                    <a:pt x="93347" y="933654"/>
                    <a:pt x="147846" y="887145"/>
                    <a:pt x="212794" y="887145"/>
                  </a:cubicBezTo>
                  <a:close/>
                  <a:moveTo>
                    <a:pt x="813512" y="411816"/>
                  </a:moveTo>
                  <a:cubicBezTo>
                    <a:pt x="751842" y="411816"/>
                    <a:pt x="701851" y="461807"/>
                    <a:pt x="701851" y="523477"/>
                  </a:cubicBezTo>
                  <a:cubicBezTo>
                    <a:pt x="701851" y="585147"/>
                    <a:pt x="751842" y="635139"/>
                    <a:pt x="813512" y="635139"/>
                  </a:cubicBezTo>
                  <a:cubicBezTo>
                    <a:pt x="875182" y="635139"/>
                    <a:pt x="925174" y="585147"/>
                    <a:pt x="925174" y="523477"/>
                  </a:cubicBezTo>
                  <a:cubicBezTo>
                    <a:pt x="925174" y="461807"/>
                    <a:pt x="875182" y="411816"/>
                    <a:pt x="813512" y="411816"/>
                  </a:cubicBezTo>
                  <a:close/>
                  <a:moveTo>
                    <a:pt x="813512" y="309374"/>
                  </a:moveTo>
                  <a:cubicBezTo>
                    <a:pt x="931525" y="309374"/>
                    <a:pt x="1027616" y="405464"/>
                    <a:pt x="1027616" y="523477"/>
                  </a:cubicBezTo>
                  <a:cubicBezTo>
                    <a:pt x="1027616" y="641490"/>
                    <a:pt x="931525" y="737581"/>
                    <a:pt x="813512" y="737581"/>
                  </a:cubicBezTo>
                  <a:cubicBezTo>
                    <a:pt x="695499" y="737581"/>
                    <a:pt x="599409" y="641490"/>
                    <a:pt x="599409" y="523477"/>
                  </a:cubicBezTo>
                  <a:cubicBezTo>
                    <a:pt x="599409" y="405464"/>
                    <a:pt x="695499" y="309374"/>
                    <a:pt x="813512" y="309374"/>
                  </a:cubicBezTo>
                  <a:close/>
                  <a:moveTo>
                    <a:pt x="813512" y="102442"/>
                  </a:moveTo>
                  <a:cubicBezTo>
                    <a:pt x="594286" y="102442"/>
                    <a:pt x="416038" y="280690"/>
                    <a:pt x="416038" y="499916"/>
                  </a:cubicBezTo>
                  <a:cubicBezTo>
                    <a:pt x="416038" y="550727"/>
                    <a:pt x="432633" y="620592"/>
                    <a:pt x="464185" y="701726"/>
                  </a:cubicBezTo>
                  <a:cubicBezTo>
                    <a:pt x="493893" y="777943"/>
                    <a:pt x="535075" y="860716"/>
                    <a:pt x="583428" y="940825"/>
                  </a:cubicBezTo>
                  <a:cubicBezTo>
                    <a:pt x="629526" y="1017247"/>
                    <a:pt x="679723" y="1086702"/>
                    <a:pt x="724387" y="1136284"/>
                  </a:cubicBezTo>
                  <a:cubicBezTo>
                    <a:pt x="783189" y="1201437"/>
                    <a:pt x="810234" y="1208403"/>
                    <a:pt x="813512" y="1209018"/>
                  </a:cubicBezTo>
                  <a:cubicBezTo>
                    <a:pt x="816790" y="1208403"/>
                    <a:pt x="843834" y="1201437"/>
                    <a:pt x="902636" y="1136284"/>
                  </a:cubicBezTo>
                  <a:cubicBezTo>
                    <a:pt x="947506" y="1086702"/>
                    <a:pt x="997497" y="1017247"/>
                    <a:pt x="1043596" y="940825"/>
                  </a:cubicBezTo>
                  <a:cubicBezTo>
                    <a:pt x="1091948" y="860511"/>
                    <a:pt x="1133130" y="777943"/>
                    <a:pt x="1162838" y="701726"/>
                  </a:cubicBezTo>
                  <a:cubicBezTo>
                    <a:pt x="1194390" y="620592"/>
                    <a:pt x="1210986" y="550727"/>
                    <a:pt x="1210986" y="499916"/>
                  </a:cubicBezTo>
                  <a:cubicBezTo>
                    <a:pt x="1210986" y="280690"/>
                    <a:pt x="1032737" y="102442"/>
                    <a:pt x="813512" y="102442"/>
                  </a:cubicBezTo>
                  <a:close/>
                  <a:moveTo>
                    <a:pt x="813307" y="0"/>
                  </a:moveTo>
                  <a:cubicBezTo>
                    <a:pt x="946686" y="0"/>
                    <a:pt x="1072280" y="52040"/>
                    <a:pt x="1166731" y="146492"/>
                  </a:cubicBezTo>
                  <a:cubicBezTo>
                    <a:pt x="1261182" y="240943"/>
                    <a:pt x="1313223" y="366332"/>
                    <a:pt x="1313223" y="499916"/>
                  </a:cubicBezTo>
                  <a:cubicBezTo>
                    <a:pt x="1313223" y="680418"/>
                    <a:pt x="1171238" y="928122"/>
                    <a:pt x="1127598" y="999627"/>
                  </a:cubicBezTo>
                  <a:cubicBezTo>
                    <a:pt x="1077402" y="1082400"/>
                    <a:pt x="1022493" y="1157387"/>
                    <a:pt x="973116" y="1210862"/>
                  </a:cubicBezTo>
                  <a:cubicBezTo>
                    <a:pt x="910012" y="1279293"/>
                    <a:pt x="859201" y="1311254"/>
                    <a:pt x="813512" y="1311254"/>
                  </a:cubicBezTo>
                  <a:cubicBezTo>
                    <a:pt x="767823" y="1311254"/>
                    <a:pt x="717012" y="1279293"/>
                    <a:pt x="653908" y="1210862"/>
                  </a:cubicBezTo>
                  <a:cubicBezTo>
                    <a:pt x="604531" y="1157387"/>
                    <a:pt x="549622" y="1082195"/>
                    <a:pt x="499220" y="999627"/>
                  </a:cubicBezTo>
                  <a:cubicBezTo>
                    <a:pt x="455785" y="927917"/>
                    <a:pt x="313596" y="680418"/>
                    <a:pt x="313596" y="499916"/>
                  </a:cubicBezTo>
                  <a:cubicBezTo>
                    <a:pt x="313596" y="366332"/>
                    <a:pt x="365636" y="240943"/>
                    <a:pt x="460088" y="146492"/>
                  </a:cubicBezTo>
                  <a:cubicBezTo>
                    <a:pt x="554539" y="52040"/>
                    <a:pt x="679928" y="0"/>
                    <a:pt x="813307" y="0"/>
                  </a:cubicBezTo>
                  <a:close/>
                </a:path>
              </a:pathLst>
            </a:custGeom>
            <a:solidFill>
              <a:sysClr val="window" lastClr="FFFFFF"/>
            </a:solidFill>
            <a:ln w="204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pSp>
      <p:grpSp>
        <p:nvGrpSpPr>
          <p:cNvPr id="272" name="组合 20"/>
          <p:cNvGrpSpPr/>
          <p:nvPr/>
        </p:nvGrpSpPr>
        <p:grpSpPr>
          <a:xfrm>
            <a:off x="569969" y="2656763"/>
            <a:ext cx="9091190" cy="3930743"/>
            <a:chOff x="3222868" y="1653343"/>
            <a:chExt cx="12669618" cy="5476587"/>
          </a:xfrm>
        </p:grpSpPr>
        <p:sp>
          <p:nvSpPr>
            <p:cNvPr id="273" name="文本框 21"/>
            <p:cNvSpPr txBox="1"/>
            <p:nvPr/>
          </p:nvSpPr>
          <p:spPr>
            <a:xfrm>
              <a:off x="3904571" y="2723989"/>
              <a:ext cx="5752145" cy="4405942"/>
            </a:xfrm>
            <a:prstGeom prst="rect">
              <a:avLst/>
            </a:prstGeom>
            <a:noFill/>
          </p:spPr>
          <p:txBody>
            <a:bodyPr wrap="square">
              <a:spAutoFit/>
            </a:bodyPr>
            <a:lstStyle>
              <a:defPPr>
                <a:defRPr lang="zh-CN"/>
              </a:defPPr>
              <a:lvl1pPr>
                <a:defRPr>
                  <a:latin typeface="黑体" panose="02010609060101010101" pitchFamily="49" charset="-122"/>
                  <a:ea typeface="黑体" panose="02010609060101010101" pitchFamily="49" charset="-122"/>
                </a:defRPr>
              </a:lvl1pPr>
            </a:lstStyle>
            <a:p>
              <a:pPr marL="285750" indent="-285750">
                <a:lnSpc>
                  <a:spcPct val="150000"/>
                </a:lnSpc>
                <a:spcAft>
                  <a:spcPts val="400"/>
                </a:spcAft>
                <a:buFont typeface="Wingdings" panose="05000000000000000000" pitchFamily="2" charset="2"/>
                <a:buChar char="Ø"/>
              </a:pPr>
              <a:r>
                <a:rPr lang="zh-CN">
                  <a:solidFill>
                    <a:srgbClr val="2C2C2C">
                      <a:alpha val="100000"/>
                    </a:srgbClr>
                  </a:solidFill>
                  <a:latin typeface="华文中宋"/>
                  <a:ea typeface="华文中宋"/>
                  <a:cs typeface="+mn-cs"/>
                </a:rPr>
                <a:t>操作系统调试涉及内核态与用户态之间的</a:t>
              </a:r>
              <a:r>
                <a:rPr lang="zh-CN" sz="2000" b="1">
                  <a:solidFill>
                    <a:srgbClr val="C00000">
                      <a:alpha val="100000"/>
                    </a:srgbClr>
                  </a:solidFill>
                  <a:latin typeface="华文中宋"/>
                  <a:ea typeface="华文中宋"/>
                  <a:cs typeface="+mn-cs"/>
                </a:rPr>
                <a:t>特权级切换</a:t>
              </a:r>
              <a:r>
                <a:rPr lang="zh-CN">
                  <a:solidFill>
                    <a:srgbClr val="2C2C2C">
                      <a:alpha val="100000"/>
                    </a:srgbClr>
                  </a:solidFill>
                  <a:latin typeface="华文中宋"/>
                  <a:ea typeface="华文中宋"/>
                  <a:cs typeface="+mn-cs"/>
                </a:rPr>
                <a:t>，调试时</a:t>
              </a:r>
              <a:r>
                <a:rPr lang="zh-CN" b="1">
                  <a:solidFill>
                    <a:srgbClr val="C00000">
                      <a:alpha val="100000"/>
                    </a:srgbClr>
                  </a:solidFill>
                  <a:latin typeface="华文中宋"/>
                  <a:ea typeface="华文中宋"/>
                  <a:cs typeface="+mn-cs"/>
                </a:rPr>
                <a:t>需手动切换符号表与断点组</a:t>
              </a:r>
              <a:r>
                <a:rPr lang="zh-CN">
                  <a:solidFill>
                    <a:srgbClr val="2C2C2C">
                      <a:alpha val="100000"/>
                    </a:srgbClr>
                  </a:solidFill>
                  <a:latin typeface="华文中宋"/>
                  <a:ea typeface="华文中宋"/>
                  <a:cs typeface="+mn-cs"/>
                </a:rPr>
                <a:t>。</a:t>
              </a:r>
              <a:endParaRPr/>
            </a:p>
            <a:p>
              <a:pPr marL="285750" indent="-285750">
                <a:lnSpc>
                  <a:spcPct val="150000"/>
                </a:lnSpc>
                <a:spcAft>
                  <a:spcPts val="400"/>
                </a:spcAft>
                <a:buFont typeface="Wingdings" panose="05000000000000000000" pitchFamily="2" charset="2"/>
                <a:buChar char="Ø"/>
              </a:pPr>
              <a:r>
                <a:rPr lang="zh-CN" b="0">
                  <a:solidFill>
                    <a:schemeClr val="tx1">
                      <a:alpha val="100000"/>
                    </a:schemeClr>
                  </a:solidFill>
                  <a:latin typeface="华文中宋"/>
                  <a:ea typeface="华文中宋"/>
                  <a:cs typeface="+mn-cs"/>
                </a:rPr>
                <a:t>在</a:t>
              </a:r>
              <a:r>
                <a:rPr lang="en-US" b="1">
                  <a:solidFill>
                    <a:srgbClr val="C00000">
                      <a:alpha val="100000"/>
                    </a:srgbClr>
                  </a:solidFill>
                  <a:latin typeface="华文中宋"/>
                  <a:ea typeface="华文中宋"/>
                  <a:cs typeface="+mn-cs"/>
                </a:rPr>
                <a:t>Rust</a:t>
              </a:r>
              <a:r>
                <a:rPr lang="zh-CN" b="1">
                  <a:solidFill>
                    <a:srgbClr val="C00000">
                      <a:alpha val="100000"/>
                    </a:srgbClr>
                  </a:solidFill>
                  <a:latin typeface="华文中宋"/>
                  <a:ea typeface="华文中宋"/>
                  <a:cs typeface="+mn-cs"/>
                </a:rPr>
                <a:t>异步程序的调试场景</a:t>
              </a:r>
              <a:r>
                <a:rPr lang="zh-CN" b="0">
                  <a:solidFill>
                    <a:schemeClr val="tx1">
                      <a:alpha val="100000"/>
                    </a:schemeClr>
                  </a:solidFill>
                  <a:latin typeface="华文中宋"/>
                  <a:ea typeface="华文中宋"/>
                  <a:cs typeface="+mn-cs"/>
                </a:rPr>
                <a:t>中</a:t>
              </a:r>
              <a:r>
                <a:rPr lang="zh-CN">
                  <a:solidFill>
                    <a:srgbClr val="2C2C2C">
                      <a:alpha val="100000"/>
                    </a:srgbClr>
                  </a:solidFill>
                  <a:latin typeface="华文中宋"/>
                  <a:ea typeface="华文中宋"/>
                  <a:cs typeface="+mn-cs"/>
                </a:rPr>
                <a:t>，调试器的调用栈中</a:t>
              </a:r>
              <a:r>
                <a:rPr lang="zh-CN" b="1">
                  <a:solidFill>
                    <a:srgbClr val="C00000">
                      <a:alpha val="100000"/>
                    </a:srgbClr>
                  </a:solidFill>
                  <a:latin typeface="华文中宋"/>
                  <a:ea typeface="华文中宋"/>
                  <a:cs typeface="+mn-cs"/>
                </a:rPr>
                <a:t>多协程执行流混合</a:t>
              </a:r>
              <a:r>
                <a:rPr lang="zh-CN">
                  <a:solidFill>
                    <a:srgbClr val="2C2C2C">
                      <a:alpha val="100000"/>
                    </a:srgbClr>
                  </a:solidFill>
                  <a:latin typeface="华文中宋"/>
                  <a:ea typeface="华文中宋"/>
                  <a:cs typeface="+mn-cs"/>
                </a:rPr>
                <a:t>，无法识别各异步协程的</a:t>
              </a:r>
              <a:r>
                <a:rPr lang="zh-CN" sz="2000" b="1">
                  <a:solidFill>
                    <a:srgbClr val="C00000">
                      <a:alpha val="100000"/>
                    </a:srgbClr>
                  </a:solidFill>
                  <a:latin typeface="华文中宋"/>
                  <a:ea typeface="华文中宋"/>
                  <a:cs typeface="+mn-cs"/>
                </a:rPr>
                <a:t>独立调用链与等待关系</a:t>
              </a:r>
              <a:r>
                <a:rPr lang="zh-CN">
                  <a:solidFill>
                    <a:srgbClr val="2C2C2C">
                      <a:alpha val="100000"/>
                    </a:srgbClr>
                  </a:solidFill>
                  <a:latin typeface="华文中宋"/>
                  <a:ea typeface="华文中宋"/>
                  <a:cs typeface="+mn-cs"/>
                </a:rPr>
                <a:t>。</a:t>
              </a:r>
              <a:endParaRPr/>
            </a:p>
          </p:txBody>
        </p:sp>
        <p:sp>
          <p:nvSpPr>
            <p:cNvPr id="274" name="矩形: 圆角 22"/>
            <p:cNvSpPr/>
            <p:nvPr/>
          </p:nvSpPr>
          <p:spPr>
            <a:xfrm>
              <a:off x="3485618" y="1774737"/>
              <a:ext cx="12406869" cy="578843"/>
            </a:xfrm>
            <a:prstGeom prst="roundRect">
              <a:avLst>
                <a:gd name="adj" fmla="val 6500"/>
              </a:avLst>
            </a:prstGeom>
            <a:gradFill flip="none" rotWithShape="1">
              <a:gsLst>
                <a:gs pos="50000">
                  <a:sysClr val="window" lastClr="FFFFFF"/>
                </a:gs>
                <a:gs pos="0">
                  <a:sysClr val="window" lastClr="FFFFFF">
                    <a:alpha val="0"/>
                  </a:sysClr>
                </a:gs>
                <a:gs pos="100000">
                  <a:sysClr val="window" lastClr="FFFFFF">
                    <a:alpha val="0"/>
                  </a:sysClr>
                </a:gs>
              </a:gsLst>
              <a:lin ang="0" scaled="1"/>
              <a:tileRect/>
            </a:gradFill>
            <a:ln w="22225" cap="rnd" cmpd="sng" algn="ctr">
              <a:noFill/>
              <a:prstDash val="solid"/>
            </a:ln>
            <a:effectLst>
              <a:outerShdw blurRad="95250" dist="66675" dir="2699998" algn="tl" rotWithShape="0">
                <a:srgbClr val="06377C">
                  <a:alpha val="30000"/>
                </a:srgbClr>
              </a:outerShdw>
            </a:effectLst>
          </p:spPr>
          <p:txBody>
            <a:bodyPr lIns="68580" tIns="34290" rIns="68580" bIns="3429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nvGrpSpPr>
            <p:cNvPr id="275" name="组合 23"/>
            <p:cNvGrpSpPr/>
            <p:nvPr/>
          </p:nvGrpSpPr>
          <p:grpSpPr>
            <a:xfrm>
              <a:off x="3222869" y="1653343"/>
              <a:ext cx="936833" cy="881701"/>
              <a:chOff x="9690892" y="4669675"/>
              <a:chExt cx="586955" cy="586955"/>
            </a:xfrm>
          </p:grpSpPr>
          <p:sp>
            <p:nvSpPr>
              <p:cNvPr id="276" name="椭圆 26"/>
              <p:cNvSpPr/>
              <p:nvPr/>
            </p:nvSpPr>
            <p:spPr>
              <a:xfrm>
                <a:off x="9690892" y="4669675"/>
                <a:ext cx="586955" cy="586955"/>
              </a:xfrm>
              <a:prstGeom prst="ellipse">
                <a:avLst/>
              </a:prstGeom>
              <a:solidFill>
                <a:sysClr val="window" lastClr="FFFFFF"/>
              </a:soli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277" name="椭圆 27"/>
              <p:cNvSpPr/>
              <p:nvPr/>
            </p:nvSpPr>
            <p:spPr>
              <a:xfrm>
                <a:off x="9738888" y="4717673"/>
                <a:ext cx="490960" cy="490958"/>
              </a:xfrm>
              <a:prstGeom prst="ellipse">
                <a:avLst/>
              </a:prstGeom>
              <a:gradFill flip="none" rotWithShape="1">
                <a:gsLst>
                  <a:gs pos="0">
                    <a:srgbClr val="052C62"/>
                  </a:gs>
                  <a:gs pos="100000">
                    <a:srgbClr val="06377C"/>
                  </a:gs>
                </a:gsLst>
                <a:lin ang="16200000" scaled="1"/>
                <a:tileRect/>
              </a:gra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sp>
          <p:nvSpPr>
            <p:cNvPr id="278" name="文本框 24"/>
            <p:cNvSpPr txBox="1"/>
            <p:nvPr/>
          </p:nvSpPr>
          <p:spPr>
            <a:xfrm>
              <a:off x="4375296" y="1784978"/>
              <a:ext cx="1415912" cy="601614"/>
            </a:xfrm>
            <a:prstGeom prst="rect">
              <a:avLst/>
            </a:prstGeom>
            <a:noFill/>
          </p:spPr>
          <p:txBody>
            <a:bodyPr wrap="none" lIns="0" tIns="0" rIns="0" bIns="0" rtlCol="0">
              <a:spAutoFit/>
            </a:bodyPr>
            <a:lstStyle/>
            <a:p>
              <a:pPr>
                <a:lnSpc>
                  <a:spcPct val="140000"/>
                </a:lnSpc>
                <a:spcAft>
                  <a:spcPts val="400"/>
                </a:spcAft>
              </a:pPr>
              <a:r>
                <a:rPr lang="zh-CN" sz="2000" b="1">
                  <a:gradFill>
                    <a:gsLst>
                      <a:gs pos="0">
                        <a:srgbClr val="06377C">
                          <a:alpha val="100000"/>
                        </a:srgbClr>
                      </a:gs>
                      <a:gs pos="100000">
                        <a:srgbClr val="355A9A">
                          <a:alpha val="100000"/>
                        </a:srgbClr>
                      </a:gs>
                    </a:gsLst>
                    <a:lin ang="5400000" scaled="1"/>
                  </a:gradFill>
                  <a:latin typeface="思源宋体 CN Heavy"/>
                  <a:ea typeface="思源宋体 CN Heavy"/>
                  <a:cs typeface="+mn-cs"/>
                </a:rPr>
                <a:t>项目背景</a:t>
              </a:r>
              <a:endParaRPr/>
            </a:p>
          </p:txBody>
        </p:sp>
        <p:sp>
          <p:nvSpPr>
            <p:cNvPr id="279" name="任意多边形: 形状 25"/>
            <p:cNvSpPr/>
            <p:nvPr/>
          </p:nvSpPr>
          <p:spPr>
            <a:xfrm>
              <a:off x="3485616" y="1834374"/>
              <a:ext cx="418955" cy="475669"/>
            </a:xfrm>
            <a:custGeom>
              <a:avLst/>
              <a:gdLst>
                <a:gd name="connsiteX0" fmla="*/ 212794 w 1626931"/>
                <a:gd name="connsiteY0" fmla="*/ 887145 h 1628823"/>
                <a:gd name="connsiteX1" fmla="*/ 336134 w 1626931"/>
                <a:gd name="connsiteY1" fmla="*/ 887145 h 1628823"/>
                <a:gd name="connsiteX2" fmla="*/ 387354 w 1626931"/>
                <a:gd name="connsiteY2" fmla="*/ 938366 h 1628823"/>
                <a:gd name="connsiteX3" fmla="*/ 336134 w 1626931"/>
                <a:gd name="connsiteY3" fmla="*/ 989587 h 1628823"/>
                <a:gd name="connsiteX4" fmla="*/ 212999 w 1626931"/>
                <a:gd name="connsiteY4" fmla="*/ 989587 h 1628823"/>
                <a:gd name="connsiteX5" fmla="*/ 184520 w 1626931"/>
                <a:gd name="connsiteY5" fmla="*/ 1013968 h 1628823"/>
                <a:gd name="connsiteX6" fmla="*/ 102771 w 1626931"/>
                <a:gd name="connsiteY6" fmla="*/ 1524128 h 1628823"/>
                <a:gd name="connsiteX7" fmla="*/ 103181 w 1626931"/>
                <a:gd name="connsiteY7" fmla="*/ 1525767 h 1628823"/>
                <a:gd name="connsiteX8" fmla="*/ 104615 w 1626931"/>
                <a:gd name="connsiteY8" fmla="*/ 1526382 h 1628823"/>
                <a:gd name="connsiteX9" fmla="*/ 1522614 w 1626931"/>
                <a:gd name="connsiteY9" fmla="*/ 1526382 h 1628823"/>
                <a:gd name="connsiteX10" fmla="*/ 1524048 w 1626931"/>
                <a:gd name="connsiteY10" fmla="*/ 1525767 h 1628823"/>
                <a:gd name="connsiteX11" fmla="*/ 1524458 w 1626931"/>
                <a:gd name="connsiteY11" fmla="*/ 1524128 h 1628823"/>
                <a:gd name="connsiteX12" fmla="*/ 1442709 w 1626931"/>
                <a:gd name="connsiteY12" fmla="*/ 1013968 h 1628823"/>
                <a:gd name="connsiteX13" fmla="*/ 1414231 w 1626931"/>
                <a:gd name="connsiteY13" fmla="*/ 989587 h 1628823"/>
                <a:gd name="connsiteX14" fmla="*/ 1290891 w 1626931"/>
                <a:gd name="connsiteY14" fmla="*/ 989587 h 1628823"/>
                <a:gd name="connsiteX15" fmla="*/ 1239670 w 1626931"/>
                <a:gd name="connsiteY15" fmla="*/ 938366 h 1628823"/>
                <a:gd name="connsiteX16" fmla="*/ 1290891 w 1626931"/>
                <a:gd name="connsiteY16" fmla="*/ 887145 h 1628823"/>
                <a:gd name="connsiteX17" fmla="*/ 1414231 w 1626931"/>
                <a:gd name="connsiteY17" fmla="*/ 887145 h 1628823"/>
                <a:gd name="connsiteX18" fmla="*/ 1543922 w 1626931"/>
                <a:gd name="connsiteY18" fmla="*/ 997782 h 1628823"/>
                <a:gd name="connsiteX19" fmla="*/ 1625670 w 1626931"/>
                <a:gd name="connsiteY19" fmla="*/ 1507942 h 1628823"/>
                <a:gd name="connsiteX20" fmla="*/ 1601699 w 1626931"/>
                <a:gd name="connsiteY20" fmla="*/ 1592149 h 1628823"/>
                <a:gd name="connsiteX21" fmla="*/ 1522204 w 1626931"/>
                <a:gd name="connsiteY21" fmla="*/ 1628823 h 1628823"/>
                <a:gd name="connsiteX22" fmla="*/ 104410 w 1626931"/>
                <a:gd name="connsiteY22" fmla="*/ 1628823 h 1628823"/>
                <a:gd name="connsiteX23" fmla="*/ 24916 w 1626931"/>
                <a:gd name="connsiteY23" fmla="*/ 1592149 h 1628823"/>
                <a:gd name="connsiteX24" fmla="*/ 1354 w 1626931"/>
                <a:gd name="connsiteY24" fmla="*/ 1507942 h 1628823"/>
                <a:gd name="connsiteX25" fmla="*/ 83102 w 1626931"/>
                <a:gd name="connsiteY25" fmla="*/ 997782 h 1628823"/>
                <a:gd name="connsiteX26" fmla="*/ 212794 w 1626931"/>
                <a:gd name="connsiteY26" fmla="*/ 887145 h 1628823"/>
                <a:gd name="connsiteX27" fmla="*/ 813512 w 1626931"/>
                <a:gd name="connsiteY27" fmla="*/ 411816 h 1628823"/>
                <a:gd name="connsiteX28" fmla="*/ 701851 w 1626931"/>
                <a:gd name="connsiteY28" fmla="*/ 523477 h 1628823"/>
                <a:gd name="connsiteX29" fmla="*/ 813512 w 1626931"/>
                <a:gd name="connsiteY29" fmla="*/ 635139 h 1628823"/>
                <a:gd name="connsiteX30" fmla="*/ 925174 w 1626931"/>
                <a:gd name="connsiteY30" fmla="*/ 523477 h 1628823"/>
                <a:gd name="connsiteX31" fmla="*/ 813512 w 1626931"/>
                <a:gd name="connsiteY31" fmla="*/ 411816 h 1628823"/>
                <a:gd name="connsiteX32" fmla="*/ 813512 w 1626931"/>
                <a:gd name="connsiteY32" fmla="*/ 309374 h 1628823"/>
                <a:gd name="connsiteX33" fmla="*/ 1027616 w 1626931"/>
                <a:gd name="connsiteY33" fmla="*/ 523477 h 1628823"/>
                <a:gd name="connsiteX34" fmla="*/ 813512 w 1626931"/>
                <a:gd name="connsiteY34" fmla="*/ 737581 h 1628823"/>
                <a:gd name="connsiteX35" fmla="*/ 599409 w 1626931"/>
                <a:gd name="connsiteY35" fmla="*/ 523477 h 1628823"/>
                <a:gd name="connsiteX36" fmla="*/ 813512 w 1626931"/>
                <a:gd name="connsiteY36" fmla="*/ 309374 h 1628823"/>
                <a:gd name="connsiteX37" fmla="*/ 813512 w 1626931"/>
                <a:gd name="connsiteY37" fmla="*/ 102442 h 1628823"/>
                <a:gd name="connsiteX38" fmla="*/ 416038 w 1626931"/>
                <a:gd name="connsiteY38" fmla="*/ 499916 h 1628823"/>
                <a:gd name="connsiteX39" fmla="*/ 464185 w 1626931"/>
                <a:gd name="connsiteY39" fmla="*/ 701726 h 1628823"/>
                <a:gd name="connsiteX40" fmla="*/ 583428 w 1626931"/>
                <a:gd name="connsiteY40" fmla="*/ 940825 h 1628823"/>
                <a:gd name="connsiteX41" fmla="*/ 724387 w 1626931"/>
                <a:gd name="connsiteY41" fmla="*/ 1136284 h 1628823"/>
                <a:gd name="connsiteX42" fmla="*/ 813512 w 1626931"/>
                <a:gd name="connsiteY42" fmla="*/ 1209018 h 1628823"/>
                <a:gd name="connsiteX43" fmla="*/ 902636 w 1626931"/>
                <a:gd name="connsiteY43" fmla="*/ 1136284 h 1628823"/>
                <a:gd name="connsiteX44" fmla="*/ 1043596 w 1626931"/>
                <a:gd name="connsiteY44" fmla="*/ 940825 h 1628823"/>
                <a:gd name="connsiteX45" fmla="*/ 1162838 w 1626931"/>
                <a:gd name="connsiteY45" fmla="*/ 701726 h 1628823"/>
                <a:gd name="connsiteX46" fmla="*/ 1210986 w 1626931"/>
                <a:gd name="connsiteY46" fmla="*/ 499916 h 1628823"/>
                <a:gd name="connsiteX47" fmla="*/ 813512 w 1626931"/>
                <a:gd name="connsiteY47" fmla="*/ 102442 h 1628823"/>
                <a:gd name="connsiteX48" fmla="*/ 813307 w 1626931"/>
                <a:gd name="connsiteY48" fmla="*/ 0 h 1628823"/>
                <a:gd name="connsiteX49" fmla="*/ 1166731 w 1626931"/>
                <a:gd name="connsiteY49" fmla="*/ 146492 h 1628823"/>
                <a:gd name="connsiteX50" fmla="*/ 1313223 w 1626931"/>
                <a:gd name="connsiteY50" fmla="*/ 499916 h 1628823"/>
                <a:gd name="connsiteX51" fmla="*/ 1127598 w 1626931"/>
                <a:gd name="connsiteY51" fmla="*/ 999627 h 1628823"/>
                <a:gd name="connsiteX52" fmla="*/ 973116 w 1626931"/>
                <a:gd name="connsiteY52" fmla="*/ 1210862 h 1628823"/>
                <a:gd name="connsiteX53" fmla="*/ 813512 w 1626931"/>
                <a:gd name="connsiteY53" fmla="*/ 1311254 h 1628823"/>
                <a:gd name="connsiteX54" fmla="*/ 653908 w 1626931"/>
                <a:gd name="connsiteY54" fmla="*/ 1210862 h 1628823"/>
                <a:gd name="connsiteX55" fmla="*/ 499220 w 1626931"/>
                <a:gd name="connsiteY55" fmla="*/ 999627 h 1628823"/>
                <a:gd name="connsiteX56" fmla="*/ 313596 w 1626931"/>
                <a:gd name="connsiteY56" fmla="*/ 499916 h 1628823"/>
                <a:gd name="connsiteX57" fmla="*/ 460088 w 1626931"/>
                <a:gd name="connsiteY57" fmla="*/ 146492 h 1628823"/>
                <a:gd name="connsiteX58" fmla="*/ 813307 w 1626931"/>
                <a:gd name="connsiteY58" fmla="*/ 0 h 162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26931" h="1628823">
                  <a:moveTo>
                    <a:pt x="212794" y="887145"/>
                  </a:moveTo>
                  <a:lnTo>
                    <a:pt x="336134" y="887145"/>
                  </a:lnTo>
                  <a:cubicBezTo>
                    <a:pt x="364407" y="887145"/>
                    <a:pt x="387354" y="910092"/>
                    <a:pt x="387354" y="938366"/>
                  </a:cubicBezTo>
                  <a:cubicBezTo>
                    <a:pt x="387354" y="966640"/>
                    <a:pt x="364407" y="989587"/>
                    <a:pt x="336134" y="989587"/>
                  </a:cubicBezTo>
                  <a:lnTo>
                    <a:pt x="212999" y="989587"/>
                  </a:lnTo>
                  <a:cubicBezTo>
                    <a:pt x="198862" y="989587"/>
                    <a:pt x="186774" y="999831"/>
                    <a:pt x="184520" y="1013968"/>
                  </a:cubicBezTo>
                  <a:lnTo>
                    <a:pt x="102771" y="1524128"/>
                  </a:lnTo>
                  <a:cubicBezTo>
                    <a:pt x="102771" y="1524538"/>
                    <a:pt x="102566" y="1525152"/>
                    <a:pt x="103181" y="1525767"/>
                  </a:cubicBezTo>
                  <a:cubicBezTo>
                    <a:pt x="103591" y="1526382"/>
                    <a:pt x="104205" y="1526382"/>
                    <a:pt x="104615" y="1526382"/>
                  </a:cubicBezTo>
                  <a:lnTo>
                    <a:pt x="1522614" y="1526382"/>
                  </a:lnTo>
                  <a:cubicBezTo>
                    <a:pt x="1522819" y="1526382"/>
                    <a:pt x="1523433" y="1526382"/>
                    <a:pt x="1524048" y="1525767"/>
                  </a:cubicBezTo>
                  <a:cubicBezTo>
                    <a:pt x="1524663" y="1524947"/>
                    <a:pt x="1524458" y="1524538"/>
                    <a:pt x="1524458" y="1524128"/>
                  </a:cubicBezTo>
                  <a:lnTo>
                    <a:pt x="1442709" y="1013968"/>
                  </a:lnTo>
                  <a:cubicBezTo>
                    <a:pt x="1440456" y="999831"/>
                    <a:pt x="1428572" y="989587"/>
                    <a:pt x="1414231" y="989587"/>
                  </a:cubicBezTo>
                  <a:lnTo>
                    <a:pt x="1290891" y="989587"/>
                  </a:lnTo>
                  <a:cubicBezTo>
                    <a:pt x="1262617" y="989587"/>
                    <a:pt x="1239670" y="966640"/>
                    <a:pt x="1239670" y="938366"/>
                  </a:cubicBezTo>
                  <a:cubicBezTo>
                    <a:pt x="1239670" y="910092"/>
                    <a:pt x="1262617" y="887145"/>
                    <a:pt x="1290891" y="887145"/>
                  </a:cubicBezTo>
                  <a:lnTo>
                    <a:pt x="1414231" y="887145"/>
                  </a:lnTo>
                  <a:cubicBezTo>
                    <a:pt x="1479179" y="887145"/>
                    <a:pt x="1533678" y="933654"/>
                    <a:pt x="1543922" y="997782"/>
                  </a:cubicBezTo>
                  <a:lnTo>
                    <a:pt x="1625670" y="1507942"/>
                  </a:lnTo>
                  <a:cubicBezTo>
                    <a:pt x="1630383" y="1538060"/>
                    <a:pt x="1621778" y="1568792"/>
                    <a:pt x="1601699" y="1592149"/>
                  </a:cubicBezTo>
                  <a:cubicBezTo>
                    <a:pt x="1581825" y="1615506"/>
                    <a:pt x="1552937" y="1628823"/>
                    <a:pt x="1522204" y="1628823"/>
                  </a:cubicBezTo>
                  <a:lnTo>
                    <a:pt x="104410" y="1628823"/>
                  </a:lnTo>
                  <a:cubicBezTo>
                    <a:pt x="73678" y="1628823"/>
                    <a:pt x="44789" y="1615506"/>
                    <a:pt x="24916" y="1592149"/>
                  </a:cubicBezTo>
                  <a:cubicBezTo>
                    <a:pt x="5042" y="1568997"/>
                    <a:pt x="-3563" y="1538265"/>
                    <a:pt x="1354" y="1507942"/>
                  </a:cubicBezTo>
                  <a:lnTo>
                    <a:pt x="83102" y="997782"/>
                  </a:lnTo>
                  <a:cubicBezTo>
                    <a:pt x="93347" y="933654"/>
                    <a:pt x="147846" y="887145"/>
                    <a:pt x="212794" y="887145"/>
                  </a:cubicBezTo>
                  <a:close/>
                  <a:moveTo>
                    <a:pt x="813512" y="411816"/>
                  </a:moveTo>
                  <a:cubicBezTo>
                    <a:pt x="751842" y="411816"/>
                    <a:pt x="701851" y="461807"/>
                    <a:pt x="701851" y="523477"/>
                  </a:cubicBezTo>
                  <a:cubicBezTo>
                    <a:pt x="701851" y="585147"/>
                    <a:pt x="751842" y="635139"/>
                    <a:pt x="813512" y="635139"/>
                  </a:cubicBezTo>
                  <a:cubicBezTo>
                    <a:pt x="875182" y="635139"/>
                    <a:pt x="925174" y="585147"/>
                    <a:pt x="925174" y="523477"/>
                  </a:cubicBezTo>
                  <a:cubicBezTo>
                    <a:pt x="925174" y="461807"/>
                    <a:pt x="875182" y="411816"/>
                    <a:pt x="813512" y="411816"/>
                  </a:cubicBezTo>
                  <a:close/>
                  <a:moveTo>
                    <a:pt x="813512" y="309374"/>
                  </a:moveTo>
                  <a:cubicBezTo>
                    <a:pt x="931525" y="309374"/>
                    <a:pt x="1027616" y="405464"/>
                    <a:pt x="1027616" y="523477"/>
                  </a:cubicBezTo>
                  <a:cubicBezTo>
                    <a:pt x="1027616" y="641490"/>
                    <a:pt x="931525" y="737581"/>
                    <a:pt x="813512" y="737581"/>
                  </a:cubicBezTo>
                  <a:cubicBezTo>
                    <a:pt x="695499" y="737581"/>
                    <a:pt x="599409" y="641490"/>
                    <a:pt x="599409" y="523477"/>
                  </a:cubicBezTo>
                  <a:cubicBezTo>
                    <a:pt x="599409" y="405464"/>
                    <a:pt x="695499" y="309374"/>
                    <a:pt x="813512" y="309374"/>
                  </a:cubicBezTo>
                  <a:close/>
                  <a:moveTo>
                    <a:pt x="813512" y="102442"/>
                  </a:moveTo>
                  <a:cubicBezTo>
                    <a:pt x="594286" y="102442"/>
                    <a:pt x="416038" y="280690"/>
                    <a:pt x="416038" y="499916"/>
                  </a:cubicBezTo>
                  <a:cubicBezTo>
                    <a:pt x="416038" y="550727"/>
                    <a:pt x="432633" y="620592"/>
                    <a:pt x="464185" y="701726"/>
                  </a:cubicBezTo>
                  <a:cubicBezTo>
                    <a:pt x="493893" y="777943"/>
                    <a:pt x="535075" y="860716"/>
                    <a:pt x="583428" y="940825"/>
                  </a:cubicBezTo>
                  <a:cubicBezTo>
                    <a:pt x="629526" y="1017247"/>
                    <a:pt x="679723" y="1086702"/>
                    <a:pt x="724387" y="1136284"/>
                  </a:cubicBezTo>
                  <a:cubicBezTo>
                    <a:pt x="783189" y="1201437"/>
                    <a:pt x="810234" y="1208403"/>
                    <a:pt x="813512" y="1209018"/>
                  </a:cubicBezTo>
                  <a:cubicBezTo>
                    <a:pt x="816790" y="1208403"/>
                    <a:pt x="843834" y="1201437"/>
                    <a:pt x="902636" y="1136284"/>
                  </a:cubicBezTo>
                  <a:cubicBezTo>
                    <a:pt x="947506" y="1086702"/>
                    <a:pt x="997497" y="1017247"/>
                    <a:pt x="1043596" y="940825"/>
                  </a:cubicBezTo>
                  <a:cubicBezTo>
                    <a:pt x="1091948" y="860511"/>
                    <a:pt x="1133130" y="777943"/>
                    <a:pt x="1162838" y="701726"/>
                  </a:cubicBezTo>
                  <a:cubicBezTo>
                    <a:pt x="1194390" y="620592"/>
                    <a:pt x="1210986" y="550727"/>
                    <a:pt x="1210986" y="499916"/>
                  </a:cubicBezTo>
                  <a:cubicBezTo>
                    <a:pt x="1210986" y="280690"/>
                    <a:pt x="1032737" y="102442"/>
                    <a:pt x="813512" y="102442"/>
                  </a:cubicBezTo>
                  <a:close/>
                  <a:moveTo>
                    <a:pt x="813307" y="0"/>
                  </a:moveTo>
                  <a:cubicBezTo>
                    <a:pt x="946686" y="0"/>
                    <a:pt x="1072280" y="52040"/>
                    <a:pt x="1166731" y="146492"/>
                  </a:cubicBezTo>
                  <a:cubicBezTo>
                    <a:pt x="1261182" y="240943"/>
                    <a:pt x="1313223" y="366332"/>
                    <a:pt x="1313223" y="499916"/>
                  </a:cubicBezTo>
                  <a:cubicBezTo>
                    <a:pt x="1313223" y="680418"/>
                    <a:pt x="1171238" y="928122"/>
                    <a:pt x="1127598" y="999627"/>
                  </a:cubicBezTo>
                  <a:cubicBezTo>
                    <a:pt x="1077402" y="1082400"/>
                    <a:pt x="1022493" y="1157387"/>
                    <a:pt x="973116" y="1210862"/>
                  </a:cubicBezTo>
                  <a:cubicBezTo>
                    <a:pt x="910012" y="1279293"/>
                    <a:pt x="859201" y="1311254"/>
                    <a:pt x="813512" y="1311254"/>
                  </a:cubicBezTo>
                  <a:cubicBezTo>
                    <a:pt x="767823" y="1311254"/>
                    <a:pt x="717012" y="1279293"/>
                    <a:pt x="653908" y="1210862"/>
                  </a:cubicBezTo>
                  <a:cubicBezTo>
                    <a:pt x="604531" y="1157387"/>
                    <a:pt x="549622" y="1082195"/>
                    <a:pt x="499220" y="999627"/>
                  </a:cubicBezTo>
                  <a:cubicBezTo>
                    <a:pt x="455785" y="927917"/>
                    <a:pt x="313596" y="680418"/>
                    <a:pt x="313596" y="499916"/>
                  </a:cubicBezTo>
                  <a:cubicBezTo>
                    <a:pt x="313596" y="366332"/>
                    <a:pt x="365636" y="240943"/>
                    <a:pt x="460088" y="146492"/>
                  </a:cubicBezTo>
                  <a:cubicBezTo>
                    <a:pt x="554539" y="52040"/>
                    <a:pt x="679928" y="0"/>
                    <a:pt x="813307" y="0"/>
                  </a:cubicBezTo>
                  <a:close/>
                </a:path>
              </a:pathLst>
            </a:custGeom>
            <a:solidFill>
              <a:sysClr val="window" lastClr="FFFFFF"/>
            </a:solidFill>
            <a:ln w="204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pSp>
      <p:sp>
        <p:nvSpPr>
          <p:cNvPr id="280" name="TextBox 23"/>
          <p:cNvSpPr txBox="1"/>
          <p:nvPr/>
        </p:nvSpPr>
        <p:spPr>
          <a:xfrm>
            <a:off x="11384280" y="6419088"/>
            <a:ext cx="457200" cy="228600"/>
          </a:xfrm>
          <a:prstGeom prst="rect">
            <a:avLst/>
          </a:prstGeom>
          <a:noFill/>
        </p:spPr>
        <p:txBody>
          <a:bodyPr wrap="square" lIns="109728" tIns="54864" rIns="109728" bIns="36576" anchor="ctr">
            <a:spAutoFit/>
          </a:bodyPr>
          <a:lstStyle/>
          <a:p>
            <a:pPr algn="r">
              <a:spcAft>
                <a:spcPts val="0"/>
              </a:spcAft>
            </a:pPr>
            <a:r>
              <a:rPr sz="1100" b="0">
                <a:solidFill>
                  <a:srgbClr val="666666"/>
                </a:solidFill>
                <a:latin typeface="华文中宋"/>
              </a:rPr>
              <a:t>3</a:t>
            </a:r>
            <a:endParaRPr/>
          </a:p>
        </p:txBody>
      </p:sp>
      <p:pic>
        <p:nvPicPr>
          <p:cNvPr id="281" name="图片 280"/>
          <p:cNvPicPr>
            <a:picLocks noChangeAspect="1"/>
          </p:cNvPicPr>
          <p:nvPr/>
        </p:nvPicPr>
        <p:blipFill>
          <a:blip r:embed="rId3"/>
          <a:stretch>
            <a:fillRect/>
          </a:stretch>
        </p:blipFill>
        <p:spPr>
          <a:xfrm>
            <a:off x="5209835" y="3429000"/>
            <a:ext cx="6713898" cy="28077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extBox 6"/>
          <p:cNvSpPr txBox="1"/>
          <p:nvPr/>
        </p:nvSpPr>
        <p:spPr>
          <a:xfrm>
            <a:off x="609904" y="786384"/>
            <a:ext cx="10972800" cy="548640"/>
          </a:xfrm>
          <a:prstGeom prst="rect">
            <a:avLst/>
          </a:prstGeom>
          <a:noFill/>
        </p:spPr>
        <p:txBody>
          <a:bodyPr wrap="square">
            <a:spAutoFit/>
          </a:bodyPr>
          <a:lstStyle/>
          <a:p>
            <a:pPr algn="l">
              <a:lnSpc>
                <a:spcPct val="135000"/>
              </a:lnSpc>
              <a:spcAft>
                <a:spcPts val="200"/>
              </a:spcAft>
            </a:pPr>
            <a:r>
              <a:rPr sz="2400" b="1">
                <a:solidFill>
                  <a:srgbClr val="052E68"/>
                </a:solidFill>
                <a:latin typeface="思源宋体 CN Heavy"/>
                <a:ea typeface="思源宋体 CN Heavy"/>
              </a:rPr>
              <a:t>项目背景：项目增量</a:t>
            </a:r>
            <a:endParaRPr/>
          </a:p>
        </p:txBody>
      </p:sp>
      <p:grpSp>
        <p:nvGrpSpPr>
          <p:cNvPr id="284" name="组合 20"/>
          <p:cNvGrpSpPr/>
          <p:nvPr/>
        </p:nvGrpSpPr>
        <p:grpSpPr>
          <a:xfrm>
            <a:off x="569969" y="1509361"/>
            <a:ext cx="9091191" cy="2843882"/>
            <a:chOff x="3222869" y="1653342"/>
            <a:chExt cx="12669618" cy="3962300"/>
          </a:xfrm>
        </p:grpSpPr>
        <p:sp>
          <p:nvSpPr>
            <p:cNvPr id="285" name="文本框 21"/>
            <p:cNvSpPr txBox="1"/>
            <p:nvPr/>
          </p:nvSpPr>
          <p:spPr>
            <a:xfrm>
              <a:off x="4020359" y="2430625"/>
              <a:ext cx="11592783" cy="3185018"/>
            </a:xfrm>
            <a:prstGeom prst="rect">
              <a:avLst/>
            </a:prstGeom>
            <a:noFill/>
          </p:spPr>
          <p:txBody>
            <a:bodyPr wrap="square">
              <a:spAutoFit/>
            </a:bodyPr>
            <a:lstStyle>
              <a:defPPr>
                <a:defRPr lang="zh-CN"/>
              </a:defPPr>
              <a:lvl1pPr>
                <a:defRPr>
                  <a:latin typeface="黑体" panose="02010609060101010101" pitchFamily="49" charset="-122"/>
                  <a:ea typeface="黑体" panose="02010609060101010101" pitchFamily="49" charset="-122"/>
                </a:defRPr>
              </a:lvl1pPr>
            </a:lstStyle>
            <a:p>
              <a:pPr marL="285750" indent="-285750">
                <a:lnSpc>
                  <a:spcPct val="200000"/>
                </a:lnSpc>
                <a:buFont typeface="Wingdings" charset="2"/>
                <a:buChar char="Ø"/>
              </a:pPr>
              <a:r>
                <a:rPr lang="en-US">
                  <a:latin typeface="华文中宋"/>
                  <a:ea typeface="华文中宋"/>
                  <a:cs typeface="+mn-cs"/>
                </a:rPr>
                <a:t>2023</a:t>
              </a:r>
              <a:r>
                <a:rPr lang="zh-CN">
                  <a:latin typeface="华文中宋"/>
                  <a:ea typeface="华文中宋"/>
                  <a:cs typeface="+mn-cs"/>
                </a:rPr>
                <a:t>年：针对</a:t>
              </a:r>
              <a:r>
                <a:rPr lang="en-US" b="1">
                  <a:solidFill>
                    <a:srgbClr val="C00000">
                      <a:alpha val="100000"/>
                    </a:srgbClr>
                  </a:solidFill>
                  <a:latin typeface="华文中宋"/>
                  <a:ea typeface="华文中宋"/>
                  <a:cs typeface="+mn-cs"/>
                </a:rPr>
                <a:t>Rust</a:t>
              </a:r>
              <a:r>
                <a:rPr lang="zh-CN" b="1">
                  <a:solidFill>
                    <a:srgbClr val="C00000">
                      <a:alpha val="100000"/>
                    </a:srgbClr>
                  </a:solidFill>
                  <a:latin typeface="华文中宋"/>
                  <a:ea typeface="华文中宋"/>
                  <a:cs typeface="+mn-cs"/>
                </a:rPr>
                <a:t>语言同步函数</a:t>
              </a:r>
              <a:r>
                <a:rPr lang="zh-CN">
                  <a:latin typeface="华文中宋"/>
                  <a:ea typeface="华文中宋"/>
                  <a:cs typeface="+mn-cs"/>
                </a:rPr>
                <a:t>调试以及</a:t>
              </a:r>
              <a:r>
                <a:rPr lang="zh-CN" b="1">
                  <a:solidFill>
                    <a:srgbClr val="C00000">
                      <a:alpha val="100000"/>
                    </a:srgbClr>
                  </a:solidFill>
                  <a:latin typeface="华文中宋"/>
                  <a:ea typeface="华文中宋"/>
                  <a:cs typeface="+mn-cs"/>
                </a:rPr>
                <a:t>跨特权级断点</a:t>
              </a:r>
              <a:r>
                <a:rPr lang="zh-CN">
                  <a:latin typeface="华文中宋"/>
                  <a:ea typeface="华文中宋"/>
                  <a:cs typeface="+mn-cs"/>
                </a:rPr>
                <a:t>调试</a:t>
              </a:r>
              <a:endParaRPr lang="zh-CN"/>
            </a:p>
            <a:p>
              <a:pPr marL="285750" indent="-285750">
                <a:lnSpc>
                  <a:spcPct val="200000"/>
                </a:lnSpc>
                <a:buFont typeface="Wingdings" charset="2"/>
                <a:buChar char="Ø"/>
              </a:pPr>
              <a:r>
                <a:rPr lang="en-US">
                  <a:latin typeface="华文中宋"/>
                  <a:ea typeface="华文中宋"/>
                  <a:cs typeface="+mn-cs"/>
                </a:rPr>
                <a:t>2024</a:t>
              </a:r>
              <a:r>
                <a:rPr lang="zh-CN">
                  <a:latin typeface="华文中宋"/>
                  <a:ea typeface="华文中宋"/>
                  <a:cs typeface="+mn-cs"/>
                </a:rPr>
                <a:t>年：针对</a:t>
              </a:r>
              <a:r>
                <a:rPr lang="en-US">
                  <a:latin typeface="华文中宋"/>
                  <a:ea typeface="华文中宋"/>
                  <a:cs typeface="+mn-cs"/>
                </a:rPr>
                <a:t>C</a:t>
              </a:r>
              <a:r>
                <a:rPr lang="zh-CN">
                  <a:latin typeface="华文中宋"/>
                  <a:ea typeface="华文中宋"/>
                  <a:cs typeface="+mn-cs"/>
                </a:rPr>
                <a:t>语言进行扩充以及实际开发板</a:t>
              </a:r>
              <a:r>
                <a:rPr lang="zh-CN" b="1">
                  <a:solidFill>
                    <a:srgbClr val="C00000">
                      <a:alpha val="100000"/>
                    </a:srgbClr>
                  </a:solidFill>
                  <a:latin typeface="华文中宋"/>
                  <a:ea typeface="华文中宋"/>
                  <a:cs typeface="+mn-cs"/>
                </a:rPr>
                <a:t>硬件调试</a:t>
              </a:r>
              <a:r>
                <a:rPr lang="zh-CN">
                  <a:latin typeface="华文中宋"/>
                  <a:ea typeface="华文中宋"/>
                  <a:cs typeface="+mn-cs"/>
                </a:rPr>
                <a:t>的支持</a:t>
              </a:r>
              <a:endParaRPr lang="en-US">
                <a:latin typeface="华文中宋"/>
                <a:ea typeface="华文中宋"/>
                <a:cs typeface="+mn-cs"/>
              </a:endParaRPr>
            </a:p>
            <a:p>
              <a:pPr marL="285750" indent="-285750">
                <a:lnSpc>
                  <a:spcPct val="200000"/>
                </a:lnSpc>
                <a:buFont typeface="Wingdings" charset="2"/>
                <a:buChar char="Ø"/>
              </a:pPr>
              <a:r>
                <a:rPr lang="en-US">
                  <a:latin typeface="华文中宋"/>
                  <a:ea typeface="华文中宋"/>
                  <a:cs typeface="+mn-cs"/>
                </a:rPr>
                <a:t>2025</a:t>
              </a:r>
              <a:r>
                <a:rPr lang="zh-CN">
                  <a:latin typeface="华文中宋"/>
                  <a:ea typeface="华文中宋"/>
                  <a:cs typeface="+mn-cs"/>
                </a:rPr>
                <a:t>年：针对</a:t>
              </a:r>
              <a:r>
                <a:rPr lang="en-US" b="1">
                  <a:solidFill>
                    <a:srgbClr val="C00000">
                      <a:alpha val="100000"/>
                    </a:srgbClr>
                  </a:solidFill>
                  <a:latin typeface="华文中宋"/>
                  <a:ea typeface="华文中宋"/>
                  <a:cs typeface="+mn-cs"/>
                </a:rPr>
                <a:t>Rust</a:t>
              </a:r>
              <a:r>
                <a:rPr lang="zh-CN" b="1">
                  <a:solidFill>
                    <a:srgbClr val="C00000">
                      <a:alpha val="100000"/>
                    </a:srgbClr>
                  </a:solidFill>
                  <a:latin typeface="华文中宋"/>
                  <a:ea typeface="华文中宋"/>
                  <a:cs typeface="+mn-cs"/>
                </a:rPr>
                <a:t>语言异步函数的跟踪调试</a:t>
              </a:r>
              <a:r>
                <a:rPr lang="zh-CN">
                  <a:latin typeface="华文中宋"/>
                  <a:ea typeface="华文中宋"/>
                  <a:cs typeface="+mn-cs"/>
                </a:rPr>
                <a:t>进行设计和开发
</a:t>
              </a:r>
              <a:endParaRPr/>
            </a:p>
          </p:txBody>
        </p:sp>
        <p:sp>
          <p:nvSpPr>
            <p:cNvPr id="286" name="矩形: 圆角 22"/>
            <p:cNvSpPr/>
            <p:nvPr/>
          </p:nvSpPr>
          <p:spPr>
            <a:xfrm>
              <a:off x="3485618" y="1774737"/>
              <a:ext cx="12406869" cy="578843"/>
            </a:xfrm>
            <a:prstGeom prst="roundRect">
              <a:avLst>
                <a:gd name="adj" fmla="val 6500"/>
              </a:avLst>
            </a:prstGeom>
            <a:gradFill flip="none" rotWithShape="1">
              <a:gsLst>
                <a:gs pos="50000">
                  <a:sysClr val="window" lastClr="FFFFFF"/>
                </a:gs>
                <a:gs pos="0">
                  <a:sysClr val="window" lastClr="FFFFFF">
                    <a:alpha val="0"/>
                  </a:sysClr>
                </a:gs>
                <a:gs pos="100000">
                  <a:sysClr val="window" lastClr="FFFFFF">
                    <a:alpha val="0"/>
                  </a:sysClr>
                </a:gs>
              </a:gsLst>
              <a:lin ang="0" scaled="1"/>
              <a:tileRect/>
            </a:gradFill>
            <a:ln w="22225" cap="rnd" cmpd="sng" algn="ctr">
              <a:noFill/>
              <a:prstDash val="solid"/>
            </a:ln>
            <a:effectLst>
              <a:outerShdw blurRad="95250" dist="66675" dir="2699998" algn="tl" rotWithShape="0">
                <a:srgbClr val="06377C">
                  <a:alpha val="30000"/>
                </a:srgbClr>
              </a:outerShdw>
            </a:effectLst>
          </p:spPr>
          <p:txBody>
            <a:bodyPr lIns="68580" tIns="34290" rIns="68580" bIns="3429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nvGrpSpPr>
            <p:cNvPr id="287" name="组合 23"/>
            <p:cNvGrpSpPr/>
            <p:nvPr/>
          </p:nvGrpSpPr>
          <p:grpSpPr>
            <a:xfrm>
              <a:off x="3222869" y="1653343"/>
              <a:ext cx="936833" cy="881701"/>
              <a:chOff x="9690892" y="4669675"/>
              <a:chExt cx="586955" cy="586955"/>
            </a:xfrm>
          </p:grpSpPr>
          <p:sp>
            <p:nvSpPr>
              <p:cNvPr id="288" name="椭圆 26"/>
              <p:cNvSpPr/>
              <p:nvPr/>
            </p:nvSpPr>
            <p:spPr>
              <a:xfrm>
                <a:off x="9690892" y="4669675"/>
                <a:ext cx="586955" cy="586955"/>
              </a:xfrm>
              <a:prstGeom prst="ellipse">
                <a:avLst/>
              </a:prstGeom>
              <a:solidFill>
                <a:sysClr val="window" lastClr="FFFFFF"/>
              </a:soli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289" name="椭圆 27"/>
              <p:cNvSpPr/>
              <p:nvPr/>
            </p:nvSpPr>
            <p:spPr>
              <a:xfrm>
                <a:off x="9738888" y="4717673"/>
                <a:ext cx="490960" cy="490958"/>
              </a:xfrm>
              <a:prstGeom prst="ellipse">
                <a:avLst/>
              </a:prstGeom>
              <a:gradFill flip="none" rotWithShape="1">
                <a:gsLst>
                  <a:gs pos="0">
                    <a:srgbClr val="052C62"/>
                  </a:gs>
                  <a:gs pos="100000">
                    <a:srgbClr val="06377C"/>
                  </a:gs>
                </a:gsLst>
                <a:lin ang="16200000" scaled="1"/>
                <a:tileRect/>
              </a:gra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sp>
          <p:nvSpPr>
            <p:cNvPr id="290" name="文本框 24"/>
            <p:cNvSpPr txBox="1"/>
            <p:nvPr/>
          </p:nvSpPr>
          <p:spPr>
            <a:xfrm>
              <a:off x="4375296" y="1892448"/>
              <a:ext cx="2144610" cy="428817"/>
            </a:xfrm>
            <a:prstGeom prst="rect">
              <a:avLst/>
            </a:prstGeom>
            <a:noFill/>
          </p:spPr>
          <p:txBody>
            <a:bodyPr wrap="none" lIns="0" tIns="0" rIns="0" bIns="0" rtlCol="0">
              <a:spAutoFit/>
            </a:bodyPr>
            <a:lstStyle/>
            <a:p>
              <a:pPr lvl="0" defTabSz="457200">
                <a:defRPr sz="1800">
                  <a:solidFill>
                    <a:schemeClr val="tx1">
                      <a:alpha val="100000"/>
                    </a:schemeClr>
                  </a:solidFill>
                  <a:latin typeface="DIN"/>
                  <a:ea typeface="思源黑体 CN Medium"/>
                  <a:cs typeface="+mn-cs"/>
                </a:defRPr>
              </a:pPr>
              <a:r>
                <a:rPr lang="zh-CN" altLang="zh-CN" sz="2000" b="1" dirty="0">
                  <a:gradFill>
                    <a:gsLst>
                      <a:gs pos="0">
                        <a:srgbClr val="06377C">
                          <a:alpha val="100000"/>
                        </a:srgbClr>
                      </a:gs>
                      <a:gs pos="100000">
                        <a:srgbClr val="355A9A">
                          <a:alpha val="100000"/>
                        </a:srgbClr>
                      </a:gs>
                    </a:gsLst>
                    <a:lin ang="5400000" scaled="1"/>
                  </a:gradFill>
                  <a:latin typeface="思源宋体 CN Heavy"/>
                  <a:ea typeface="思源宋体 CN Heavy"/>
                  <a:sym typeface="优设标题黑"/>
                </a:rPr>
                <a:t>历届完成阶段</a:t>
              </a:r>
              <a:endParaRPr lang="zh-CN" altLang="zh-CN" sz="2000" dirty="0">
                <a:gradFill>
                  <a:gsLst>
                    <a:gs pos="0">
                      <a:srgbClr val="06377C">
                        <a:alpha val="100000"/>
                      </a:srgbClr>
                    </a:gs>
                    <a:gs pos="100000">
                      <a:srgbClr val="355A9A">
                        <a:alpha val="100000"/>
                      </a:srgbClr>
                    </a:gs>
                  </a:gsLst>
                  <a:lin ang="5400000" scaled="1"/>
                </a:gradFill>
                <a:latin typeface="思源宋体 CN Heavy"/>
                <a:ea typeface="思源宋体 CN Heavy"/>
              </a:endParaRPr>
            </a:p>
          </p:txBody>
        </p:sp>
        <p:sp>
          <p:nvSpPr>
            <p:cNvPr id="291" name="任意多边形: 形状 25"/>
            <p:cNvSpPr/>
            <p:nvPr/>
          </p:nvSpPr>
          <p:spPr>
            <a:xfrm>
              <a:off x="3485616" y="1834374"/>
              <a:ext cx="418955" cy="475669"/>
            </a:xfrm>
            <a:custGeom>
              <a:avLst/>
              <a:gdLst>
                <a:gd name="connsiteX0" fmla="*/ 212794 w 1626931"/>
                <a:gd name="connsiteY0" fmla="*/ 887145 h 1628823"/>
                <a:gd name="connsiteX1" fmla="*/ 336134 w 1626931"/>
                <a:gd name="connsiteY1" fmla="*/ 887145 h 1628823"/>
                <a:gd name="connsiteX2" fmla="*/ 387354 w 1626931"/>
                <a:gd name="connsiteY2" fmla="*/ 938366 h 1628823"/>
                <a:gd name="connsiteX3" fmla="*/ 336134 w 1626931"/>
                <a:gd name="connsiteY3" fmla="*/ 989587 h 1628823"/>
                <a:gd name="connsiteX4" fmla="*/ 212999 w 1626931"/>
                <a:gd name="connsiteY4" fmla="*/ 989587 h 1628823"/>
                <a:gd name="connsiteX5" fmla="*/ 184520 w 1626931"/>
                <a:gd name="connsiteY5" fmla="*/ 1013968 h 1628823"/>
                <a:gd name="connsiteX6" fmla="*/ 102771 w 1626931"/>
                <a:gd name="connsiteY6" fmla="*/ 1524128 h 1628823"/>
                <a:gd name="connsiteX7" fmla="*/ 103181 w 1626931"/>
                <a:gd name="connsiteY7" fmla="*/ 1525767 h 1628823"/>
                <a:gd name="connsiteX8" fmla="*/ 104615 w 1626931"/>
                <a:gd name="connsiteY8" fmla="*/ 1526382 h 1628823"/>
                <a:gd name="connsiteX9" fmla="*/ 1522614 w 1626931"/>
                <a:gd name="connsiteY9" fmla="*/ 1526382 h 1628823"/>
                <a:gd name="connsiteX10" fmla="*/ 1524048 w 1626931"/>
                <a:gd name="connsiteY10" fmla="*/ 1525767 h 1628823"/>
                <a:gd name="connsiteX11" fmla="*/ 1524458 w 1626931"/>
                <a:gd name="connsiteY11" fmla="*/ 1524128 h 1628823"/>
                <a:gd name="connsiteX12" fmla="*/ 1442709 w 1626931"/>
                <a:gd name="connsiteY12" fmla="*/ 1013968 h 1628823"/>
                <a:gd name="connsiteX13" fmla="*/ 1414231 w 1626931"/>
                <a:gd name="connsiteY13" fmla="*/ 989587 h 1628823"/>
                <a:gd name="connsiteX14" fmla="*/ 1290891 w 1626931"/>
                <a:gd name="connsiteY14" fmla="*/ 989587 h 1628823"/>
                <a:gd name="connsiteX15" fmla="*/ 1239670 w 1626931"/>
                <a:gd name="connsiteY15" fmla="*/ 938366 h 1628823"/>
                <a:gd name="connsiteX16" fmla="*/ 1290891 w 1626931"/>
                <a:gd name="connsiteY16" fmla="*/ 887145 h 1628823"/>
                <a:gd name="connsiteX17" fmla="*/ 1414231 w 1626931"/>
                <a:gd name="connsiteY17" fmla="*/ 887145 h 1628823"/>
                <a:gd name="connsiteX18" fmla="*/ 1543922 w 1626931"/>
                <a:gd name="connsiteY18" fmla="*/ 997782 h 1628823"/>
                <a:gd name="connsiteX19" fmla="*/ 1625670 w 1626931"/>
                <a:gd name="connsiteY19" fmla="*/ 1507942 h 1628823"/>
                <a:gd name="connsiteX20" fmla="*/ 1601699 w 1626931"/>
                <a:gd name="connsiteY20" fmla="*/ 1592149 h 1628823"/>
                <a:gd name="connsiteX21" fmla="*/ 1522204 w 1626931"/>
                <a:gd name="connsiteY21" fmla="*/ 1628823 h 1628823"/>
                <a:gd name="connsiteX22" fmla="*/ 104410 w 1626931"/>
                <a:gd name="connsiteY22" fmla="*/ 1628823 h 1628823"/>
                <a:gd name="connsiteX23" fmla="*/ 24916 w 1626931"/>
                <a:gd name="connsiteY23" fmla="*/ 1592149 h 1628823"/>
                <a:gd name="connsiteX24" fmla="*/ 1354 w 1626931"/>
                <a:gd name="connsiteY24" fmla="*/ 1507942 h 1628823"/>
                <a:gd name="connsiteX25" fmla="*/ 83102 w 1626931"/>
                <a:gd name="connsiteY25" fmla="*/ 997782 h 1628823"/>
                <a:gd name="connsiteX26" fmla="*/ 212794 w 1626931"/>
                <a:gd name="connsiteY26" fmla="*/ 887145 h 1628823"/>
                <a:gd name="connsiteX27" fmla="*/ 813512 w 1626931"/>
                <a:gd name="connsiteY27" fmla="*/ 411816 h 1628823"/>
                <a:gd name="connsiteX28" fmla="*/ 701851 w 1626931"/>
                <a:gd name="connsiteY28" fmla="*/ 523477 h 1628823"/>
                <a:gd name="connsiteX29" fmla="*/ 813512 w 1626931"/>
                <a:gd name="connsiteY29" fmla="*/ 635139 h 1628823"/>
                <a:gd name="connsiteX30" fmla="*/ 925174 w 1626931"/>
                <a:gd name="connsiteY30" fmla="*/ 523477 h 1628823"/>
                <a:gd name="connsiteX31" fmla="*/ 813512 w 1626931"/>
                <a:gd name="connsiteY31" fmla="*/ 411816 h 1628823"/>
                <a:gd name="connsiteX32" fmla="*/ 813512 w 1626931"/>
                <a:gd name="connsiteY32" fmla="*/ 309374 h 1628823"/>
                <a:gd name="connsiteX33" fmla="*/ 1027616 w 1626931"/>
                <a:gd name="connsiteY33" fmla="*/ 523477 h 1628823"/>
                <a:gd name="connsiteX34" fmla="*/ 813512 w 1626931"/>
                <a:gd name="connsiteY34" fmla="*/ 737581 h 1628823"/>
                <a:gd name="connsiteX35" fmla="*/ 599409 w 1626931"/>
                <a:gd name="connsiteY35" fmla="*/ 523477 h 1628823"/>
                <a:gd name="connsiteX36" fmla="*/ 813512 w 1626931"/>
                <a:gd name="connsiteY36" fmla="*/ 309374 h 1628823"/>
                <a:gd name="connsiteX37" fmla="*/ 813512 w 1626931"/>
                <a:gd name="connsiteY37" fmla="*/ 102442 h 1628823"/>
                <a:gd name="connsiteX38" fmla="*/ 416038 w 1626931"/>
                <a:gd name="connsiteY38" fmla="*/ 499916 h 1628823"/>
                <a:gd name="connsiteX39" fmla="*/ 464185 w 1626931"/>
                <a:gd name="connsiteY39" fmla="*/ 701726 h 1628823"/>
                <a:gd name="connsiteX40" fmla="*/ 583428 w 1626931"/>
                <a:gd name="connsiteY40" fmla="*/ 940825 h 1628823"/>
                <a:gd name="connsiteX41" fmla="*/ 724387 w 1626931"/>
                <a:gd name="connsiteY41" fmla="*/ 1136284 h 1628823"/>
                <a:gd name="connsiteX42" fmla="*/ 813512 w 1626931"/>
                <a:gd name="connsiteY42" fmla="*/ 1209018 h 1628823"/>
                <a:gd name="connsiteX43" fmla="*/ 902636 w 1626931"/>
                <a:gd name="connsiteY43" fmla="*/ 1136284 h 1628823"/>
                <a:gd name="connsiteX44" fmla="*/ 1043596 w 1626931"/>
                <a:gd name="connsiteY44" fmla="*/ 940825 h 1628823"/>
                <a:gd name="connsiteX45" fmla="*/ 1162838 w 1626931"/>
                <a:gd name="connsiteY45" fmla="*/ 701726 h 1628823"/>
                <a:gd name="connsiteX46" fmla="*/ 1210986 w 1626931"/>
                <a:gd name="connsiteY46" fmla="*/ 499916 h 1628823"/>
                <a:gd name="connsiteX47" fmla="*/ 813512 w 1626931"/>
                <a:gd name="connsiteY47" fmla="*/ 102442 h 1628823"/>
                <a:gd name="connsiteX48" fmla="*/ 813307 w 1626931"/>
                <a:gd name="connsiteY48" fmla="*/ 0 h 1628823"/>
                <a:gd name="connsiteX49" fmla="*/ 1166731 w 1626931"/>
                <a:gd name="connsiteY49" fmla="*/ 146492 h 1628823"/>
                <a:gd name="connsiteX50" fmla="*/ 1313223 w 1626931"/>
                <a:gd name="connsiteY50" fmla="*/ 499916 h 1628823"/>
                <a:gd name="connsiteX51" fmla="*/ 1127598 w 1626931"/>
                <a:gd name="connsiteY51" fmla="*/ 999627 h 1628823"/>
                <a:gd name="connsiteX52" fmla="*/ 973116 w 1626931"/>
                <a:gd name="connsiteY52" fmla="*/ 1210862 h 1628823"/>
                <a:gd name="connsiteX53" fmla="*/ 813512 w 1626931"/>
                <a:gd name="connsiteY53" fmla="*/ 1311254 h 1628823"/>
                <a:gd name="connsiteX54" fmla="*/ 653908 w 1626931"/>
                <a:gd name="connsiteY54" fmla="*/ 1210862 h 1628823"/>
                <a:gd name="connsiteX55" fmla="*/ 499220 w 1626931"/>
                <a:gd name="connsiteY55" fmla="*/ 999627 h 1628823"/>
                <a:gd name="connsiteX56" fmla="*/ 313596 w 1626931"/>
                <a:gd name="connsiteY56" fmla="*/ 499916 h 1628823"/>
                <a:gd name="connsiteX57" fmla="*/ 460088 w 1626931"/>
                <a:gd name="connsiteY57" fmla="*/ 146492 h 1628823"/>
                <a:gd name="connsiteX58" fmla="*/ 813307 w 1626931"/>
                <a:gd name="connsiteY58" fmla="*/ 0 h 162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26931" h="1628823">
                  <a:moveTo>
                    <a:pt x="212794" y="887145"/>
                  </a:moveTo>
                  <a:lnTo>
                    <a:pt x="336134" y="887145"/>
                  </a:lnTo>
                  <a:cubicBezTo>
                    <a:pt x="364407" y="887145"/>
                    <a:pt x="387354" y="910092"/>
                    <a:pt x="387354" y="938366"/>
                  </a:cubicBezTo>
                  <a:cubicBezTo>
                    <a:pt x="387354" y="966640"/>
                    <a:pt x="364407" y="989587"/>
                    <a:pt x="336134" y="989587"/>
                  </a:cubicBezTo>
                  <a:lnTo>
                    <a:pt x="212999" y="989587"/>
                  </a:lnTo>
                  <a:cubicBezTo>
                    <a:pt x="198862" y="989587"/>
                    <a:pt x="186774" y="999831"/>
                    <a:pt x="184520" y="1013968"/>
                  </a:cubicBezTo>
                  <a:lnTo>
                    <a:pt x="102771" y="1524128"/>
                  </a:lnTo>
                  <a:cubicBezTo>
                    <a:pt x="102771" y="1524538"/>
                    <a:pt x="102566" y="1525152"/>
                    <a:pt x="103181" y="1525767"/>
                  </a:cubicBezTo>
                  <a:cubicBezTo>
                    <a:pt x="103591" y="1526382"/>
                    <a:pt x="104205" y="1526382"/>
                    <a:pt x="104615" y="1526382"/>
                  </a:cubicBezTo>
                  <a:lnTo>
                    <a:pt x="1522614" y="1526382"/>
                  </a:lnTo>
                  <a:cubicBezTo>
                    <a:pt x="1522819" y="1526382"/>
                    <a:pt x="1523433" y="1526382"/>
                    <a:pt x="1524048" y="1525767"/>
                  </a:cubicBezTo>
                  <a:cubicBezTo>
                    <a:pt x="1524663" y="1524947"/>
                    <a:pt x="1524458" y="1524538"/>
                    <a:pt x="1524458" y="1524128"/>
                  </a:cubicBezTo>
                  <a:lnTo>
                    <a:pt x="1442709" y="1013968"/>
                  </a:lnTo>
                  <a:cubicBezTo>
                    <a:pt x="1440456" y="999831"/>
                    <a:pt x="1428572" y="989587"/>
                    <a:pt x="1414231" y="989587"/>
                  </a:cubicBezTo>
                  <a:lnTo>
                    <a:pt x="1290891" y="989587"/>
                  </a:lnTo>
                  <a:cubicBezTo>
                    <a:pt x="1262617" y="989587"/>
                    <a:pt x="1239670" y="966640"/>
                    <a:pt x="1239670" y="938366"/>
                  </a:cubicBezTo>
                  <a:cubicBezTo>
                    <a:pt x="1239670" y="910092"/>
                    <a:pt x="1262617" y="887145"/>
                    <a:pt x="1290891" y="887145"/>
                  </a:cubicBezTo>
                  <a:lnTo>
                    <a:pt x="1414231" y="887145"/>
                  </a:lnTo>
                  <a:cubicBezTo>
                    <a:pt x="1479179" y="887145"/>
                    <a:pt x="1533678" y="933654"/>
                    <a:pt x="1543922" y="997782"/>
                  </a:cubicBezTo>
                  <a:lnTo>
                    <a:pt x="1625670" y="1507942"/>
                  </a:lnTo>
                  <a:cubicBezTo>
                    <a:pt x="1630383" y="1538060"/>
                    <a:pt x="1621778" y="1568792"/>
                    <a:pt x="1601699" y="1592149"/>
                  </a:cubicBezTo>
                  <a:cubicBezTo>
                    <a:pt x="1581825" y="1615506"/>
                    <a:pt x="1552937" y="1628823"/>
                    <a:pt x="1522204" y="1628823"/>
                  </a:cubicBezTo>
                  <a:lnTo>
                    <a:pt x="104410" y="1628823"/>
                  </a:lnTo>
                  <a:cubicBezTo>
                    <a:pt x="73678" y="1628823"/>
                    <a:pt x="44789" y="1615506"/>
                    <a:pt x="24916" y="1592149"/>
                  </a:cubicBezTo>
                  <a:cubicBezTo>
                    <a:pt x="5042" y="1568997"/>
                    <a:pt x="-3563" y="1538265"/>
                    <a:pt x="1354" y="1507942"/>
                  </a:cubicBezTo>
                  <a:lnTo>
                    <a:pt x="83102" y="997782"/>
                  </a:lnTo>
                  <a:cubicBezTo>
                    <a:pt x="93347" y="933654"/>
                    <a:pt x="147846" y="887145"/>
                    <a:pt x="212794" y="887145"/>
                  </a:cubicBezTo>
                  <a:close/>
                  <a:moveTo>
                    <a:pt x="813512" y="411816"/>
                  </a:moveTo>
                  <a:cubicBezTo>
                    <a:pt x="751842" y="411816"/>
                    <a:pt x="701851" y="461807"/>
                    <a:pt x="701851" y="523477"/>
                  </a:cubicBezTo>
                  <a:cubicBezTo>
                    <a:pt x="701851" y="585147"/>
                    <a:pt x="751842" y="635139"/>
                    <a:pt x="813512" y="635139"/>
                  </a:cubicBezTo>
                  <a:cubicBezTo>
                    <a:pt x="875182" y="635139"/>
                    <a:pt x="925174" y="585147"/>
                    <a:pt x="925174" y="523477"/>
                  </a:cubicBezTo>
                  <a:cubicBezTo>
                    <a:pt x="925174" y="461807"/>
                    <a:pt x="875182" y="411816"/>
                    <a:pt x="813512" y="411816"/>
                  </a:cubicBezTo>
                  <a:close/>
                  <a:moveTo>
                    <a:pt x="813512" y="309374"/>
                  </a:moveTo>
                  <a:cubicBezTo>
                    <a:pt x="931525" y="309374"/>
                    <a:pt x="1027616" y="405464"/>
                    <a:pt x="1027616" y="523477"/>
                  </a:cubicBezTo>
                  <a:cubicBezTo>
                    <a:pt x="1027616" y="641490"/>
                    <a:pt x="931525" y="737581"/>
                    <a:pt x="813512" y="737581"/>
                  </a:cubicBezTo>
                  <a:cubicBezTo>
                    <a:pt x="695499" y="737581"/>
                    <a:pt x="599409" y="641490"/>
                    <a:pt x="599409" y="523477"/>
                  </a:cubicBezTo>
                  <a:cubicBezTo>
                    <a:pt x="599409" y="405464"/>
                    <a:pt x="695499" y="309374"/>
                    <a:pt x="813512" y="309374"/>
                  </a:cubicBezTo>
                  <a:close/>
                  <a:moveTo>
                    <a:pt x="813512" y="102442"/>
                  </a:moveTo>
                  <a:cubicBezTo>
                    <a:pt x="594286" y="102442"/>
                    <a:pt x="416038" y="280690"/>
                    <a:pt x="416038" y="499916"/>
                  </a:cubicBezTo>
                  <a:cubicBezTo>
                    <a:pt x="416038" y="550727"/>
                    <a:pt x="432633" y="620592"/>
                    <a:pt x="464185" y="701726"/>
                  </a:cubicBezTo>
                  <a:cubicBezTo>
                    <a:pt x="493893" y="777943"/>
                    <a:pt x="535075" y="860716"/>
                    <a:pt x="583428" y="940825"/>
                  </a:cubicBezTo>
                  <a:cubicBezTo>
                    <a:pt x="629526" y="1017247"/>
                    <a:pt x="679723" y="1086702"/>
                    <a:pt x="724387" y="1136284"/>
                  </a:cubicBezTo>
                  <a:cubicBezTo>
                    <a:pt x="783189" y="1201437"/>
                    <a:pt x="810234" y="1208403"/>
                    <a:pt x="813512" y="1209018"/>
                  </a:cubicBezTo>
                  <a:cubicBezTo>
                    <a:pt x="816790" y="1208403"/>
                    <a:pt x="843834" y="1201437"/>
                    <a:pt x="902636" y="1136284"/>
                  </a:cubicBezTo>
                  <a:cubicBezTo>
                    <a:pt x="947506" y="1086702"/>
                    <a:pt x="997497" y="1017247"/>
                    <a:pt x="1043596" y="940825"/>
                  </a:cubicBezTo>
                  <a:cubicBezTo>
                    <a:pt x="1091948" y="860511"/>
                    <a:pt x="1133130" y="777943"/>
                    <a:pt x="1162838" y="701726"/>
                  </a:cubicBezTo>
                  <a:cubicBezTo>
                    <a:pt x="1194390" y="620592"/>
                    <a:pt x="1210986" y="550727"/>
                    <a:pt x="1210986" y="499916"/>
                  </a:cubicBezTo>
                  <a:cubicBezTo>
                    <a:pt x="1210986" y="280690"/>
                    <a:pt x="1032737" y="102442"/>
                    <a:pt x="813512" y="102442"/>
                  </a:cubicBezTo>
                  <a:close/>
                  <a:moveTo>
                    <a:pt x="813307" y="0"/>
                  </a:moveTo>
                  <a:cubicBezTo>
                    <a:pt x="946686" y="0"/>
                    <a:pt x="1072280" y="52040"/>
                    <a:pt x="1166731" y="146492"/>
                  </a:cubicBezTo>
                  <a:cubicBezTo>
                    <a:pt x="1261182" y="240943"/>
                    <a:pt x="1313223" y="366332"/>
                    <a:pt x="1313223" y="499916"/>
                  </a:cubicBezTo>
                  <a:cubicBezTo>
                    <a:pt x="1313223" y="680418"/>
                    <a:pt x="1171238" y="928122"/>
                    <a:pt x="1127598" y="999627"/>
                  </a:cubicBezTo>
                  <a:cubicBezTo>
                    <a:pt x="1077402" y="1082400"/>
                    <a:pt x="1022493" y="1157387"/>
                    <a:pt x="973116" y="1210862"/>
                  </a:cubicBezTo>
                  <a:cubicBezTo>
                    <a:pt x="910012" y="1279293"/>
                    <a:pt x="859201" y="1311254"/>
                    <a:pt x="813512" y="1311254"/>
                  </a:cubicBezTo>
                  <a:cubicBezTo>
                    <a:pt x="767823" y="1311254"/>
                    <a:pt x="717012" y="1279293"/>
                    <a:pt x="653908" y="1210862"/>
                  </a:cubicBezTo>
                  <a:cubicBezTo>
                    <a:pt x="604531" y="1157387"/>
                    <a:pt x="549622" y="1082195"/>
                    <a:pt x="499220" y="999627"/>
                  </a:cubicBezTo>
                  <a:cubicBezTo>
                    <a:pt x="455785" y="927917"/>
                    <a:pt x="313596" y="680418"/>
                    <a:pt x="313596" y="499916"/>
                  </a:cubicBezTo>
                  <a:cubicBezTo>
                    <a:pt x="313596" y="366332"/>
                    <a:pt x="365636" y="240943"/>
                    <a:pt x="460088" y="146492"/>
                  </a:cubicBezTo>
                  <a:cubicBezTo>
                    <a:pt x="554539" y="52040"/>
                    <a:pt x="679928" y="0"/>
                    <a:pt x="813307" y="0"/>
                  </a:cubicBezTo>
                  <a:close/>
                </a:path>
              </a:pathLst>
            </a:custGeom>
            <a:solidFill>
              <a:sysClr val="window" lastClr="FFFFFF"/>
            </a:solidFill>
            <a:ln w="204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pSp>
      <p:grpSp>
        <p:nvGrpSpPr>
          <p:cNvPr id="292" name="组合 22"/>
          <p:cNvGrpSpPr/>
          <p:nvPr/>
        </p:nvGrpSpPr>
        <p:grpSpPr>
          <a:xfrm>
            <a:off x="624939" y="3896191"/>
            <a:ext cx="11645033" cy="2439297"/>
            <a:chOff x="624939" y="4792384"/>
            <a:chExt cx="11645033" cy="2439297"/>
          </a:xfrm>
        </p:grpSpPr>
        <p:grpSp>
          <p:nvGrpSpPr>
            <p:cNvPr id="293" name="组合 20"/>
            <p:cNvGrpSpPr/>
            <p:nvPr/>
          </p:nvGrpSpPr>
          <p:grpSpPr>
            <a:xfrm>
              <a:off x="624939" y="4792384"/>
              <a:ext cx="9091191" cy="632828"/>
              <a:chOff x="3222869" y="1653343"/>
              <a:chExt cx="12669616" cy="881701"/>
            </a:xfrm>
          </p:grpSpPr>
          <p:sp>
            <p:nvSpPr>
              <p:cNvPr id="294" name="矩形: 圆角 22"/>
              <p:cNvSpPr/>
              <p:nvPr/>
            </p:nvSpPr>
            <p:spPr>
              <a:xfrm>
                <a:off x="3485616" y="1799256"/>
                <a:ext cx="12406869" cy="545903"/>
              </a:xfrm>
              <a:prstGeom prst="roundRect">
                <a:avLst>
                  <a:gd name="adj" fmla="val 6500"/>
                </a:avLst>
              </a:prstGeom>
              <a:gradFill flip="none" rotWithShape="1">
                <a:gsLst>
                  <a:gs pos="50000">
                    <a:sysClr val="window" lastClr="FFFFFF"/>
                  </a:gs>
                  <a:gs pos="0">
                    <a:sysClr val="window" lastClr="FFFFFF">
                      <a:alpha val="0"/>
                    </a:sysClr>
                  </a:gs>
                  <a:gs pos="100000">
                    <a:sysClr val="window" lastClr="FFFFFF">
                      <a:alpha val="0"/>
                    </a:sysClr>
                  </a:gs>
                </a:gsLst>
                <a:lin ang="0" scaled="1"/>
                <a:tileRect/>
              </a:gradFill>
              <a:ln w="22225" cap="rnd" cmpd="sng" algn="ctr">
                <a:noFill/>
                <a:prstDash val="solid"/>
              </a:ln>
              <a:effectLst>
                <a:outerShdw blurRad="95250" dist="66675" dir="2699998" algn="tl" rotWithShape="0">
                  <a:srgbClr val="06377C">
                    <a:alpha val="30000"/>
                  </a:srgbClr>
                </a:outerShdw>
              </a:effectLst>
            </p:spPr>
            <p:txBody>
              <a:bodyPr lIns="68580" tIns="34290" rIns="68580" bIns="3429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nvGrpSpPr>
              <p:cNvPr id="295" name="组合 23"/>
              <p:cNvGrpSpPr/>
              <p:nvPr/>
            </p:nvGrpSpPr>
            <p:grpSpPr>
              <a:xfrm>
                <a:off x="3222869" y="1653343"/>
                <a:ext cx="936833" cy="881701"/>
                <a:chOff x="9690892" y="4669675"/>
                <a:chExt cx="586955" cy="586955"/>
              </a:xfrm>
            </p:grpSpPr>
            <p:sp>
              <p:nvSpPr>
                <p:cNvPr id="296" name="椭圆 26"/>
                <p:cNvSpPr/>
                <p:nvPr/>
              </p:nvSpPr>
              <p:spPr>
                <a:xfrm>
                  <a:off x="9690892" y="4669675"/>
                  <a:ext cx="586955" cy="586955"/>
                </a:xfrm>
                <a:prstGeom prst="ellipse">
                  <a:avLst/>
                </a:prstGeom>
                <a:solidFill>
                  <a:sysClr val="window" lastClr="FFFFFF"/>
                </a:soli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Gill Sans MT" panose="020B0502020104020203"/>
                    <a:ea typeface="华文中宋" panose="02010600040101010101" pitchFamily="2" charset="-122"/>
                    <a:cs typeface="+mn-cs"/>
                  </a:endParaRPr>
                </a:p>
              </p:txBody>
            </p:sp>
            <p:sp>
              <p:nvSpPr>
                <p:cNvPr id="297" name="椭圆 27"/>
                <p:cNvSpPr/>
                <p:nvPr/>
              </p:nvSpPr>
              <p:spPr>
                <a:xfrm>
                  <a:off x="9738888" y="4717673"/>
                  <a:ext cx="490960" cy="490958"/>
                </a:xfrm>
                <a:prstGeom prst="ellipse">
                  <a:avLst/>
                </a:prstGeom>
                <a:gradFill flip="none" rotWithShape="1">
                  <a:gsLst>
                    <a:gs pos="0">
                      <a:srgbClr val="052C62"/>
                    </a:gs>
                    <a:gs pos="100000">
                      <a:srgbClr val="06377C"/>
                    </a:gs>
                  </a:gsLst>
                  <a:lin ang="16200000" scaled="1"/>
                  <a:tileRect/>
                </a:gradFill>
                <a:ln w="22225" cap="rnd" cmpd="sng" algn="ctr">
                  <a:noFill/>
                  <a:prstDash val="solid"/>
                </a:ln>
                <a:effectLst>
                  <a:outerShdw blurRad="127000" dist="88900" dir="2700000" algn="tl" rotWithShape="0">
                    <a:srgbClr val="06377C">
                      <a:alpha val="30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pitchFamily="2" charset="-122"/>
                    <a:cs typeface="+mn-cs"/>
                  </a:endParaRPr>
                </a:p>
              </p:txBody>
            </p:sp>
          </p:grpSp>
          <p:sp>
            <p:nvSpPr>
              <p:cNvPr id="298" name="文本框 24"/>
              <p:cNvSpPr txBox="1"/>
              <p:nvPr/>
            </p:nvSpPr>
            <p:spPr>
              <a:xfrm>
                <a:off x="4375296" y="1784978"/>
                <a:ext cx="1429740" cy="535663"/>
              </a:xfrm>
              <a:prstGeom prst="rect">
                <a:avLst/>
              </a:prstGeom>
              <a:noFill/>
            </p:spPr>
            <p:txBody>
              <a:bodyPr wrap="none" lIns="0" tIns="0" rIns="0" bIns="0" rtlCol="0">
                <a:spAutoFit/>
              </a:bodyPr>
              <a:lstStyle/>
              <a:p>
                <a:pPr>
                  <a:lnSpc>
                    <a:spcPct val="140000"/>
                  </a:lnSpc>
                  <a:spcAft>
                    <a:spcPts val="400"/>
                  </a:spcAft>
                </a:pPr>
                <a:r>
                  <a:rPr lang="zh-CN" altLang="en-US" sz="2000" b="1" dirty="0">
                    <a:gradFill>
                      <a:gsLst>
                        <a:gs pos="0">
                          <a:srgbClr val="06377C">
                            <a:alpha val="100000"/>
                          </a:srgbClr>
                        </a:gs>
                        <a:gs pos="100000">
                          <a:srgbClr val="355A9A">
                            <a:alpha val="100000"/>
                          </a:srgbClr>
                        </a:gs>
                      </a:gsLst>
                      <a:lin ang="5400000" scaled="1"/>
                    </a:gradFill>
                    <a:latin typeface="思源宋体 CN Heavy"/>
                    <a:ea typeface="思源宋体 CN Heavy"/>
                  </a:rPr>
                  <a:t>今年增量</a:t>
                </a:r>
                <a:endParaRPr/>
              </a:p>
            </p:txBody>
          </p:sp>
          <p:sp>
            <p:nvSpPr>
              <p:cNvPr id="299" name="任意多边形: 形状 25"/>
              <p:cNvSpPr/>
              <p:nvPr/>
            </p:nvSpPr>
            <p:spPr>
              <a:xfrm>
                <a:off x="3485616" y="1834374"/>
                <a:ext cx="418955" cy="475669"/>
              </a:xfrm>
              <a:custGeom>
                <a:avLst/>
                <a:gdLst>
                  <a:gd name="connsiteX0" fmla="*/ 212794 w 1626931"/>
                  <a:gd name="connsiteY0" fmla="*/ 887145 h 1628823"/>
                  <a:gd name="connsiteX1" fmla="*/ 336134 w 1626931"/>
                  <a:gd name="connsiteY1" fmla="*/ 887145 h 1628823"/>
                  <a:gd name="connsiteX2" fmla="*/ 387354 w 1626931"/>
                  <a:gd name="connsiteY2" fmla="*/ 938366 h 1628823"/>
                  <a:gd name="connsiteX3" fmla="*/ 336134 w 1626931"/>
                  <a:gd name="connsiteY3" fmla="*/ 989587 h 1628823"/>
                  <a:gd name="connsiteX4" fmla="*/ 212999 w 1626931"/>
                  <a:gd name="connsiteY4" fmla="*/ 989587 h 1628823"/>
                  <a:gd name="connsiteX5" fmla="*/ 184520 w 1626931"/>
                  <a:gd name="connsiteY5" fmla="*/ 1013968 h 1628823"/>
                  <a:gd name="connsiteX6" fmla="*/ 102771 w 1626931"/>
                  <a:gd name="connsiteY6" fmla="*/ 1524128 h 1628823"/>
                  <a:gd name="connsiteX7" fmla="*/ 103181 w 1626931"/>
                  <a:gd name="connsiteY7" fmla="*/ 1525767 h 1628823"/>
                  <a:gd name="connsiteX8" fmla="*/ 104615 w 1626931"/>
                  <a:gd name="connsiteY8" fmla="*/ 1526382 h 1628823"/>
                  <a:gd name="connsiteX9" fmla="*/ 1522614 w 1626931"/>
                  <a:gd name="connsiteY9" fmla="*/ 1526382 h 1628823"/>
                  <a:gd name="connsiteX10" fmla="*/ 1524048 w 1626931"/>
                  <a:gd name="connsiteY10" fmla="*/ 1525767 h 1628823"/>
                  <a:gd name="connsiteX11" fmla="*/ 1524458 w 1626931"/>
                  <a:gd name="connsiteY11" fmla="*/ 1524128 h 1628823"/>
                  <a:gd name="connsiteX12" fmla="*/ 1442709 w 1626931"/>
                  <a:gd name="connsiteY12" fmla="*/ 1013968 h 1628823"/>
                  <a:gd name="connsiteX13" fmla="*/ 1414231 w 1626931"/>
                  <a:gd name="connsiteY13" fmla="*/ 989587 h 1628823"/>
                  <a:gd name="connsiteX14" fmla="*/ 1290891 w 1626931"/>
                  <a:gd name="connsiteY14" fmla="*/ 989587 h 1628823"/>
                  <a:gd name="connsiteX15" fmla="*/ 1239670 w 1626931"/>
                  <a:gd name="connsiteY15" fmla="*/ 938366 h 1628823"/>
                  <a:gd name="connsiteX16" fmla="*/ 1290891 w 1626931"/>
                  <a:gd name="connsiteY16" fmla="*/ 887145 h 1628823"/>
                  <a:gd name="connsiteX17" fmla="*/ 1414231 w 1626931"/>
                  <a:gd name="connsiteY17" fmla="*/ 887145 h 1628823"/>
                  <a:gd name="connsiteX18" fmla="*/ 1543922 w 1626931"/>
                  <a:gd name="connsiteY18" fmla="*/ 997782 h 1628823"/>
                  <a:gd name="connsiteX19" fmla="*/ 1625670 w 1626931"/>
                  <a:gd name="connsiteY19" fmla="*/ 1507942 h 1628823"/>
                  <a:gd name="connsiteX20" fmla="*/ 1601699 w 1626931"/>
                  <a:gd name="connsiteY20" fmla="*/ 1592149 h 1628823"/>
                  <a:gd name="connsiteX21" fmla="*/ 1522204 w 1626931"/>
                  <a:gd name="connsiteY21" fmla="*/ 1628823 h 1628823"/>
                  <a:gd name="connsiteX22" fmla="*/ 104410 w 1626931"/>
                  <a:gd name="connsiteY22" fmla="*/ 1628823 h 1628823"/>
                  <a:gd name="connsiteX23" fmla="*/ 24916 w 1626931"/>
                  <a:gd name="connsiteY23" fmla="*/ 1592149 h 1628823"/>
                  <a:gd name="connsiteX24" fmla="*/ 1354 w 1626931"/>
                  <a:gd name="connsiteY24" fmla="*/ 1507942 h 1628823"/>
                  <a:gd name="connsiteX25" fmla="*/ 83102 w 1626931"/>
                  <a:gd name="connsiteY25" fmla="*/ 997782 h 1628823"/>
                  <a:gd name="connsiteX26" fmla="*/ 212794 w 1626931"/>
                  <a:gd name="connsiteY26" fmla="*/ 887145 h 1628823"/>
                  <a:gd name="connsiteX27" fmla="*/ 813512 w 1626931"/>
                  <a:gd name="connsiteY27" fmla="*/ 411816 h 1628823"/>
                  <a:gd name="connsiteX28" fmla="*/ 701851 w 1626931"/>
                  <a:gd name="connsiteY28" fmla="*/ 523477 h 1628823"/>
                  <a:gd name="connsiteX29" fmla="*/ 813512 w 1626931"/>
                  <a:gd name="connsiteY29" fmla="*/ 635139 h 1628823"/>
                  <a:gd name="connsiteX30" fmla="*/ 925174 w 1626931"/>
                  <a:gd name="connsiteY30" fmla="*/ 523477 h 1628823"/>
                  <a:gd name="connsiteX31" fmla="*/ 813512 w 1626931"/>
                  <a:gd name="connsiteY31" fmla="*/ 411816 h 1628823"/>
                  <a:gd name="connsiteX32" fmla="*/ 813512 w 1626931"/>
                  <a:gd name="connsiteY32" fmla="*/ 309374 h 1628823"/>
                  <a:gd name="connsiteX33" fmla="*/ 1027616 w 1626931"/>
                  <a:gd name="connsiteY33" fmla="*/ 523477 h 1628823"/>
                  <a:gd name="connsiteX34" fmla="*/ 813512 w 1626931"/>
                  <a:gd name="connsiteY34" fmla="*/ 737581 h 1628823"/>
                  <a:gd name="connsiteX35" fmla="*/ 599409 w 1626931"/>
                  <a:gd name="connsiteY35" fmla="*/ 523477 h 1628823"/>
                  <a:gd name="connsiteX36" fmla="*/ 813512 w 1626931"/>
                  <a:gd name="connsiteY36" fmla="*/ 309374 h 1628823"/>
                  <a:gd name="connsiteX37" fmla="*/ 813512 w 1626931"/>
                  <a:gd name="connsiteY37" fmla="*/ 102442 h 1628823"/>
                  <a:gd name="connsiteX38" fmla="*/ 416038 w 1626931"/>
                  <a:gd name="connsiteY38" fmla="*/ 499916 h 1628823"/>
                  <a:gd name="connsiteX39" fmla="*/ 464185 w 1626931"/>
                  <a:gd name="connsiteY39" fmla="*/ 701726 h 1628823"/>
                  <a:gd name="connsiteX40" fmla="*/ 583428 w 1626931"/>
                  <a:gd name="connsiteY40" fmla="*/ 940825 h 1628823"/>
                  <a:gd name="connsiteX41" fmla="*/ 724387 w 1626931"/>
                  <a:gd name="connsiteY41" fmla="*/ 1136284 h 1628823"/>
                  <a:gd name="connsiteX42" fmla="*/ 813512 w 1626931"/>
                  <a:gd name="connsiteY42" fmla="*/ 1209018 h 1628823"/>
                  <a:gd name="connsiteX43" fmla="*/ 902636 w 1626931"/>
                  <a:gd name="connsiteY43" fmla="*/ 1136284 h 1628823"/>
                  <a:gd name="connsiteX44" fmla="*/ 1043596 w 1626931"/>
                  <a:gd name="connsiteY44" fmla="*/ 940825 h 1628823"/>
                  <a:gd name="connsiteX45" fmla="*/ 1162838 w 1626931"/>
                  <a:gd name="connsiteY45" fmla="*/ 701726 h 1628823"/>
                  <a:gd name="connsiteX46" fmla="*/ 1210986 w 1626931"/>
                  <a:gd name="connsiteY46" fmla="*/ 499916 h 1628823"/>
                  <a:gd name="connsiteX47" fmla="*/ 813512 w 1626931"/>
                  <a:gd name="connsiteY47" fmla="*/ 102442 h 1628823"/>
                  <a:gd name="connsiteX48" fmla="*/ 813307 w 1626931"/>
                  <a:gd name="connsiteY48" fmla="*/ 0 h 1628823"/>
                  <a:gd name="connsiteX49" fmla="*/ 1166731 w 1626931"/>
                  <a:gd name="connsiteY49" fmla="*/ 146492 h 1628823"/>
                  <a:gd name="connsiteX50" fmla="*/ 1313223 w 1626931"/>
                  <a:gd name="connsiteY50" fmla="*/ 499916 h 1628823"/>
                  <a:gd name="connsiteX51" fmla="*/ 1127598 w 1626931"/>
                  <a:gd name="connsiteY51" fmla="*/ 999627 h 1628823"/>
                  <a:gd name="connsiteX52" fmla="*/ 973116 w 1626931"/>
                  <a:gd name="connsiteY52" fmla="*/ 1210862 h 1628823"/>
                  <a:gd name="connsiteX53" fmla="*/ 813512 w 1626931"/>
                  <a:gd name="connsiteY53" fmla="*/ 1311254 h 1628823"/>
                  <a:gd name="connsiteX54" fmla="*/ 653908 w 1626931"/>
                  <a:gd name="connsiteY54" fmla="*/ 1210862 h 1628823"/>
                  <a:gd name="connsiteX55" fmla="*/ 499220 w 1626931"/>
                  <a:gd name="connsiteY55" fmla="*/ 999627 h 1628823"/>
                  <a:gd name="connsiteX56" fmla="*/ 313596 w 1626931"/>
                  <a:gd name="connsiteY56" fmla="*/ 499916 h 1628823"/>
                  <a:gd name="connsiteX57" fmla="*/ 460088 w 1626931"/>
                  <a:gd name="connsiteY57" fmla="*/ 146492 h 1628823"/>
                  <a:gd name="connsiteX58" fmla="*/ 813307 w 1626931"/>
                  <a:gd name="connsiteY58" fmla="*/ 0 h 162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26931" h="1628823">
                    <a:moveTo>
                      <a:pt x="212794" y="887145"/>
                    </a:moveTo>
                    <a:lnTo>
                      <a:pt x="336134" y="887145"/>
                    </a:lnTo>
                    <a:cubicBezTo>
                      <a:pt x="364407" y="887145"/>
                      <a:pt x="387354" y="910092"/>
                      <a:pt x="387354" y="938366"/>
                    </a:cubicBezTo>
                    <a:cubicBezTo>
                      <a:pt x="387354" y="966640"/>
                      <a:pt x="364407" y="989587"/>
                      <a:pt x="336134" y="989587"/>
                    </a:cubicBezTo>
                    <a:lnTo>
                      <a:pt x="212999" y="989587"/>
                    </a:lnTo>
                    <a:cubicBezTo>
                      <a:pt x="198862" y="989587"/>
                      <a:pt x="186774" y="999831"/>
                      <a:pt x="184520" y="1013968"/>
                    </a:cubicBezTo>
                    <a:lnTo>
                      <a:pt x="102771" y="1524128"/>
                    </a:lnTo>
                    <a:cubicBezTo>
                      <a:pt x="102771" y="1524538"/>
                      <a:pt x="102566" y="1525152"/>
                      <a:pt x="103181" y="1525767"/>
                    </a:cubicBezTo>
                    <a:cubicBezTo>
                      <a:pt x="103591" y="1526382"/>
                      <a:pt x="104205" y="1526382"/>
                      <a:pt x="104615" y="1526382"/>
                    </a:cubicBezTo>
                    <a:lnTo>
                      <a:pt x="1522614" y="1526382"/>
                    </a:lnTo>
                    <a:cubicBezTo>
                      <a:pt x="1522819" y="1526382"/>
                      <a:pt x="1523433" y="1526382"/>
                      <a:pt x="1524048" y="1525767"/>
                    </a:cubicBezTo>
                    <a:cubicBezTo>
                      <a:pt x="1524663" y="1524947"/>
                      <a:pt x="1524458" y="1524538"/>
                      <a:pt x="1524458" y="1524128"/>
                    </a:cubicBezTo>
                    <a:lnTo>
                      <a:pt x="1442709" y="1013968"/>
                    </a:lnTo>
                    <a:cubicBezTo>
                      <a:pt x="1440456" y="999831"/>
                      <a:pt x="1428572" y="989587"/>
                      <a:pt x="1414231" y="989587"/>
                    </a:cubicBezTo>
                    <a:lnTo>
                      <a:pt x="1290891" y="989587"/>
                    </a:lnTo>
                    <a:cubicBezTo>
                      <a:pt x="1262617" y="989587"/>
                      <a:pt x="1239670" y="966640"/>
                      <a:pt x="1239670" y="938366"/>
                    </a:cubicBezTo>
                    <a:cubicBezTo>
                      <a:pt x="1239670" y="910092"/>
                      <a:pt x="1262617" y="887145"/>
                      <a:pt x="1290891" y="887145"/>
                    </a:cubicBezTo>
                    <a:lnTo>
                      <a:pt x="1414231" y="887145"/>
                    </a:lnTo>
                    <a:cubicBezTo>
                      <a:pt x="1479179" y="887145"/>
                      <a:pt x="1533678" y="933654"/>
                      <a:pt x="1543922" y="997782"/>
                    </a:cubicBezTo>
                    <a:lnTo>
                      <a:pt x="1625670" y="1507942"/>
                    </a:lnTo>
                    <a:cubicBezTo>
                      <a:pt x="1630383" y="1538060"/>
                      <a:pt x="1621778" y="1568792"/>
                      <a:pt x="1601699" y="1592149"/>
                    </a:cubicBezTo>
                    <a:cubicBezTo>
                      <a:pt x="1581825" y="1615506"/>
                      <a:pt x="1552937" y="1628823"/>
                      <a:pt x="1522204" y="1628823"/>
                    </a:cubicBezTo>
                    <a:lnTo>
                      <a:pt x="104410" y="1628823"/>
                    </a:lnTo>
                    <a:cubicBezTo>
                      <a:pt x="73678" y="1628823"/>
                      <a:pt x="44789" y="1615506"/>
                      <a:pt x="24916" y="1592149"/>
                    </a:cubicBezTo>
                    <a:cubicBezTo>
                      <a:pt x="5042" y="1568997"/>
                      <a:pt x="-3563" y="1538265"/>
                      <a:pt x="1354" y="1507942"/>
                    </a:cubicBezTo>
                    <a:lnTo>
                      <a:pt x="83102" y="997782"/>
                    </a:lnTo>
                    <a:cubicBezTo>
                      <a:pt x="93347" y="933654"/>
                      <a:pt x="147846" y="887145"/>
                      <a:pt x="212794" y="887145"/>
                    </a:cubicBezTo>
                    <a:close/>
                    <a:moveTo>
                      <a:pt x="813512" y="411816"/>
                    </a:moveTo>
                    <a:cubicBezTo>
                      <a:pt x="751842" y="411816"/>
                      <a:pt x="701851" y="461807"/>
                      <a:pt x="701851" y="523477"/>
                    </a:cubicBezTo>
                    <a:cubicBezTo>
                      <a:pt x="701851" y="585147"/>
                      <a:pt x="751842" y="635139"/>
                      <a:pt x="813512" y="635139"/>
                    </a:cubicBezTo>
                    <a:cubicBezTo>
                      <a:pt x="875182" y="635139"/>
                      <a:pt x="925174" y="585147"/>
                      <a:pt x="925174" y="523477"/>
                    </a:cubicBezTo>
                    <a:cubicBezTo>
                      <a:pt x="925174" y="461807"/>
                      <a:pt x="875182" y="411816"/>
                      <a:pt x="813512" y="411816"/>
                    </a:cubicBezTo>
                    <a:close/>
                    <a:moveTo>
                      <a:pt x="813512" y="309374"/>
                    </a:moveTo>
                    <a:cubicBezTo>
                      <a:pt x="931525" y="309374"/>
                      <a:pt x="1027616" y="405464"/>
                      <a:pt x="1027616" y="523477"/>
                    </a:cubicBezTo>
                    <a:cubicBezTo>
                      <a:pt x="1027616" y="641490"/>
                      <a:pt x="931525" y="737581"/>
                      <a:pt x="813512" y="737581"/>
                    </a:cubicBezTo>
                    <a:cubicBezTo>
                      <a:pt x="695499" y="737581"/>
                      <a:pt x="599409" y="641490"/>
                      <a:pt x="599409" y="523477"/>
                    </a:cubicBezTo>
                    <a:cubicBezTo>
                      <a:pt x="599409" y="405464"/>
                      <a:pt x="695499" y="309374"/>
                      <a:pt x="813512" y="309374"/>
                    </a:cubicBezTo>
                    <a:close/>
                    <a:moveTo>
                      <a:pt x="813512" y="102442"/>
                    </a:moveTo>
                    <a:cubicBezTo>
                      <a:pt x="594286" y="102442"/>
                      <a:pt x="416038" y="280690"/>
                      <a:pt x="416038" y="499916"/>
                    </a:cubicBezTo>
                    <a:cubicBezTo>
                      <a:pt x="416038" y="550727"/>
                      <a:pt x="432633" y="620592"/>
                      <a:pt x="464185" y="701726"/>
                    </a:cubicBezTo>
                    <a:cubicBezTo>
                      <a:pt x="493893" y="777943"/>
                      <a:pt x="535075" y="860716"/>
                      <a:pt x="583428" y="940825"/>
                    </a:cubicBezTo>
                    <a:cubicBezTo>
                      <a:pt x="629526" y="1017247"/>
                      <a:pt x="679723" y="1086702"/>
                      <a:pt x="724387" y="1136284"/>
                    </a:cubicBezTo>
                    <a:cubicBezTo>
                      <a:pt x="783189" y="1201437"/>
                      <a:pt x="810234" y="1208403"/>
                      <a:pt x="813512" y="1209018"/>
                    </a:cubicBezTo>
                    <a:cubicBezTo>
                      <a:pt x="816790" y="1208403"/>
                      <a:pt x="843834" y="1201437"/>
                      <a:pt x="902636" y="1136284"/>
                    </a:cubicBezTo>
                    <a:cubicBezTo>
                      <a:pt x="947506" y="1086702"/>
                      <a:pt x="997497" y="1017247"/>
                      <a:pt x="1043596" y="940825"/>
                    </a:cubicBezTo>
                    <a:cubicBezTo>
                      <a:pt x="1091948" y="860511"/>
                      <a:pt x="1133130" y="777943"/>
                      <a:pt x="1162838" y="701726"/>
                    </a:cubicBezTo>
                    <a:cubicBezTo>
                      <a:pt x="1194390" y="620592"/>
                      <a:pt x="1210986" y="550727"/>
                      <a:pt x="1210986" y="499916"/>
                    </a:cubicBezTo>
                    <a:cubicBezTo>
                      <a:pt x="1210986" y="280690"/>
                      <a:pt x="1032737" y="102442"/>
                      <a:pt x="813512" y="102442"/>
                    </a:cubicBezTo>
                    <a:close/>
                    <a:moveTo>
                      <a:pt x="813307" y="0"/>
                    </a:moveTo>
                    <a:cubicBezTo>
                      <a:pt x="946686" y="0"/>
                      <a:pt x="1072280" y="52040"/>
                      <a:pt x="1166731" y="146492"/>
                    </a:cubicBezTo>
                    <a:cubicBezTo>
                      <a:pt x="1261182" y="240943"/>
                      <a:pt x="1313223" y="366332"/>
                      <a:pt x="1313223" y="499916"/>
                    </a:cubicBezTo>
                    <a:cubicBezTo>
                      <a:pt x="1313223" y="680418"/>
                      <a:pt x="1171238" y="928122"/>
                      <a:pt x="1127598" y="999627"/>
                    </a:cubicBezTo>
                    <a:cubicBezTo>
                      <a:pt x="1077402" y="1082400"/>
                      <a:pt x="1022493" y="1157387"/>
                      <a:pt x="973116" y="1210862"/>
                    </a:cubicBezTo>
                    <a:cubicBezTo>
                      <a:pt x="910012" y="1279293"/>
                      <a:pt x="859201" y="1311254"/>
                      <a:pt x="813512" y="1311254"/>
                    </a:cubicBezTo>
                    <a:cubicBezTo>
                      <a:pt x="767823" y="1311254"/>
                      <a:pt x="717012" y="1279293"/>
                      <a:pt x="653908" y="1210862"/>
                    </a:cubicBezTo>
                    <a:cubicBezTo>
                      <a:pt x="604531" y="1157387"/>
                      <a:pt x="549622" y="1082195"/>
                      <a:pt x="499220" y="999627"/>
                    </a:cubicBezTo>
                    <a:cubicBezTo>
                      <a:pt x="455785" y="927917"/>
                      <a:pt x="313596" y="680418"/>
                      <a:pt x="313596" y="499916"/>
                    </a:cubicBezTo>
                    <a:cubicBezTo>
                      <a:pt x="313596" y="366332"/>
                      <a:pt x="365636" y="240943"/>
                      <a:pt x="460088" y="146492"/>
                    </a:cubicBezTo>
                    <a:cubicBezTo>
                      <a:pt x="554539" y="52040"/>
                      <a:pt x="679928" y="0"/>
                      <a:pt x="813307" y="0"/>
                    </a:cubicBezTo>
                    <a:close/>
                  </a:path>
                </a:pathLst>
              </a:custGeom>
              <a:solidFill>
                <a:sysClr val="window" lastClr="FFFFFF"/>
              </a:solidFill>
              <a:ln w="2046"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Gill Sans MT" panose="020B0502020104020203"/>
                  <a:ea typeface="华文中宋" panose="02010600040101010101" pitchFamily="2" charset="-122"/>
                  <a:cs typeface="+mn-cs"/>
                </a:endParaRPr>
              </a:p>
            </p:txBody>
          </p:sp>
        </p:grpSp>
        <p:sp>
          <p:nvSpPr>
            <p:cNvPr id="300" name="文本框 21"/>
            <p:cNvSpPr txBox="1"/>
            <p:nvPr/>
          </p:nvSpPr>
          <p:spPr>
            <a:xfrm>
              <a:off x="1297172" y="5491781"/>
              <a:ext cx="10972800" cy="1739900"/>
            </a:xfrm>
            <a:prstGeom prst="rect">
              <a:avLst/>
            </a:prstGeom>
            <a:noFill/>
          </p:spPr>
          <p:txBody>
            <a:bodyPr wrap="square">
              <a:spAutoFit/>
            </a:bodyPr>
            <a:lstStyle>
              <a:defPPr>
                <a:defRPr lang="zh-CN"/>
              </a:defPPr>
              <a:lvl1pPr>
                <a:defRPr>
                  <a:latin typeface="黑体" panose="02010609060101010101" pitchFamily="49" charset="-122"/>
                  <a:ea typeface="黑体" panose="02010609060101010101" pitchFamily="49" charset="-122"/>
                </a:defRPr>
              </a:lvl1pPr>
            </a:lstStyle>
            <a:p>
              <a:pPr marL="285750" lvl="0" indent="-285750">
                <a:lnSpc>
                  <a:spcPct val="150000"/>
                </a:lnSpc>
                <a:buFont typeface="Wingdings" panose="05000000000000000000" pitchFamily="2" charset="2"/>
                <a:buChar char="ü"/>
                <a:defRPr sz="1800">
                  <a:solidFill>
                    <a:schemeClr val="tx1">
                      <a:alpha val="100000"/>
                    </a:schemeClr>
                  </a:solidFill>
                  <a:latin typeface="黑体"/>
                  <a:ea typeface="黑体"/>
                  <a:cs typeface="+mn-cs"/>
                </a:defRPr>
              </a:pPr>
              <a:r>
                <a:rPr lang="zh-CN" b="1">
                  <a:solidFill>
                    <a:srgbClr val="2C2C2C">
                      <a:alpha val="100000"/>
                    </a:srgbClr>
                  </a:solidFill>
                  <a:latin typeface="华文中宋"/>
                  <a:ea typeface="华文中宋"/>
                  <a:cs typeface="+mn-cs"/>
                </a:rPr>
                <a:t>优化异步跟踪方案</a:t>
              </a:r>
              <a:r>
                <a:rPr lang="zh-CN">
                  <a:solidFill>
                    <a:srgbClr val="2C2C2C">
                      <a:alpha val="100000"/>
                    </a:srgbClr>
                  </a:solidFill>
                  <a:latin typeface="华文中宋"/>
                  <a:ea typeface="华文中宋"/>
                  <a:cs typeface="+mn-cs"/>
                </a:rPr>
                <a:t>，将异步跟踪从</a:t>
              </a:r>
              <a:r>
                <a:rPr lang="zh-CN" b="1">
                  <a:solidFill>
                    <a:srgbClr val="C00000">
                      <a:alpha val="100000"/>
                    </a:srgbClr>
                  </a:solidFill>
                  <a:latin typeface="华文中宋"/>
                  <a:ea typeface="华文中宋"/>
                  <a:cs typeface="+mn-cs"/>
                </a:rPr>
                <a:t>静态预分析</a:t>
              </a:r>
              <a:r>
                <a:rPr lang="zh-CN">
                  <a:solidFill>
                    <a:srgbClr val="2C2C2C">
                      <a:alpha val="100000"/>
                    </a:srgbClr>
                  </a:solidFill>
                  <a:latin typeface="华文中宋"/>
                  <a:ea typeface="华文中宋"/>
                  <a:cs typeface="+mn-cs"/>
                </a:rPr>
                <a:t>改为运行时</a:t>
              </a:r>
              <a:r>
                <a:rPr lang="zh-CN" b="1">
                  <a:solidFill>
                    <a:srgbClr val="C00000">
                      <a:alpha val="100000"/>
                    </a:srgbClr>
                  </a:solidFill>
                  <a:latin typeface="华文中宋"/>
                  <a:ea typeface="华文中宋"/>
                  <a:cs typeface="+mn-cs"/>
                </a:rPr>
                <a:t>按需发现</a:t>
              </a:r>
              <a:r>
                <a:rPr lang="zh-CN">
                  <a:solidFill>
                    <a:srgbClr val="2C2C2C">
                      <a:alpha val="100000"/>
                    </a:srgbClr>
                  </a:solidFill>
                  <a:latin typeface="华文中宋"/>
                  <a:ea typeface="华文中宋"/>
                  <a:cs typeface="+mn-cs"/>
                </a:rPr>
                <a:t>；</a:t>
              </a:r>
              <a:endParaRPr/>
            </a:p>
            <a:p>
              <a:pPr marL="285750" lvl="0" indent="-285750">
                <a:lnSpc>
                  <a:spcPct val="150000"/>
                </a:lnSpc>
                <a:buFont typeface="Wingdings" panose="05000000000000000000" pitchFamily="2" charset="2"/>
                <a:buChar char="ü"/>
                <a:defRPr sz="1800">
                  <a:solidFill>
                    <a:schemeClr val="tx1">
                      <a:alpha val="100000"/>
                    </a:schemeClr>
                  </a:solidFill>
                  <a:latin typeface="黑体"/>
                  <a:ea typeface="黑体"/>
                  <a:cs typeface="+mn-cs"/>
                </a:defRPr>
              </a:pPr>
              <a:r>
                <a:rPr lang="zh-CN">
                  <a:solidFill>
                    <a:srgbClr val="2C2C2C">
                      <a:alpha val="100000"/>
                    </a:srgbClr>
                  </a:solidFill>
                  <a:latin typeface="华文中宋"/>
                  <a:ea typeface="华文中宋"/>
                  <a:cs typeface="+mn-cs"/>
                </a:rPr>
                <a:t>实现</a:t>
              </a:r>
              <a:r>
                <a:rPr lang="zh-CN" b="1">
                  <a:solidFill>
                    <a:srgbClr val="C00000">
                      <a:alpha val="100000"/>
                    </a:srgbClr>
                  </a:solidFill>
                  <a:latin typeface="华文中宋"/>
                  <a:ea typeface="华文中宋"/>
                  <a:cs typeface="+mn-cs"/>
                </a:rPr>
                <a:t>异步跟踪</a:t>
              </a:r>
              <a:r>
                <a:rPr lang="zh-CN">
                  <a:solidFill>
                    <a:srgbClr val="2C2C2C">
                      <a:alpha val="100000"/>
                    </a:srgbClr>
                  </a:solidFill>
                  <a:latin typeface="华文中宋"/>
                  <a:ea typeface="华文中宋"/>
                  <a:cs typeface="+mn-cs"/>
                </a:rPr>
                <a:t>与</a:t>
              </a:r>
              <a:r>
                <a:rPr lang="zh-CN" b="1">
                  <a:solidFill>
                    <a:srgbClr val="C00000">
                      <a:alpha val="100000"/>
                    </a:srgbClr>
                  </a:solidFill>
                  <a:latin typeface="华文中宋"/>
                  <a:ea typeface="华文中宋"/>
                  <a:cs typeface="+mn-cs"/>
                </a:rPr>
                <a:t>特权级切换</a:t>
              </a:r>
              <a:r>
                <a:rPr lang="zh-CN">
                  <a:solidFill>
                    <a:srgbClr val="2C2C2C">
                      <a:alpha val="100000"/>
                    </a:srgbClr>
                  </a:solidFill>
                  <a:latin typeface="华文中宋"/>
                  <a:ea typeface="华文中宋"/>
                  <a:cs typeface="+mn-cs"/>
                </a:rPr>
                <a:t>的融合；</a:t>
              </a:r>
              <a:endParaRPr lang="en-US">
                <a:solidFill>
                  <a:srgbClr val="2C2C2C">
                    <a:alpha val="100000"/>
                  </a:srgbClr>
                </a:solidFill>
                <a:latin typeface="华文中宋"/>
                <a:ea typeface="华文中宋"/>
                <a:cs typeface="+mn-cs"/>
              </a:endParaRPr>
            </a:p>
            <a:p>
              <a:pPr marL="285750" lvl="0" indent="-285750">
                <a:lnSpc>
                  <a:spcPct val="150000"/>
                </a:lnSpc>
                <a:buFont typeface="Wingdings" panose="05000000000000000000" pitchFamily="2" charset="2"/>
                <a:buChar char="ü"/>
                <a:defRPr sz="1800">
                  <a:solidFill>
                    <a:schemeClr val="tx1">
                      <a:alpha val="100000"/>
                    </a:schemeClr>
                  </a:solidFill>
                  <a:latin typeface="黑体"/>
                  <a:ea typeface="黑体"/>
                  <a:cs typeface="+mn-cs"/>
                </a:defRPr>
              </a:pPr>
              <a:r>
                <a:rPr lang="zh-CN">
                  <a:solidFill>
                    <a:srgbClr val="2C2C2C">
                      <a:alpha val="100000"/>
                    </a:srgbClr>
                  </a:solidFill>
                  <a:latin typeface="华文中宋"/>
                  <a:ea typeface="华文中宋"/>
                  <a:cs typeface="+mn-cs"/>
                </a:rPr>
                <a:t>完成 </a:t>
              </a:r>
              <a:r>
                <a:rPr lang="en-US">
                  <a:solidFill>
                    <a:srgbClr val="2C2C2C">
                      <a:alpha val="100000"/>
                    </a:srgbClr>
                  </a:solidFill>
                  <a:latin typeface="华文中宋"/>
                  <a:ea typeface="华文中宋"/>
                  <a:cs typeface="+mn-cs"/>
                </a:rPr>
                <a:t>VS Code </a:t>
              </a:r>
              <a:r>
                <a:rPr lang="zh-CN" b="1">
                  <a:solidFill>
                    <a:srgbClr val="C00000">
                      <a:alpha val="100000"/>
                    </a:srgbClr>
                  </a:solidFill>
                  <a:latin typeface="华文中宋"/>
                  <a:ea typeface="华文中宋"/>
                  <a:cs typeface="+mn-cs"/>
                </a:rPr>
                <a:t>图形化插件</a:t>
              </a:r>
              <a:r>
                <a:rPr lang="zh-CN">
                  <a:solidFill>
                    <a:srgbClr val="2C2C2C">
                      <a:alpha val="100000"/>
                    </a:srgbClr>
                  </a:solidFill>
                  <a:latin typeface="华文中宋"/>
                  <a:ea typeface="华文中宋"/>
                  <a:cs typeface="+mn-cs"/>
                </a:rPr>
                <a:t>；</a:t>
              </a:r>
              <a:endParaRPr lang="en-US">
                <a:solidFill>
                  <a:srgbClr val="2C2C2C">
                    <a:alpha val="100000"/>
                  </a:srgbClr>
                </a:solidFill>
                <a:latin typeface="华文中宋"/>
                <a:ea typeface="华文中宋"/>
                <a:cs typeface="+mn-cs"/>
              </a:endParaRPr>
            </a:p>
            <a:p>
              <a:pPr marL="285750" lvl="0" indent="-285750">
                <a:lnSpc>
                  <a:spcPct val="150000"/>
                </a:lnSpc>
                <a:buFont typeface="Wingdings" panose="05000000000000000000" pitchFamily="2" charset="2"/>
                <a:buChar char="ü"/>
                <a:defRPr sz="1800">
                  <a:solidFill>
                    <a:schemeClr val="tx1">
                      <a:alpha val="100000"/>
                    </a:schemeClr>
                  </a:solidFill>
                  <a:latin typeface="黑体"/>
                  <a:ea typeface="黑体"/>
                  <a:cs typeface="+mn-cs"/>
                </a:defRPr>
              </a:pPr>
              <a:r>
                <a:rPr lang="zh-CN" b="1">
                  <a:solidFill>
                    <a:srgbClr val="2C2C2C">
                      <a:alpha val="100000"/>
                    </a:srgbClr>
                  </a:solidFill>
                  <a:latin typeface="华文中宋"/>
                  <a:ea typeface="华文中宋"/>
                  <a:cs typeface="+mn-cs"/>
                </a:rPr>
                <a:t>面向不同操作系统的通用化改进</a:t>
              </a:r>
              <a:r>
                <a:rPr lang="zh-CN">
                  <a:solidFill>
                    <a:srgbClr val="2C2C2C">
                      <a:alpha val="100000"/>
                    </a:srgbClr>
                  </a:solidFill>
                  <a:latin typeface="华文中宋"/>
                  <a:ea typeface="华文中宋"/>
                  <a:cs typeface="+mn-cs"/>
                </a:rPr>
                <a:t>，将调试器从教学 </a:t>
              </a:r>
              <a:r>
                <a:rPr lang="en-US">
                  <a:solidFill>
                    <a:srgbClr val="2C2C2C">
                      <a:alpha val="100000"/>
                    </a:srgbClr>
                  </a:solidFill>
                  <a:latin typeface="华文中宋"/>
                  <a:ea typeface="华文中宋"/>
                  <a:cs typeface="+mn-cs"/>
                </a:rPr>
                <a:t>OS </a:t>
              </a:r>
              <a:r>
                <a:rPr lang="zh-CN">
                  <a:solidFill>
                    <a:srgbClr val="2C2C2C">
                      <a:alpha val="100000"/>
                    </a:srgbClr>
                  </a:solidFill>
                  <a:latin typeface="华文中宋"/>
                  <a:ea typeface="华文中宋"/>
                  <a:cs typeface="+mn-cs"/>
                </a:rPr>
                <a:t>推广至</a:t>
              </a:r>
              <a:r>
                <a:rPr lang="zh-CN" b="1">
                  <a:solidFill>
                    <a:srgbClr val="C00000">
                      <a:alpha val="100000"/>
                    </a:srgbClr>
                  </a:solidFill>
                  <a:latin typeface="华文中宋"/>
                  <a:ea typeface="华文中宋"/>
                  <a:cs typeface="+mn-cs"/>
                </a:rPr>
                <a:t>组件化 </a:t>
              </a:r>
              <a:r>
                <a:rPr lang="en-US" b="1">
                  <a:solidFill>
                    <a:srgbClr val="C00000">
                      <a:alpha val="100000"/>
                    </a:srgbClr>
                  </a:solidFill>
                  <a:latin typeface="华文中宋"/>
                  <a:ea typeface="华文中宋"/>
                  <a:cs typeface="+mn-cs"/>
                </a:rPr>
                <a:t>OS </a:t>
              </a:r>
              <a:r>
                <a:rPr lang="zh-CN" b="1">
                  <a:solidFill>
                    <a:srgbClr val="C00000">
                      <a:alpha val="100000"/>
                    </a:srgbClr>
                  </a:solidFill>
                  <a:latin typeface="华文中宋"/>
                  <a:ea typeface="华文中宋"/>
                  <a:cs typeface="+mn-cs"/>
                </a:rPr>
                <a:t>和异步 </a:t>
              </a:r>
              <a:r>
                <a:rPr lang="en-US" b="1">
                  <a:solidFill>
                    <a:srgbClr val="C00000">
                      <a:alpha val="100000"/>
                    </a:srgbClr>
                  </a:solidFill>
                  <a:latin typeface="华文中宋"/>
                  <a:ea typeface="华文中宋"/>
                  <a:cs typeface="+mn-cs"/>
                </a:rPr>
                <a:t>OS</a:t>
              </a:r>
              <a:r>
                <a:rPr lang="zh-CN">
                  <a:solidFill>
                    <a:srgbClr val="2C2C2C">
                      <a:alpha val="100000"/>
                    </a:srgbClr>
                  </a:solidFill>
                  <a:latin typeface="华文中宋"/>
                  <a:ea typeface="华文中宋"/>
                  <a:cs typeface="+mn-cs"/>
                </a:rPr>
                <a:t>。</a:t>
              </a:r>
              <a:endParaRPr/>
            </a:p>
          </p:txBody>
        </p:sp>
      </p:grpSp>
      <p:sp>
        <p:nvSpPr>
          <p:cNvPr id="301" name="TextBox 23"/>
          <p:cNvSpPr txBox="1"/>
          <p:nvPr/>
        </p:nvSpPr>
        <p:spPr>
          <a:xfrm>
            <a:off x="11384280" y="6419088"/>
            <a:ext cx="457200" cy="228600"/>
          </a:xfrm>
          <a:prstGeom prst="rect">
            <a:avLst/>
          </a:prstGeom>
          <a:noFill/>
        </p:spPr>
        <p:txBody>
          <a:bodyPr wrap="square" lIns="109728" tIns="54864" rIns="109728" bIns="36576" anchor="ctr">
            <a:spAutoFit/>
          </a:bodyPr>
          <a:lstStyle/>
          <a:p>
            <a:pPr algn="r">
              <a:spcAft>
                <a:spcPts val="0"/>
              </a:spcAft>
            </a:pPr>
            <a:r>
              <a:rPr sz="1100" b="0">
                <a:solidFill>
                  <a:srgbClr val="666666"/>
                </a:solidFill>
                <a:latin typeface="华文中宋"/>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TextBox 198"/>
          <p:cNvSpPr txBox="1"/>
          <p:nvPr/>
        </p:nvSpPr>
        <p:spPr>
          <a:xfrm>
            <a:off x="11384280" y="6441313"/>
            <a:ext cx="457200" cy="184150"/>
          </a:xfrm>
          <a:prstGeom prst="rect">
            <a:avLst/>
          </a:prstGeom>
          <a:noFill/>
        </p:spPr>
        <p:txBody>
          <a:bodyPr wrap="square" lIns="45720" tIns="9144" rIns="45720" bIns="9144" anchor="ctr">
            <a:spAutoFit/>
          </a:bodyPr>
          <a:lstStyle/>
          <a:p>
            <a:pPr algn="r">
              <a:spcAft>
                <a:spcPts val="0"/>
              </a:spcAft>
            </a:pPr>
            <a:r>
              <a:rPr lang="en-US" sz="1100" b="0">
                <a:solidFill>
                  <a:srgbClr val="666666">
                    <a:alpha val="100000"/>
                  </a:srgbClr>
                </a:solidFill>
                <a:latin typeface="华文中宋"/>
                <a:ea typeface="华文中宋"/>
                <a:cs typeface="华文中宋"/>
              </a:rPr>
              <a:t>5</a:t>
            </a:r>
            <a:endParaRPr/>
          </a:p>
        </p:txBody>
      </p:sp>
      <p:sp>
        <p:nvSpPr>
          <p:cNvPr id="304" name="TextBox 199"/>
          <p:cNvSpPr txBox="1"/>
          <p:nvPr/>
        </p:nvSpPr>
        <p:spPr>
          <a:xfrm>
            <a:off x="612648" y="870204"/>
            <a:ext cx="10972800" cy="381000"/>
          </a:xfrm>
          <a:prstGeom prst="rect">
            <a:avLst/>
          </a:prstGeom>
          <a:noFill/>
        </p:spPr>
        <p:txBody>
          <a:bodyPr wrap="square" lIns="45720" tIns="9144" rIns="45720" bIns="9144" anchor="ctr">
            <a:spAutoFit/>
          </a:bodyPr>
          <a:lstStyle/>
          <a:p>
            <a:pPr algn="l">
              <a:spcAft>
                <a:spcPts val="0"/>
              </a:spcAft>
            </a:pPr>
            <a:r>
              <a:rPr lang="zh-CN" sz="2400" b="1">
                <a:solidFill>
                  <a:srgbClr val="052E68">
                    <a:alpha val="100000"/>
                  </a:srgbClr>
                </a:solidFill>
                <a:latin typeface="思源宋体 CN Heavy"/>
                <a:ea typeface="思源宋体 CN Heavy"/>
                <a:cs typeface="思源宋体 CN Heavy"/>
              </a:rPr>
              <a:t>解决的关键问题</a:t>
            </a:r>
            <a:endParaRPr/>
          </a:p>
        </p:txBody>
      </p:sp>
      <p:grpSp>
        <p:nvGrpSpPr>
          <p:cNvPr id="305" name="组合 304"/>
          <p:cNvGrpSpPr/>
          <p:nvPr/>
        </p:nvGrpSpPr>
        <p:grpSpPr>
          <a:xfrm>
            <a:off x="612647" y="1569798"/>
            <a:ext cx="9836150" cy="887186"/>
            <a:chOff x="672162" y="1763207"/>
            <a:chExt cx="9836150" cy="887183"/>
          </a:xfrm>
        </p:grpSpPr>
        <p:sp>
          <p:nvSpPr>
            <p:cNvPr id="306" name="文本框 305"/>
            <p:cNvSpPr txBox="1"/>
            <p:nvPr/>
          </p:nvSpPr>
          <p:spPr>
            <a:xfrm>
              <a:off x="672162" y="1763207"/>
              <a:ext cx="9836150" cy="393699"/>
            </a:xfrm>
            <a:prstGeom prst="rect">
              <a:avLst/>
            </a:prstGeom>
            <a:ln w="12700">
              <a:prstDash val="solid"/>
            </a:ln>
          </p:spPr>
          <p:txBody>
            <a:bodyPr wrap="none">
              <a:spAutoFit/>
            </a:bodyPr>
            <a:lstStyle/>
            <a:p>
              <a:pPr indent="0">
                <a:buNone/>
              </a:pPr>
              <a:r>
                <a:rPr lang="en-US" sz="2000" b="1"/>
                <a:t>1. </a:t>
              </a:r>
              <a:r>
                <a:rPr lang="zh-CN" sz="2000" b="1"/>
                <a:t>取消调试前静态分析调试信息模块，</a:t>
              </a:r>
              <a:r>
                <a:rPr lang="zh-CN" sz="2000" b="1">
                  <a:solidFill>
                    <a:schemeClr val="tx1">
                      <a:alpha val="100000"/>
                    </a:schemeClr>
                  </a:solidFill>
                </a:rPr>
                <a:t>从根本上</a:t>
              </a:r>
              <a:r>
                <a:rPr lang="zh-CN" sz="2000" b="1">
                  <a:solidFill>
                    <a:srgbClr val="C00000">
                      <a:alpha val="100000"/>
                    </a:srgbClr>
                  </a:solidFill>
                </a:rPr>
                <a:t>解决原异步跟踪方案插桩开销大的问题</a:t>
              </a:r>
              <a:endParaRPr/>
            </a:p>
          </p:txBody>
        </p:sp>
        <p:sp>
          <p:nvSpPr>
            <p:cNvPr id="307" name="文本框 306"/>
            <p:cNvSpPr txBox="1"/>
            <p:nvPr/>
          </p:nvSpPr>
          <p:spPr>
            <a:xfrm>
              <a:off x="847509" y="2282091"/>
              <a:ext cx="7689850" cy="368300"/>
            </a:xfrm>
            <a:prstGeom prst="rect">
              <a:avLst/>
            </a:prstGeom>
            <a:ln w="12700">
              <a:prstDash val="solid"/>
            </a:ln>
          </p:spPr>
          <p:txBody>
            <a:bodyPr wrap="none">
              <a:spAutoFit/>
            </a:bodyPr>
            <a:lstStyle/>
            <a:p>
              <a:pPr marL="285750" indent="-285750">
                <a:buFont typeface="Wingdings" charset="2"/>
                <a:buChar char="ü"/>
              </a:pPr>
              <a:r>
                <a:rPr lang="zh-CN" b="0"/>
                <a:t>运行时按需发现并插桩、区分同一类型的不同实例、引入</a:t>
              </a:r>
              <a:r>
                <a:rPr lang="en-US" b="0"/>
                <a:t>trace root</a:t>
              </a:r>
              <a:r>
                <a:rPr lang="zh-CN" b="0"/>
                <a:t>概念</a:t>
              </a:r>
              <a:endParaRPr/>
            </a:p>
          </p:txBody>
        </p:sp>
      </p:grpSp>
      <p:grpSp>
        <p:nvGrpSpPr>
          <p:cNvPr id="308" name="组合 307"/>
          <p:cNvGrpSpPr/>
          <p:nvPr/>
        </p:nvGrpSpPr>
        <p:grpSpPr>
          <a:xfrm>
            <a:off x="612648" y="2711105"/>
            <a:ext cx="7270750" cy="887179"/>
            <a:chOff x="612648" y="2775575"/>
            <a:chExt cx="7270750" cy="887181"/>
          </a:xfrm>
        </p:grpSpPr>
        <p:sp>
          <p:nvSpPr>
            <p:cNvPr id="309" name="文本框 308"/>
            <p:cNvSpPr txBox="1"/>
            <p:nvPr/>
          </p:nvSpPr>
          <p:spPr>
            <a:xfrm>
              <a:off x="612648" y="2775575"/>
              <a:ext cx="7270750" cy="393700"/>
            </a:xfrm>
            <a:prstGeom prst="rect">
              <a:avLst/>
            </a:prstGeom>
            <a:ln w="12700">
              <a:prstDash val="solid"/>
            </a:ln>
          </p:spPr>
          <p:txBody>
            <a:bodyPr wrap="none">
              <a:spAutoFit/>
            </a:bodyPr>
            <a:lstStyle/>
            <a:p>
              <a:pPr indent="0">
                <a:buNone/>
              </a:pPr>
              <a:r>
                <a:rPr lang="en-US" sz="2000" b="1"/>
                <a:t>2. </a:t>
              </a:r>
              <a:r>
                <a:rPr lang="zh-CN" sz="2000" b="1"/>
                <a:t>设计</a:t>
              </a:r>
              <a:r>
                <a:rPr lang="en-US" sz="2000" b="1"/>
                <a:t> save/restore </a:t>
              </a:r>
              <a:r>
                <a:rPr lang="zh-CN" sz="2000" b="1"/>
                <a:t>机制，</a:t>
              </a:r>
              <a:r>
                <a:rPr lang="zh-CN" sz="2000" b="1">
                  <a:solidFill>
                    <a:srgbClr val="C00000">
                      <a:alpha val="100000"/>
                    </a:srgbClr>
                  </a:solidFill>
                </a:rPr>
                <a:t>解决异步跟踪与跨特权级调试冲突</a:t>
              </a:r>
              <a:endParaRPr/>
            </a:p>
          </p:txBody>
        </p:sp>
        <p:sp>
          <p:nvSpPr>
            <p:cNvPr id="310" name="文本框 309"/>
            <p:cNvSpPr txBox="1"/>
            <p:nvPr/>
          </p:nvSpPr>
          <p:spPr>
            <a:xfrm>
              <a:off x="787995" y="3294459"/>
              <a:ext cx="5505450" cy="368299"/>
            </a:xfrm>
            <a:prstGeom prst="rect">
              <a:avLst/>
            </a:prstGeom>
            <a:ln w="12700">
              <a:prstDash val="solid"/>
            </a:ln>
          </p:spPr>
          <p:txBody>
            <a:bodyPr wrap="none">
              <a:spAutoFit/>
            </a:bodyPr>
            <a:lstStyle/>
            <a:p>
              <a:pPr marL="285750" indent="-285750">
                <a:buFont typeface="Wingdings" charset="2"/>
                <a:buChar char="ü"/>
              </a:pPr>
              <a:r>
                <a:rPr lang="zh-CN" b="0"/>
                <a:t>实现异步操作系统调试功能、基于</a:t>
              </a:r>
              <a:r>
                <a:rPr lang="en-US" b="0"/>
                <a:t> async-os </a:t>
              </a:r>
              <a:r>
                <a:rPr lang="zh-CN" b="0"/>
                <a:t>验证</a:t>
              </a:r>
              <a:endParaRPr/>
            </a:p>
          </p:txBody>
        </p:sp>
      </p:grpSp>
      <p:grpSp>
        <p:nvGrpSpPr>
          <p:cNvPr id="311" name="组合 310"/>
          <p:cNvGrpSpPr/>
          <p:nvPr/>
        </p:nvGrpSpPr>
        <p:grpSpPr>
          <a:xfrm>
            <a:off x="612648" y="3852412"/>
            <a:ext cx="6584950" cy="887179"/>
            <a:chOff x="612648" y="3787943"/>
            <a:chExt cx="6584950" cy="887181"/>
          </a:xfrm>
        </p:grpSpPr>
        <p:sp>
          <p:nvSpPr>
            <p:cNvPr id="312" name="文本框 311"/>
            <p:cNvSpPr txBox="1"/>
            <p:nvPr/>
          </p:nvSpPr>
          <p:spPr>
            <a:xfrm>
              <a:off x="612648" y="3787943"/>
              <a:ext cx="6584950" cy="393700"/>
            </a:xfrm>
            <a:prstGeom prst="rect">
              <a:avLst/>
            </a:prstGeom>
            <a:ln w="12700">
              <a:prstDash val="solid"/>
            </a:ln>
          </p:spPr>
          <p:txBody>
            <a:bodyPr wrap="none">
              <a:spAutoFit/>
            </a:bodyPr>
            <a:lstStyle/>
            <a:p>
              <a:pPr indent="0">
                <a:buNone/>
              </a:pPr>
              <a:r>
                <a:rPr lang="en-US" sz="2000" b="1"/>
                <a:t>3. </a:t>
              </a:r>
              <a:r>
                <a:rPr lang="zh-CN" sz="2000" b="1"/>
                <a:t>针对调试功能设计并实现展示界面，</a:t>
              </a:r>
              <a:r>
                <a:rPr lang="zh-CN" sz="2000" b="1">
                  <a:solidFill>
                    <a:srgbClr val="C00000">
                      <a:alpha val="100000"/>
                    </a:srgbClr>
                  </a:solidFill>
                </a:rPr>
                <a:t>将跟踪结果可视化</a:t>
              </a:r>
              <a:endParaRPr/>
            </a:p>
          </p:txBody>
        </p:sp>
        <p:sp>
          <p:nvSpPr>
            <p:cNvPr id="313" name="文本框 312"/>
            <p:cNvSpPr txBox="1"/>
            <p:nvPr/>
          </p:nvSpPr>
          <p:spPr>
            <a:xfrm>
              <a:off x="787995" y="4306827"/>
              <a:ext cx="3194050" cy="368299"/>
            </a:xfrm>
            <a:prstGeom prst="rect">
              <a:avLst/>
            </a:prstGeom>
            <a:ln w="12700">
              <a:prstDash val="solid"/>
            </a:ln>
          </p:spPr>
          <p:txBody>
            <a:bodyPr wrap="none">
              <a:spAutoFit/>
            </a:bodyPr>
            <a:lstStyle/>
            <a:p>
              <a:pPr marL="285750" indent="-285750">
                <a:buFont typeface="Wingdings" charset="2"/>
                <a:buChar char="ü"/>
              </a:pPr>
              <a:r>
                <a:rPr lang="en-US" b="0"/>
                <a:t>vs code </a:t>
              </a:r>
              <a:r>
                <a:rPr lang="zh-CN" b="0"/>
                <a:t>插件化、面板实现</a:t>
              </a:r>
              <a:endParaRPr/>
            </a:p>
          </p:txBody>
        </p:sp>
      </p:grpSp>
      <p:grpSp>
        <p:nvGrpSpPr>
          <p:cNvPr id="314" name="组合 313"/>
          <p:cNvGrpSpPr/>
          <p:nvPr/>
        </p:nvGrpSpPr>
        <p:grpSpPr>
          <a:xfrm>
            <a:off x="612648" y="4993718"/>
            <a:ext cx="6330950" cy="887177"/>
            <a:chOff x="612648" y="3787942"/>
            <a:chExt cx="6330954" cy="887187"/>
          </a:xfrm>
        </p:grpSpPr>
        <p:sp>
          <p:nvSpPr>
            <p:cNvPr id="315" name="文本框 314"/>
            <p:cNvSpPr txBox="1"/>
            <p:nvPr/>
          </p:nvSpPr>
          <p:spPr>
            <a:xfrm>
              <a:off x="612648" y="3787943"/>
              <a:ext cx="6330955" cy="393703"/>
            </a:xfrm>
            <a:prstGeom prst="rect">
              <a:avLst/>
            </a:prstGeom>
            <a:ln w="12700">
              <a:prstDash val="solid"/>
            </a:ln>
          </p:spPr>
          <p:txBody>
            <a:bodyPr wrap="none">
              <a:spAutoFit/>
            </a:bodyPr>
            <a:lstStyle/>
            <a:p>
              <a:pPr indent="0">
                <a:buNone/>
              </a:pPr>
              <a:r>
                <a:rPr lang="en-US" sz="2000" b="1"/>
                <a:t>4. </a:t>
              </a:r>
              <a:r>
                <a:rPr lang="zh-CN" sz="2000" b="1"/>
                <a:t>通过三套技术优化方案，</a:t>
              </a:r>
              <a:r>
                <a:rPr lang="zh-CN" sz="2000" b="1">
                  <a:solidFill>
                    <a:srgbClr val="C00000">
                      <a:alpha val="100000"/>
                    </a:srgbClr>
                  </a:solidFill>
                </a:rPr>
                <a:t>增强调试器的移植适配能力</a:t>
              </a:r>
              <a:endParaRPr/>
            </a:p>
          </p:txBody>
        </p:sp>
        <p:sp>
          <p:nvSpPr>
            <p:cNvPr id="316" name="文本框 315"/>
            <p:cNvSpPr txBox="1"/>
            <p:nvPr/>
          </p:nvSpPr>
          <p:spPr>
            <a:xfrm>
              <a:off x="787995" y="4306827"/>
              <a:ext cx="6007105" cy="368303"/>
            </a:xfrm>
            <a:prstGeom prst="rect">
              <a:avLst/>
            </a:prstGeom>
            <a:ln w="12700">
              <a:prstDash val="solid"/>
            </a:ln>
          </p:spPr>
          <p:txBody>
            <a:bodyPr wrap="none">
              <a:spAutoFit/>
            </a:bodyPr>
            <a:lstStyle/>
            <a:p>
              <a:pPr marL="285750" indent="-285750">
                <a:buFont typeface="Wingdings" charset="2"/>
                <a:buChar char="ü"/>
              </a:pPr>
              <a:r>
                <a:rPr lang="zh-CN" b="0"/>
                <a:t>通用性改进、支持调试组件化</a:t>
              </a:r>
              <a:r>
                <a:rPr lang="en-US" b="0"/>
                <a:t>OS</a:t>
              </a:r>
              <a:r>
                <a:rPr lang="zh-CN" b="0"/>
                <a:t>、基于</a:t>
              </a:r>
              <a:r>
                <a:rPr lang="en-US" b="0"/>
                <a:t> StarryOS </a:t>
              </a:r>
              <a:r>
                <a:rPr lang="zh-CN" b="0"/>
                <a:t>验证</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目标</a:t>
            </a:r>
            <a:r>
              <a:rPr lang="zh-CN" sz="2400" b="1">
                <a:solidFill>
                  <a:srgbClr val="052E68">
                    <a:alpha val="100000"/>
                  </a:srgbClr>
                </a:solidFill>
                <a:latin typeface="思源宋体 CN Heavy"/>
                <a:ea typeface="思源宋体 CN Heavy"/>
                <a:cs typeface="+mn-cs"/>
              </a:rPr>
              <a:t>拆解</a:t>
            </a:r>
            <a:endParaRPr/>
          </a:p>
        </p:txBody>
      </p:sp>
      <p:sp>
        <p:nvSpPr>
          <p:cNvPr id="319" name="TextBox 37"/>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lang="en-US" sz="1100" b="0">
                <a:solidFill>
                  <a:srgbClr val="666666">
                    <a:alpha val="100000"/>
                  </a:srgbClr>
                </a:solidFill>
                <a:latin typeface="华文中宋"/>
                <a:ea typeface="HarmonyOS Sans SC"/>
                <a:cs typeface="+mn-cs"/>
              </a:rPr>
              <a:t>6</a:t>
            </a:r>
            <a:endParaRPr/>
          </a:p>
        </p:txBody>
      </p:sp>
      <p:sp>
        <p:nvSpPr>
          <p:cNvPr id="320" name="TextBox 7"/>
          <p:cNvSpPr txBox="1"/>
          <p:nvPr/>
        </p:nvSpPr>
        <p:spPr>
          <a:xfrm>
            <a:off x="609904" y="1378000"/>
            <a:ext cx="10972800" cy="419100"/>
          </a:xfrm>
          <a:prstGeom prst="rect">
            <a:avLst/>
          </a:prstGeom>
          <a:noFill/>
        </p:spPr>
        <p:txBody>
          <a:bodyPr wrap="square">
            <a:spAutoFit/>
          </a:bodyPr>
          <a:lstStyle/>
          <a:p>
            <a:pPr algn="l">
              <a:lnSpc>
                <a:spcPct val="135000"/>
              </a:lnSpc>
              <a:spcAft>
                <a:spcPts val="200"/>
              </a:spcAft>
            </a:pPr>
            <a:r>
              <a:rPr lang="zh-CN" sz="1600" b="0">
                <a:solidFill>
                  <a:srgbClr val="666666">
                    <a:alpha val="100000"/>
                  </a:srgbClr>
                </a:solidFill>
                <a:latin typeface="华文中宋"/>
                <a:ea typeface="华文中宋"/>
                <a:cs typeface="+mn-cs"/>
              </a:rPr>
              <a:t>针对需要解决的四个核心问题进行目标拆解</a:t>
            </a:r>
            <a:endParaRPr/>
          </a:p>
        </p:txBody>
      </p:sp>
      <p:graphicFrame>
        <p:nvGraphicFramePr>
          <p:cNvPr id="321" name="表格 320"/>
          <p:cNvGraphicFramePr/>
          <p:nvPr/>
        </p:nvGraphicFramePr>
        <p:xfrm>
          <a:off x="406704" y="2088388"/>
          <a:ext cx="11588750" cy="3810000"/>
        </p:xfrm>
        <a:graphic>
          <a:graphicData uri="http://schemas.openxmlformats.org/drawingml/2006/table">
            <a:tbl>
              <a:tblPr firstRow="1" bandRow="1">
                <a:tableStyleId>{5C22544A-7EE6-4342-B048-85BDC9FD1C3A}</a:tableStyleId>
              </a:tblPr>
              <a:tblGrid>
                <a:gridCol w="3143250">
                  <a:extLst>
                    <a:ext uri="{9D8B030D-6E8A-4147-A177-3AD203B41FA5}">
                      <a16:colId xmlns:a16="http://schemas.microsoft.com/office/drawing/2014/main" val="1"/>
                    </a:ext>
                  </a:extLst>
                </a:gridCol>
                <a:gridCol w="3911600">
                  <a:extLst>
                    <a:ext uri="{9D8B030D-6E8A-4147-A177-3AD203B41FA5}">
                      <a16:colId xmlns:a16="http://schemas.microsoft.com/office/drawing/2014/main" val="2"/>
                    </a:ext>
                  </a:extLst>
                </a:gridCol>
                <a:gridCol w="4533900">
                  <a:extLst>
                    <a:ext uri="{9D8B030D-6E8A-4147-A177-3AD203B41FA5}">
                      <a16:colId xmlns:a16="http://schemas.microsoft.com/office/drawing/2014/main" val="3"/>
                    </a:ext>
                  </a:extLst>
                </a:gridCol>
              </a:tblGrid>
              <a:tr h="381000">
                <a:tc>
                  <a:txBody>
                    <a:bodyPr/>
                    <a:lstStyle/>
                    <a:p>
                      <a:pPr algn="ctr"/>
                      <a:r>
                        <a:rPr lang="zh-CN" b="1">
                          <a:latin typeface="SimSun"/>
                          <a:ea typeface="SimSun"/>
                          <a:cs typeface="+mn-cs"/>
                        </a:rPr>
                        <a:t>核心问题</a:t>
                      </a:r>
                      <a:endParaRPr/>
                    </a:p>
                  </a:txBody>
                  <a:tcPr/>
                </a:tc>
                <a:tc>
                  <a:txBody>
                    <a:bodyPr/>
                    <a:lstStyle/>
                    <a:p>
                      <a:pPr algn="ctr"/>
                      <a:r>
                        <a:rPr lang="zh-CN" b="1">
                          <a:latin typeface="SimSun"/>
                          <a:ea typeface="SimSun"/>
                          <a:cs typeface="+mn-cs"/>
                        </a:rPr>
                        <a:t>最终目标</a:t>
                      </a:r>
                      <a:endParaRPr/>
                    </a:p>
                  </a:txBody>
                  <a:tcPr/>
                </a:tc>
                <a:tc>
                  <a:txBody>
                    <a:bodyPr/>
                    <a:lstStyle/>
                    <a:p>
                      <a:pPr algn="ctr"/>
                      <a:r>
                        <a:rPr lang="zh-CN" b="1">
                          <a:latin typeface="SimSun"/>
                          <a:ea typeface="SimSun"/>
                          <a:cs typeface="+mn-cs"/>
                        </a:rPr>
                        <a:t>技术项</a:t>
                      </a:r>
                      <a:endParaRPr/>
                    </a:p>
                  </a:txBody>
                  <a:tcPr/>
                </a:tc>
                <a:extLst>
                  <a:ext uri="{0D108BD9-81ED-4DB2-BD59-A6C34878D82A}">
                    <a16:rowId xmlns:a16="http://schemas.microsoft.com/office/drawing/2014/main" val="1"/>
                  </a:ext>
                </a:extLst>
              </a:tr>
              <a:tr h="381000">
                <a:tc rowSpan="2">
                  <a:txBody>
                    <a:bodyPr/>
                    <a:lstStyle/>
                    <a:p>
                      <a:r>
                        <a:rPr lang="zh-CN" b="0">
                          <a:latin typeface="SimSun"/>
                          <a:ea typeface="SimSun"/>
                          <a:cs typeface="+mn-cs"/>
                        </a:rPr>
                        <a:t>全量插桩开销大</a:t>
                      </a:r>
                      <a:endParaRPr/>
                    </a:p>
                  </a:txBody>
                  <a:tcPr anchor="ctr"/>
                </a:tc>
                <a:tc rowSpan="2">
                  <a:txBody>
                    <a:bodyPr/>
                    <a:lstStyle/>
                    <a:p>
                      <a:r>
                        <a:rPr lang="zh-CN" b="0">
                          <a:latin typeface="SimSun"/>
                          <a:ea typeface="SimSun"/>
                          <a:cs typeface="+mn-cs"/>
                        </a:rPr>
                        <a:t>取消调试前静态分析，改为运行时按需发现</a:t>
                      </a:r>
                      <a:endParaRPr/>
                    </a:p>
                  </a:txBody>
                  <a:tcPr anchor="ctr"/>
                </a:tc>
                <a:tc>
                  <a:txBody>
                    <a:bodyPr/>
                    <a:lstStyle/>
                    <a:p>
                      <a:r>
                        <a:rPr lang="zh-CN" b="0">
                          <a:latin typeface="SimSun"/>
                          <a:ea typeface="SimSun"/>
                          <a:cs typeface="+mn-cs"/>
                        </a:rPr>
                        <a:t>运行时按需发现机制</a:t>
                      </a:r>
                      <a:endParaRPr/>
                    </a:p>
                  </a:txBody>
                  <a:tcPr/>
                </a:tc>
                <a:extLst>
                  <a:ext uri="{0D108BD9-81ED-4DB2-BD59-A6C34878D82A}">
                    <a16:rowId xmlns:a16="http://schemas.microsoft.com/office/drawing/2014/main" val="2"/>
                  </a:ext>
                </a:extLst>
              </a:tr>
              <a:tr h="381000">
                <a:tc vMerge="1">
                  <a:txBody>
                    <a:bodyPr/>
                    <a:lstStyle/>
                    <a:p>
                      <a:endParaRPr/>
                    </a:p>
                  </a:txBody>
                  <a:tcPr/>
                </a:tc>
                <a:tc vMerge="1">
                  <a:txBody>
                    <a:bodyPr/>
                    <a:lstStyle/>
                    <a:p>
                      <a:endParaRPr/>
                    </a:p>
                  </a:txBody>
                  <a:tcPr/>
                </a:tc>
                <a:tc>
                  <a:txBody>
                    <a:bodyPr/>
                    <a:lstStyle/>
                    <a:p>
                      <a:r>
                        <a:rPr lang="en-US" b="0">
                          <a:latin typeface="SimSun"/>
                          <a:ea typeface="SimSun"/>
                          <a:cs typeface="+mn-cs"/>
                        </a:rPr>
                        <a:t>Trace root </a:t>
                      </a:r>
                      <a:r>
                        <a:rPr lang="zh-CN" b="0">
                          <a:latin typeface="SimSun"/>
                          <a:ea typeface="SimSun"/>
                          <a:cs typeface="+mn-cs"/>
                        </a:rPr>
                        <a:t>与白名单动态管理机制</a:t>
                      </a:r>
                      <a:endParaRPr/>
                    </a:p>
                  </a:txBody>
                  <a:tcPr/>
                </a:tc>
                <a:extLst>
                  <a:ext uri="{0D108BD9-81ED-4DB2-BD59-A6C34878D82A}">
                    <a16:rowId xmlns:a16="http://schemas.microsoft.com/office/drawing/2014/main" val="3"/>
                  </a:ext>
                </a:extLst>
              </a:tr>
              <a:tr h="381000">
                <a:tc rowSpan="2">
                  <a:txBody>
                    <a:bodyPr/>
                    <a:lstStyle/>
                    <a:p>
                      <a:r>
                        <a:rPr lang="zh-CN" b="0">
                          <a:latin typeface="SimSun"/>
                          <a:ea typeface="SimSun"/>
                          <a:cs typeface="+mn-cs"/>
                        </a:rPr>
                        <a:t>异步跟踪与跨特权级调试冲突</a:t>
                      </a:r>
                      <a:endParaRPr/>
                    </a:p>
                  </a:txBody>
                  <a:tcPr anchor="ctr"/>
                </a:tc>
                <a:tc rowSpan="2">
                  <a:txBody>
                    <a:bodyPr/>
                    <a:lstStyle/>
                    <a:p>
                      <a:r>
                        <a:rPr lang="zh-CN" b="0">
                          <a:latin typeface="SimSun"/>
                          <a:ea typeface="SimSun"/>
                          <a:cs typeface="+mn-cs"/>
                        </a:rPr>
                        <a:t>异步跟踪与跨特权级调试融合，实现异步操作系统调试</a:t>
                      </a:r>
                      <a:endParaRPr/>
                    </a:p>
                  </a:txBody>
                  <a:tcPr anchor="ctr"/>
                </a:tc>
                <a:tc>
                  <a:txBody>
                    <a:bodyPr/>
                    <a:lstStyle/>
                    <a:p>
                      <a:r>
                        <a:rPr lang="en-US" b="0">
                          <a:latin typeface="SimSun"/>
                          <a:ea typeface="SimSun"/>
                          <a:cs typeface="+mn-cs"/>
                        </a:rPr>
                        <a:t>OS </a:t>
                      </a:r>
                      <a:r>
                        <a:rPr lang="zh-CN" b="0">
                          <a:latin typeface="SimSun"/>
                          <a:ea typeface="SimSun"/>
                          <a:cs typeface="+mn-cs"/>
                        </a:rPr>
                        <a:t>调试能力移植</a:t>
                      </a:r>
                      <a:endParaRPr/>
                    </a:p>
                  </a:txBody>
                  <a:tcPr/>
                </a:tc>
                <a:extLst>
                  <a:ext uri="{0D108BD9-81ED-4DB2-BD59-A6C34878D82A}">
                    <a16:rowId xmlns:a16="http://schemas.microsoft.com/office/drawing/2014/main" val="4"/>
                  </a:ext>
                </a:extLst>
              </a:tr>
              <a:tr h="381000">
                <a:tc vMerge="1">
                  <a:txBody>
                    <a:bodyPr/>
                    <a:lstStyle/>
                    <a:p>
                      <a:endParaRPr lang="zh-CN"/>
                    </a:p>
                  </a:txBody>
                  <a:tcPr anchor="ctr"/>
                </a:tc>
                <a:tc vMerge="1">
                  <a:txBody>
                    <a:bodyPr/>
                    <a:lstStyle/>
                    <a:p>
                      <a:endParaRPr lang="zh-CN"/>
                    </a:p>
                  </a:txBody>
                  <a:tcPr anchor="ctr"/>
                </a:tc>
                <a:tc>
                  <a:txBody>
                    <a:bodyPr/>
                    <a:lstStyle/>
                    <a:p>
                      <a:r>
                        <a:rPr lang="en-US" sz="1800" b="0" i="0" u="none" strike="noStrike">
                          <a:solidFill>
                            <a:schemeClr val="dk1">
                              <a:alpha val="100000"/>
                            </a:schemeClr>
                          </a:solidFill>
                          <a:latin typeface="SimSun"/>
                          <a:ea typeface="SimSun"/>
                          <a:cs typeface="+mn-cs"/>
                        </a:rPr>
                        <a:t>Save/Restore</a:t>
                      </a:r>
                      <a:r>
                        <a:rPr lang="en-US" b="0">
                          <a:latin typeface="SimSun"/>
                          <a:ea typeface="SimSun"/>
                          <a:cs typeface="+mn-cs"/>
                        </a:rPr>
                        <a:t> </a:t>
                      </a:r>
                      <a:r>
                        <a:rPr lang="zh-CN" b="0">
                          <a:latin typeface="SimSun"/>
                          <a:ea typeface="SimSun"/>
                          <a:cs typeface="+mn-cs"/>
                        </a:rPr>
                        <a:t>跨特权级异步跟踪数据保持</a:t>
                      </a:r>
                      <a:endParaRPr/>
                    </a:p>
                  </a:txBody>
                  <a:tcPr/>
                </a:tc>
                <a:extLst>
                  <a:ext uri="{0D108BD9-81ED-4DB2-BD59-A6C34878D82A}">
                    <a16:rowId xmlns:a16="http://schemas.microsoft.com/office/drawing/2014/main" val="5"/>
                  </a:ext>
                </a:extLst>
              </a:tr>
              <a:tr h="381000">
                <a:tc rowSpan="2">
                  <a:txBody>
                    <a:bodyPr/>
                    <a:lstStyle/>
                    <a:p>
                      <a:r>
                        <a:rPr lang="zh-CN" b="0">
                          <a:latin typeface="SimSun"/>
                          <a:ea typeface="SimSun"/>
                          <a:cs typeface="+mn-cs"/>
                        </a:rPr>
                        <a:t>异步跟踪结果不直观</a:t>
                      </a:r>
                      <a:endParaRPr/>
                    </a:p>
                  </a:txBody>
                  <a:tcPr anchor="ctr"/>
                </a:tc>
                <a:tc rowSpan="2">
                  <a:txBody>
                    <a:bodyPr/>
                    <a:lstStyle/>
                    <a:p>
                      <a:r>
                        <a:rPr lang="zh-CN" b="0">
                          <a:latin typeface="SimSun"/>
                          <a:ea typeface="SimSun"/>
                          <a:cs typeface="+mn-cs"/>
                        </a:rPr>
                        <a:t>图形化界面设计，跟踪结果可视化</a:t>
                      </a:r>
                      <a:endParaRPr/>
                    </a:p>
                  </a:txBody>
                  <a:tcPr anchor="ctr"/>
                </a:tc>
                <a:tc>
                  <a:txBody>
                    <a:bodyPr/>
                    <a:lstStyle/>
                    <a:p>
                      <a:r>
                        <a:rPr lang="zh-CN" b="0">
                          <a:latin typeface="SimSun"/>
                          <a:ea typeface="SimSun"/>
                          <a:cs typeface="+mn-cs"/>
                        </a:rPr>
                        <a:t>实现</a:t>
                      </a:r>
                      <a:r>
                        <a:rPr lang="en-US" b="0">
                          <a:latin typeface="SimSun"/>
                          <a:ea typeface="SimSun"/>
                          <a:cs typeface="+mn-cs"/>
                        </a:rPr>
                        <a:t> </a:t>
                      </a:r>
                      <a:r>
                        <a:rPr lang="en-US" sz="1800" b="0" i="0" u="none" strike="noStrike">
                          <a:solidFill>
                            <a:schemeClr val="dk1">
                              <a:alpha val="100000"/>
                            </a:schemeClr>
                          </a:solidFill>
                          <a:latin typeface="SimSun"/>
                          <a:ea typeface="SimSun"/>
                          <a:cs typeface="+mn-cs"/>
                        </a:rPr>
                        <a:t>VS Code </a:t>
                      </a:r>
                      <a:r>
                        <a:rPr lang="zh-CN" b="0">
                          <a:latin typeface="SimSun"/>
                          <a:ea typeface="SimSun"/>
                          <a:cs typeface="+mn-cs"/>
                        </a:rPr>
                        <a:t>插件化架构</a:t>
                      </a:r>
                      <a:endParaRPr/>
                    </a:p>
                  </a:txBody>
                  <a:tcPr/>
                </a:tc>
                <a:extLst>
                  <a:ext uri="{0D108BD9-81ED-4DB2-BD59-A6C34878D82A}">
                    <a16:rowId xmlns:a16="http://schemas.microsoft.com/office/drawing/2014/main" val="6"/>
                  </a:ext>
                </a:extLst>
              </a:tr>
              <a:tr h="381000">
                <a:tc vMerge="1">
                  <a:txBody>
                    <a:bodyPr/>
                    <a:lstStyle/>
                    <a:p>
                      <a:endParaRPr lang="zh-CN"/>
                    </a:p>
                  </a:txBody>
                  <a:tcPr anchor="ctr"/>
                </a:tc>
                <a:tc vMerge="1">
                  <a:txBody>
                    <a:bodyPr/>
                    <a:lstStyle/>
                    <a:p>
                      <a:endParaRPr lang="zh-CN"/>
                    </a:p>
                  </a:txBody>
                  <a:tcPr anchor="ctr"/>
                </a:tc>
                <a:tc>
                  <a:txBody>
                    <a:bodyPr/>
                    <a:lstStyle/>
                    <a:p>
                      <a:r>
                        <a:rPr lang="en-US" sz="1800" b="0" i="0" u="none" strike="noStrike">
                          <a:solidFill>
                            <a:schemeClr val="dk1">
                              <a:alpha val="100000"/>
                            </a:schemeClr>
                          </a:solidFill>
                          <a:latin typeface="SimSun"/>
                          <a:ea typeface="SimSun"/>
                          <a:cs typeface="+mn-cs"/>
                        </a:rPr>
                        <a:t>Async Inspector</a:t>
                      </a:r>
                      <a:r>
                        <a:rPr lang="en-US" b="0">
                          <a:latin typeface="SimSun"/>
                          <a:ea typeface="SimSun"/>
                          <a:cs typeface="+mn-cs"/>
                        </a:rPr>
                        <a:t> </a:t>
                      </a:r>
                      <a:r>
                        <a:rPr lang="zh-CN" b="0">
                          <a:latin typeface="SimSun"/>
                          <a:ea typeface="SimSun"/>
                          <a:cs typeface="+mn-cs"/>
                        </a:rPr>
                        <a:t>图形化面板</a:t>
                      </a:r>
                      <a:endParaRPr/>
                    </a:p>
                  </a:txBody>
                  <a:tcPr/>
                </a:tc>
                <a:extLst>
                  <a:ext uri="{0D108BD9-81ED-4DB2-BD59-A6C34878D82A}">
                    <a16:rowId xmlns:a16="http://schemas.microsoft.com/office/drawing/2014/main" val="7"/>
                  </a:ext>
                </a:extLst>
              </a:tr>
              <a:tr h="381000">
                <a:tc rowSpan="3">
                  <a:txBody>
                    <a:bodyPr/>
                    <a:lstStyle/>
                    <a:p>
                      <a:r>
                        <a:rPr lang="zh-CN" b="0">
                          <a:latin typeface="SimSun"/>
                          <a:ea typeface="SimSun"/>
                          <a:cs typeface="+mn-cs"/>
                        </a:rPr>
                        <a:t>跨特权级调试通用性差</a:t>
                      </a:r>
                      <a:endParaRPr/>
                    </a:p>
                  </a:txBody>
                  <a:tcPr anchor="ctr"/>
                </a:tc>
                <a:tc rowSpan="3">
                  <a:txBody>
                    <a:bodyPr/>
                    <a:lstStyle/>
                    <a:p>
                      <a:r>
                        <a:rPr lang="zh-CN" b="0">
                          <a:latin typeface="SimSun"/>
                          <a:ea typeface="SimSun"/>
                          <a:cs typeface="+mn-cs"/>
                        </a:rPr>
                        <a:t>针对组件化</a:t>
                      </a:r>
                      <a:r>
                        <a:rPr lang="en-US" sz="1800" b="0" i="0" u="none" strike="noStrike">
                          <a:solidFill>
                            <a:schemeClr val="dk1">
                              <a:alpha val="100000"/>
                            </a:schemeClr>
                          </a:solidFill>
                          <a:latin typeface="SimSun"/>
                          <a:ea typeface="SimSun"/>
                          <a:cs typeface="+mn-cs"/>
                        </a:rPr>
                        <a:t>OS</a:t>
                      </a:r>
                      <a:r>
                        <a:rPr lang="zh-CN" b="0">
                          <a:latin typeface="SimSun"/>
                          <a:ea typeface="SimSun"/>
                          <a:cs typeface="+mn-cs"/>
                        </a:rPr>
                        <a:t>调试的通用化改进</a:t>
                      </a:r>
                      <a:endParaRPr/>
                    </a:p>
                  </a:txBody>
                  <a:tcPr anchor="ctr"/>
                </a:tc>
                <a:tc>
                  <a:txBody>
                    <a:bodyPr/>
                    <a:lstStyle/>
                    <a:p>
                      <a:r>
                        <a:rPr lang="zh-CN" b="0">
                          <a:latin typeface="SimSun"/>
                          <a:ea typeface="SimSun"/>
                          <a:cs typeface="+mn-cs"/>
                        </a:rPr>
                        <a:t>函数名断点</a:t>
                      </a:r>
                      <a:r>
                        <a:rPr lang="en-US" b="0">
                          <a:latin typeface="SimSun"/>
                          <a:ea typeface="SimSun"/>
                          <a:cs typeface="+mn-cs"/>
                        </a:rPr>
                        <a:t> + </a:t>
                      </a:r>
                      <a:r>
                        <a:rPr lang="zh-CN" b="0">
                          <a:latin typeface="SimSun"/>
                          <a:ea typeface="SimSun"/>
                          <a:cs typeface="+mn-cs"/>
                        </a:rPr>
                        <a:t>通用收敛点</a:t>
                      </a:r>
                      <a:r>
                        <a:rPr lang="en-US" b="0">
                          <a:latin typeface="SimSun"/>
                          <a:ea typeface="SimSun"/>
                          <a:cs typeface="+mn-cs"/>
                        </a:rPr>
                        <a:t> + </a:t>
                      </a:r>
                      <a:r>
                        <a:rPr lang="zh-CN" b="0">
                          <a:latin typeface="SimSun"/>
                          <a:ea typeface="SimSun"/>
                          <a:cs typeface="+mn-cs"/>
                        </a:rPr>
                        <a:t>方向属性</a:t>
                      </a:r>
                      <a:endParaRPr/>
                    </a:p>
                  </a:txBody>
                  <a:tcPr/>
                </a:tc>
                <a:extLst>
                  <a:ext uri="{0D108BD9-81ED-4DB2-BD59-A6C34878D82A}">
                    <a16:rowId xmlns:a16="http://schemas.microsoft.com/office/drawing/2014/main" val="8"/>
                  </a:ext>
                </a:extLst>
              </a:tr>
              <a:tr h="381000">
                <a:tc vMerge="1">
                  <a:txBody>
                    <a:bodyPr/>
                    <a:lstStyle/>
                    <a:p>
                      <a:endParaRPr lang="zh-CN"/>
                    </a:p>
                  </a:txBody>
                  <a:tcPr anchor="ctr"/>
                </a:tc>
                <a:tc vMerge="1">
                  <a:txBody>
                    <a:bodyPr/>
                    <a:lstStyle/>
                    <a:p>
                      <a:endParaRPr lang="zh-CN"/>
                    </a:p>
                  </a:txBody>
                  <a:tcPr anchor="ctr"/>
                </a:tc>
                <a:tc>
                  <a:txBody>
                    <a:bodyPr/>
                    <a:lstStyle/>
                    <a:p>
                      <a:r>
                        <a:rPr lang="zh-CN" b="0">
                          <a:latin typeface="SimSun"/>
                          <a:ea typeface="SimSun"/>
                          <a:cs typeface="+mn-cs"/>
                        </a:rPr>
                        <a:t>动态进程组自动注入</a:t>
                      </a:r>
                      <a:endParaRPr/>
                    </a:p>
                  </a:txBody>
                  <a:tcPr/>
                </a:tc>
                <a:extLst>
                  <a:ext uri="{0D108BD9-81ED-4DB2-BD59-A6C34878D82A}">
                    <a16:rowId xmlns:a16="http://schemas.microsoft.com/office/drawing/2014/main" val="9"/>
                  </a:ext>
                </a:extLst>
              </a:tr>
              <a:tr h="381000">
                <a:tc vMerge="1">
                  <a:txBody>
                    <a:bodyPr/>
                    <a:lstStyle/>
                    <a:p>
                      <a:endParaRPr lang="zh-CN"/>
                    </a:p>
                  </a:txBody>
                  <a:tcPr anchor="ctr"/>
                </a:tc>
                <a:tc vMerge="1">
                  <a:txBody>
                    <a:bodyPr/>
                    <a:lstStyle/>
                    <a:p>
                      <a:endParaRPr lang="zh-CN"/>
                    </a:p>
                  </a:txBody>
                  <a:tcPr anchor="ctr"/>
                </a:tc>
                <a:tc>
                  <a:txBody>
                    <a:bodyPr/>
                    <a:lstStyle/>
                    <a:p>
                      <a:r>
                        <a:rPr lang="zh-CN" b="0">
                          <a:latin typeface="SimSun"/>
                          <a:ea typeface="SimSun"/>
                          <a:cs typeface="+mn-cs"/>
                        </a:rPr>
                        <a:t>跨</a:t>
                      </a:r>
                      <a:r>
                        <a:rPr lang="en-US" b="0">
                          <a:latin typeface="SimSun"/>
                          <a:ea typeface="SimSun"/>
                          <a:cs typeface="+mn-cs"/>
                        </a:rPr>
                        <a:t> </a:t>
                      </a:r>
                      <a:r>
                        <a:rPr lang="en-US" sz="1800" b="0" i="0" u="none" strike="noStrike">
                          <a:solidFill>
                            <a:schemeClr val="dk1">
                              <a:alpha val="100000"/>
                            </a:schemeClr>
                          </a:solidFill>
                          <a:latin typeface="SimSun"/>
                          <a:ea typeface="SimSun"/>
                          <a:cs typeface="+mn-cs"/>
                        </a:rPr>
                        <a:t>Rust </a:t>
                      </a:r>
                      <a:r>
                        <a:rPr lang="zh-CN" b="0">
                          <a:latin typeface="SimSun"/>
                          <a:ea typeface="SimSun"/>
                          <a:cs typeface="+mn-cs"/>
                        </a:rPr>
                        <a:t>版本变量读取</a:t>
                      </a:r>
                      <a:endParaRPr/>
                    </a:p>
                  </a:txBody>
                  <a:tcPr/>
                </a:tc>
                <a:extLst>
                  <a:ext uri="{0D108BD9-81ED-4DB2-BD59-A6C34878D82A}">
                    <a16:rowId xmlns:a16="http://schemas.microsoft.com/office/drawing/2014/main" val="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lang="zh-CN" sz="2400" b="1">
                <a:solidFill>
                  <a:srgbClr val="052E68">
                    <a:alpha val="100000"/>
                  </a:srgbClr>
                </a:solidFill>
                <a:latin typeface="思源宋体 CN Heavy"/>
                <a:ea typeface="思源宋体 CN Heavy"/>
                <a:cs typeface="+mn-cs"/>
              </a:rPr>
              <a:t>技术</a:t>
            </a:r>
            <a:r>
              <a:rPr sz="2400" b="1">
                <a:solidFill>
                  <a:srgbClr val="052E68">
                    <a:alpha val="100000"/>
                  </a:srgbClr>
                </a:solidFill>
                <a:latin typeface="思源宋体 CN Heavy"/>
                <a:ea typeface="思源宋体 CN Heavy"/>
                <a:cs typeface="+mn-cs"/>
              </a:rPr>
              <a:t>实现</a:t>
            </a:r>
            <a:r>
              <a:rPr lang="zh-CN" sz="2400" b="1">
                <a:solidFill>
                  <a:srgbClr val="052E68">
                    <a:alpha val="100000"/>
                  </a:srgbClr>
                </a:solidFill>
                <a:latin typeface="思源宋体 CN Heavy"/>
                <a:ea typeface="思源宋体 CN Heavy"/>
                <a:cs typeface="+mn-cs"/>
              </a:rPr>
              <a:t>一</a:t>
            </a:r>
            <a:r>
              <a:rPr sz="2400" b="1">
                <a:solidFill>
                  <a:srgbClr val="052E68">
                    <a:alpha val="100000"/>
                  </a:srgbClr>
                </a:solidFill>
                <a:latin typeface="思源宋体 CN Heavy"/>
                <a:ea typeface="思源宋体 CN Heavy"/>
                <a:cs typeface="+mn-cs"/>
              </a:rPr>
              <a:t>：异步跟踪方案改进</a:t>
            </a:r>
            <a:endParaRPr/>
          </a:p>
        </p:txBody>
      </p:sp>
      <p:sp>
        <p:nvSpPr>
          <p:cNvPr id="324" name="TextBox 7"/>
          <p:cNvSpPr txBox="1"/>
          <p:nvPr/>
        </p:nvSpPr>
        <p:spPr>
          <a:xfrm>
            <a:off x="609904" y="1378000"/>
            <a:ext cx="10972800" cy="365760"/>
          </a:xfrm>
          <a:prstGeom prst="rect">
            <a:avLst/>
          </a:prstGeom>
          <a:noFill/>
        </p:spPr>
        <p:txBody>
          <a:bodyPr wrap="square">
            <a:spAutoFit/>
          </a:bodyPr>
          <a:lstStyle/>
          <a:p>
            <a:pPr algn="l">
              <a:lnSpc>
                <a:spcPct val="135000"/>
              </a:lnSpc>
              <a:spcAft>
                <a:spcPts val="200"/>
              </a:spcAft>
            </a:pPr>
            <a:r>
              <a:rPr sz="1600" b="0" dirty="0" err="1">
                <a:solidFill>
                  <a:srgbClr val="666666"/>
                </a:solidFill>
                <a:latin typeface="华文中宋"/>
                <a:ea typeface="华文中宋"/>
              </a:rPr>
              <a:t>问题分析</a:t>
            </a:r>
            <a:endParaRPr sz="1600" b="0" dirty="0">
              <a:solidFill>
                <a:srgbClr val="666666"/>
              </a:solidFill>
              <a:latin typeface="华文中宋"/>
              <a:ea typeface="华文中宋"/>
            </a:endParaRPr>
          </a:p>
        </p:txBody>
      </p:sp>
      <p:sp>
        <p:nvSpPr>
          <p:cNvPr id="325" name="TextBox 84"/>
          <p:cNvSpPr txBox="1"/>
          <p:nvPr/>
        </p:nvSpPr>
        <p:spPr>
          <a:xfrm>
            <a:off x="11384280" y="6419088"/>
            <a:ext cx="457200" cy="228600"/>
          </a:xfrm>
          <a:prstGeom prst="rect">
            <a:avLst/>
          </a:prstGeom>
          <a:noFill/>
        </p:spPr>
        <p:txBody>
          <a:bodyPr wrap="square" lIns="109728" tIns="54864" rIns="109728" bIns="36576" anchor="ctr">
            <a:spAutoFit/>
          </a:bodyPr>
          <a:lstStyle/>
          <a:p>
            <a:pPr algn="r">
              <a:spcAft>
                <a:spcPts val="0"/>
              </a:spcAft>
            </a:pPr>
            <a:r>
              <a:rPr sz="1100" b="0">
                <a:solidFill>
                  <a:srgbClr val="666666"/>
                </a:solidFill>
                <a:latin typeface="华文中宋"/>
              </a:rPr>
              <a:t>7</a:t>
            </a:r>
            <a:endParaRPr/>
          </a:p>
        </p:txBody>
      </p:sp>
      <p:pic>
        <p:nvPicPr>
          <p:cNvPr id="326" name="图片 325"/>
          <p:cNvPicPr>
            <a:picLocks noChangeAspect="1"/>
          </p:cNvPicPr>
          <p:nvPr/>
        </p:nvPicPr>
        <p:blipFill>
          <a:blip r:embed="rId3"/>
          <a:stretch>
            <a:fillRect/>
          </a:stretch>
        </p:blipFill>
        <p:spPr>
          <a:xfrm>
            <a:off x="476384" y="2211315"/>
            <a:ext cx="4858764" cy="3786528"/>
          </a:xfrm>
          <a:prstGeom prst="rect">
            <a:avLst/>
          </a:prstGeom>
        </p:spPr>
      </p:pic>
      <p:sp>
        <p:nvSpPr>
          <p:cNvPr id="327" name="文本框 326"/>
          <p:cNvSpPr txBox="1"/>
          <p:nvPr/>
        </p:nvSpPr>
        <p:spPr>
          <a:xfrm>
            <a:off x="5393683" y="2094418"/>
            <a:ext cx="6102350" cy="2146300"/>
          </a:xfrm>
          <a:prstGeom prst="rect">
            <a:avLst/>
          </a:prstGeom>
          <a:ln w="6350">
            <a:prstDash val="solid"/>
          </a:ln>
        </p:spPr>
        <p:txBody>
          <a:bodyPr wrap="none">
            <a:spAutoFit/>
          </a:bodyPr>
          <a:lstStyle/>
          <a:p>
            <a:pPr>
              <a:lnSpc>
                <a:spcPct val="150000"/>
              </a:lnSpc>
            </a:pPr>
            <a:r>
              <a:rPr lang="zh-CN"/>
              <a:t>原异步跟踪方案：</a:t>
            </a:r>
            <a:endParaRPr/>
          </a:p>
          <a:p>
            <a:pPr marL="285750" indent="-285750">
              <a:lnSpc>
                <a:spcPct val="150000"/>
              </a:lnSpc>
              <a:buFont typeface="Wingdings" charset="2"/>
              <a:buChar char="Ø"/>
            </a:pPr>
            <a:r>
              <a:rPr lang="zh-CN"/>
              <a:t>调试前</a:t>
            </a:r>
            <a:r>
              <a:rPr lang="zh-CN" b="1">
                <a:solidFill>
                  <a:srgbClr val="C00000">
                    <a:alpha val="100000"/>
                  </a:srgbClr>
                </a:solidFill>
              </a:rPr>
              <a:t>需静态分析调试信息</a:t>
            </a:r>
            <a:r>
              <a:rPr lang="zh-CN"/>
              <a:t>以获取</a:t>
            </a:r>
            <a:r>
              <a:rPr lang="en-US"/>
              <a:t>poll</a:t>
            </a:r>
            <a:r>
              <a:rPr lang="zh-CN"/>
              <a:t>函数间的依赖关系</a:t>
            </a:r>
            <a:endParaRPr/>
          </a:p>
          <a:p>
            <a:pPr marL="285750" indent="-285750">
              <a:lnSpc>
                <a:spcPct val="150000"/>
              </a:lnSpc>
              <a:buFont typeface="Wingdings" charset="2"/>
              <a:buChar char="Ø"/>
            </a:pPr>
            <a:r>
              <a:rPr lang="zh-CN"/>
              <a:t>会对白名单中所有的函数及其相关函数进行</a:t>
            </a:r>
            <a:r>
              <a:rPr lang="zh-CN" b="1">
                <a:solidFill>
                  <a:srgbClr val="C00000">
                    <a:alpha val="100000"/>
                  </a:srgbClr>
                </a:solidFill>
              </a:rPr>
              <a:t>全量插桩</a:t>
            </a:r>
            <a:endParaRPr/>
          </a:p>
          <a:p>
            <a:pPr marL="285750" indent="-285750">
              <a:lnSpc>
                <a:spcPct val="150000"/>
              </a:lnSpc>
              <a:buFont typeface="Wingdings" charset="2"/>
              <a:buChar char="Ø"/>
            </a:pPr>
            <a:r>
              <a:rPr lang="zh-CN"/>
              <a:t>仅依赖</a:t>
            </a:r>
            <a:r>
              <a:rPr lang="en-US"/>
              <a:t>DWARF</a:t>
            </a:r>
            <a:r>
              <a:rPr lang="zh-CN"/>
              <a:t>调试信息</a:t>
            </a:r>
            <a:r>
              <a:rPr lang="zh-CN" b="1">
                <a:solidFill>
                  <a:srgbClr val="C00000">
                    <a:alpha val="100000"/>
                  </a:srgbClr>
                </a:solidFill>
              </a:rPr>
              <a:t>无法区分同一类型的不同实例</a:t>
            </a:r>
            <a:endParaRPr/>
          </a:p>
          <a:p>
            <a:pPr marL="285750" indent="-285750">
              <a:lnSpc>
                <a:spcPct val="150000"/>
              </a:lnSpc>
              <a:buFont typeface="Wingdings" charset="2"/>
              <a:buChar char="Ø"/>
            </a:pPr>
            <a:endParaRPr lang="en-US"/>
          </a:p>
        </p:txBody>
      </p:sp>
      <p:sp>
        <p:nvSpPr>
          <p:cNvPr id="328" name="箭头: 下 327"/>
          <p:cNvSpPr/>
          <p:nvPr/>
        </p:nvSpPr>
        <p:spPr>
          <a:xfrm>
            <a:off x="7753214" y="3974523"/>
            <a:ext cx="1383289" cy="496815"/>
          </a:xfrm>
          <a:prstGeom prst="downArrow">
            <a:avLst/>
          </a:prstGeom>
          <a:solidFill>
            <a:schemeClr val="accent1">
              <a:alpha val="100000"/>
            </a:schemeClr>
          </a:solidFill>
          <a:ln w="12700">
            <a:solidFill>
              <a:srgbClr val="5C5C5C">
                <a:alpha val="100000"/>
              </a:srgbClr>
            </a:solidFill>
            <a:prstDash val="solid"/>
            <a:miter lim="800000"/>
          </a:ln>
        </p:spPr>
        <p:txBody>
          <a:bodyPr anchor="ctr"/>
          <a:lstStyle/>
          <a:p>
            <a:pPr algn="ctr"/>
            <a:endParaRPr/>
          </a:p>
        </p:txBody>
      </p:sp>
      <p:sp>
        <p:nvSpPr>
          <p:cNvPr id="329" name="文本框 33"/>
          <p:cNvSpPr txBox="1"/>
          <p:nvPr/>
        </p:nvSpPr>
        <p:spPr>
          <a:xfrm>
            <a:off x="5688958" y="4591376"/>
            <a:ext cx="5511800" cy="603250"/>
          </a:xfrm>
          <a:prstGeom prst="rect">
            <a:avLst/>
          </a:prstGeom>
          <a:noFill/>
          <a:ln/>
        </p:spPr>
        <p:txBody>
          <a:bodyPr wrap="none" rtlCol="0" anchor="t">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defRPr>
            </a:lvl1pPr>
          </a:lstStyle>
          <a:p>
            <a:pPr algn="ctr"/>
            <a:r>
              <a:rPr lang="zh-CN" sz="2800" b="1">
                <a:solidFill>
                  <a:schemeClr val="accent1">
                    <a:alpha val="100000"/>
                  </a:schemeClr>
                </a:solidFill>
                <a:latin typeface="思源宋体 CN Heavy"/>
                <a:ea typeface="思源宋体 CN Heavy"/>
                <a:cs typeface="HarmonyOS Sans SC"/>
                <a:sym typeface="Roboto"/>
              </a:rPr>
              <a:t>流程复杂、插桩开销大、实例混淆</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lang="zh-CN" sz="2400" b="1">
                <a:solidFill>
                  <a:srgbClr val="052E68">
                    <a:alpha val="100000"/>
                  </a:srgbClr>
                </a:solidFill>
                <a:latin typeface="思源宋体 CN Heavy"/>
                <a:ea typeface="思源宋体 CN Heavy"/>
                <a:cs typeface="+mn-cs"/>
              </a:rPr>
              <a:t>技术</a:t>
            </a:r>
            <a:r>
              <a:rPr sz="2400" b="1">
                <a:solidFill>
                  <a:srgbClr val="052E68">
                    <a:alpha val="100000"/>
                  </a:srgbClr>
                </a:solidFill>
                <a:latin typeface="思源宋体 CN Heavy"/>
                <a:ea typeface="思源宋体 CN Heavy"/>
                <a:cs typeface="+mn-cs"/>
              </a:rPr>
              <a:t>实现</a:t>
            </a:r>
            <a:r>
              <a:rPr lang="zh-CN" sz="2400" b="1">
                <a:solidFill>
                  <a:srgbClr val="052E68">
                    <a:alpha val="100000"/>
                  </a:srgbClr>
                </a:solidFill>
                <a:latin typeface="思源宋体 CN Heavy"/>
                <a:ea typeface="思源宋体 CN Heavy"/>
                <a:cs typeface="+mn-cs"/>
              </a:rPr>
              <a:t>一</a:t>
            </a:r>
            <a:r>
              <a:rPr sz="2400" b="1">
                <a:solidFill>
                  <a:srgbClr val="052E68">
                    <a:alpha val="100000"/>
                  </a:srgbClr>
                </a:solidFill>
                <a:latin typeface="思源宋体 CN Heavy"/>
                <a:ea typeface="思源宋体 CN Heavy"/>
                <a:cs typeface="+mn-cs"/>
              </a:rPr>
              <a:t>：异步跟踪方案改进</a:t>
            </a:r>
            <a:endParaRPr/>
          </a:p>
        </p:txBody>
      </p:sp>
      <p:sp>
        <p:nvSpPr>
          <p:cNvPr id="3" name="TextBox 7"/>
          <p:cNvSpPr txBox="1"/>
          <p:nvPr/>
        </p:nvSpPr>
        <p:spPr>
          <a:xfrm>
            <a:off x="609904" y="1378000"/>
            <a:ext cx="10972800" cy="419100"/>
          </a:xfrm>
          <a:prstGeom prst="rect">
            <a:avLst/>
          </a:prstGeom>
          <a:noFill/>
        </p:spPr>
        <p:txBody>
          <a:bodyPr wrap="square">
            <a:spAutoFit/>
          </a:bodyPr>
          <a:lstStyle/>
          <a:p>
            <a:pPr algn="l">
              <a:lnSpc>
                <a:spcPct val="135000"/>
              </a:lnSpc>
              <a:spcAft>
                <a:spcPts val="200"/>
              </a:spcAft>
            </a:pPr>
            <a:r>
              <a:rPr lang="zh-CN" sz="1600" b="0">
                <a:solidFill>
                  <a:srgbClr val="666666">
                    <a:alpha val="100000"/>
                  </a:srgbClr>
                </a:solidFill>
                <a:latin typeface="华文中宋"/>
                <a:ea typeface="华文中宋"/>
                <a:cs typeface="+mn-cs"/>
              </a:rPr>
              <a:t>具体优化方案</a:t>
            </a:r>
            <a:endParaRPr/>
          </a:p>
        </p:txBody>
      </p:sp>
      <p:sp>
        <p:nvSpPr>
          <p:cNvPr id="4" name="TextBox 84"/>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lang="en-US" sz="1100" b="0">
                <a:solidFill>
                  <a:srgbClr val="666666">
                    <a:alpha val="100000"/>
                  </a:srgbClr>
                </a:solidFill>
                <a:latin typeface="华文中宋"/>
                <a:ea typeface="HarmonyOS Sans SC"/>
                <a:cs typeface="+mn-cs"/>
              </a:rPr>
              <a:t>8</a:t>
            </a:r>
            <a:endParaRPr/>
          </a:p>
        </p:txBody>
      </p:sp>
      <p:sp>
        <p:nvSpPr>
          <p:cNvPr id="5" name="矩形: 圆角 11"/>
          <p:cNvSpPr/>
          <p:nvPr/>
        </p:nvSpPr>
        <p:spPr>
          <a:xfrm>
            <a:off x="266444" y="2009112"/>
            <a:ext cx="2093742" cy="4524276"/>
          </a:xfrm>
          <a:prstGeom prst="roundRect">
            <a:avLst>
              <a:gd name="adj" fmla="val 10000"/>
            </a:avLst>
          </a:prstGeom>
          <a:gradFill flip="none" rotWithShape="1">
            <a:gsLst>
              <a:gs pos="100000">
                <a:schemeClr val="bg1"/>
              </a:gs>
              <a:gs pos="0">
                <a:schemeClr val="bg1"/>
              </a:gs>
            </a:gsLst>
            <a:lin ang="2700000" scaled="1"/>
            <a:tileRect/>
          </a:gradFill>
          <a:ln>
            <a:noFill/>
          </a:ln>
          <a:effectLst>
            <a:outerShdw blurRad="254000" algn="ctr" rotWithShape="0">
              <a:schemeClr val="accent1">
                <a:lumMod val="50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lnSpc>
                <a:spcPct val="120000"/>
              </a:lnSpc>
            </a:pPr>
            <a:endParaRPr>
              <a:solidFill>
                <a:schemeClr val="accent1">
                  <a:alpha val="100000"/>
                </a:schemeClr>
              </a:solidFill>
              <a:latin typeface="思源宋体 CN Heavy"/>
              <a:ea typeface="思源宋体 CN Heavy"/>
              <a:cs typeface="+mn-cs"/>
            </a:endParaRPr>
          </a:p>
        </p:txBody>
      </p:sp>
      <p:sp>
        <p:nvSpPr>
          <p:cNvPr id="6" name="文本框 33"/>
          <p:cNvSpPr txBox="1"/>
          <p:nvPr/>
        </p:nvSpPr>
        <p:spPr>
          <a:xfrm>
            <a:off x="335415" y="2264127"/>
            <a:ext cx="1955800" cy="3721100"/>
          </a:xfrm>
          <a:prstGeom prst="rect">
            <a:avLst/>
          </a:prstGeom>
          <a:noFill/>
          <a:ln/>
        </p:spPr>
        <p:txBody>
          <a:bodyPr wrap="square" rtlCol="0" anchor="t">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defRPr>
            </a:lvl1pPr>
          </a:lstStyle>
          <a:p>
            <a:pPr marL="0" indent="0" algn="ctr" defTabSz="914400" hangingPunct="1">
              <a:lnSpc>
                <a:spcPct val="170000"/>
              </a:lnSpc>
              <a:spcBef>
                <a:spcPts val="0"/>
              </a:spcBef>
              <a:spcAft>
                <a:spcPts val="0"/>
              </a:spcAft>
            </a:pPr>
            <a:r>
              <a:rPr lang="zh-CN" sz="2800" b="1">
                <a:solidFill>
                  <a:schemeClr val="accent1">
                    <a:alpha val="100000"/>
                  </a:schemeClr>
                </a:solidFill>
                <a:latin typeface="思源宋体 CN Heavy"/>
                <a:ea typeface="思源宋体 CN Heavy"/>
                <a:cs typeface="HarmonyOS Sans SC"/>
                <a:sym typeface="Roboto"/>
              </a:rPr>
              <a:t>流程复杂</a:t>
            </a:r>
            <a:endParaRPr/>
          </a:p>
          <a:p>
            <a:pPr marL="0" indent="0" algn="ctr" defTabSz="914400" hangingPunct="1">
              <a:lnSpc>
                <a:spcPct val="170000"/>
              </a:lnSpc>
              <a:spcBef>
                <a:spcPts val="0"/>
              </a:spcBef>
              <a:spcAft>
                <a:spcPts val="0"/>
              </a:spcAft>
            </a:pPr>
            <a:endParaRPr lang="en-US" sz="2800" b="1">
              <a:solidFill>
                <a:schemeClr val="accent1">
                  <a:alpha val="100000"/>
                </a:schemeClr>
              </a:solidFill>
              <a:latin typeface="思源宋体 CN Heavy"/>
              <a:ea typeface="思源宋体 CN Heavy"/>
              <a:cs typeface="HarmonyOS Sans SC"/>
              <a:sym typeface="Roboto"/>
            </a:endParaRPr>
          </a:p>
          <a:p>
            <a:pPr marL="0" algn="ctr" defTabSz="914400" hangingPunct="1">
              <a:lnSpc>
                <a:spcPct val="170000"/>
              </a:lnSpc>
            </a:pPr>
            <a:r>
              <a:rPr lang="zh-CN" sz="2800" b="1">
                <a:solidFill>
                  <a:schemeClr val="accent1">
                    <a:alpha val="100000"/>
                  </a:schemeClr>
                </a:solidFill>
                <a:latin typeface="思源宋体 CN Heavy"/>
                <a:ea typeface="思源宋体 CN Heavy"/>
                <a:cs typeface="HarmonyOS Sans SC"/>
                <a:sym typeface="Roboto"/>
              </a:rPr>
              <a:t>插桩开销大</a:t>
            </a:r>
            <a:endParaRPr/>
          </a:p>
          <a:p>
            <a:pPr marL="0" algn="ctr" defTabSz="914400" hangingPunct="1">
              <a:lnSpc>
                <a:spcPct val="170000"/>
              </a:lnSpc>
            </a:pPr>
            <a:endParaRPr lang="en-US" sz="2800" b="1">
              <a:solidFill>
                <a:schemeClr val="accent1">
                  <a:alpha val="100000"/>
                </a:schemeClr>
              </a:solidFill>
              <a:latin typeface="思源宋体 CN Heavy"/>
              <a:ea typeface="思源宋体 CN Heavy"/>
              <a:cs typeface="HarmonyOS Sans SC"/>
              <a:sym typeface="Roboto"/>
            </a:endParaRPr>
          </a:p>
          <a:p>
            <a:pPr marL="0" algn="ctr" defTabSz="914400" hangingPunct="1">
              <a:lnSpc>
                <a:spcPct val="170000"/>
              </a:lnSpc>
            </a:pPr>
            <a:r>
              <a:rPr lang="zh-CN" sz="2800" b="1">
                <a:solidFill>
                  <a:schemeClr val="accent1">
                    <a:alpha val="100000"/>
                  </a:schemeClr>
                </a:solidFill>
                <a:latin typeface="思源宋体 CN Heavy"/>
                <a:ea typeface="思源宋体 CN Heavy"/>
                <a:cs typeface="HarmonyOS Sans SC"/>
                <a:sym typeface="Roboto"/>
              </a:rPr>
              <a:t>实例混淆</a:t>
            </a:r>
            <a:endParaRPr/>
          </a:p>
        </p:txBody>
      </p:sp>
      <p:grpSp>
        <p:nvGrpSpPr>
          <p:cNvPr id="7" name="组合 6"/>
          <p:cNvGrpSpPr/>
          <p:nvPr/>
        </p:nvGrpSpPr>
        <p:grpSpPr>
          <a:xfrm>
            <a:off x="2584432" y="2553988"/>
            <a:ext cx="282502" cy="3117933"/>
            <a:chOff x="2584432" y="2553988"/>
            <a:chExt cx="282502" cy="3117933"/>
          </a:xfrm>
        </p:grpSpPr>
        <p:sp>
          <p:nvSpPr>
            <p:cNvPr id="8" name="箭头: 右 7"/>
            <p:cNvSpPr/>
            <p:nvPr/>
          </p:nvSpPr>
          <p:spPr>
            <a:xfrm>
              <a:off x="2584432" y="2553988"/>
              <a:ext cx="282502" cy="212465"/>
            </a:xfrm>
            <a:prstGeom prst="rightArrow">
              <a:avLst/>
            </a:prstGeom>
            <a:solidFill>
              <a:schemeClr val="accent1">
                <a:alpha val="100000"/>
              </a:schemeClr>
            </a:solidFill>
            <a:ln w="12700">
              <a:solidFill>
                <a:srgbClr val="5C5C5C">
                  <a:alpha val="100000"/>
                </a:srgbClr>
              </a:solidFill>
              <a:prstDash val="solid"/>
              <a:miter lim="800000"/>
            </a:ln>
          </p:spPr>
          <p:txBody>
            <a:bodyPr anchor="ctr"/>
            <a:lstStyle/>
            <a:p>
              <a:pPr algn="ctr"/>
              <a:endParaRPr/>
            </a:p>
          </p:txBody>
        </p:sp>
        <p:sp>
          <p:nvSpPr>
            <p:cNvPr id="9" name="箭头: 右 8"/>
            <p:cNvSpPr/>
            <p:nvPr/>
          </p:nvSpPr>
          <p:spPr>
            <a:xfrm>
              <a:off x="2584432" y="4018444"/>
              <a:ext cx="282502" cy="212465"/>
            </a:xfrm>
            <a:prstGeom prst="rightArrow">
              <a:avLst/>
            </a:prstGeom>
            <a:solidFill>
              <a:schemeClr val="accent1">
                <a:alpha val="100000"/>
              </a:schemeClr>
            </a:solidFill>
            <a:ln w="12700">
              <a:solidFill>
                <a:srgbClr val="5C5C5C">
                  <a:alpha val="100000"/>
                </a:srgbClr>
              </a:solidFill>
              <a:prstDash val="solid"/>
              <a:miter lim="800000"/>
            </a:ln>
          </p:spPr>
          <p:txBody>
            <a:bodyPr anchor="ctr"/>
            <a:lstStyle/>
            <a:p>
              <a:pPr algn="ctr"/>
              <a:endParaRPr/>
            </a:p>
          </p:txBody>
        </p:sp>
        <p:sp>
          <p:nvSpPr>
            <p:cNvPr id="10" name="箭头: 右 9"/>
            <p:cNvSpPr/>
            <p:nvPr/>
          </p:nvSpPr>
          <p:spPr>
            <a:xfrm>
              <a:off x="2584432" y="5459456"/>
              <a:ext cx="282502" cy="212465"/>
            </a:xfrm>
            <a:prstGeom prst="rightArrow">
              <a:avLst/>
            </a:prstGeom>
            <a:solidFill>
              <a:schemeClr val="accent1">
                <a:alpha val="100000"/>
              </a:schemeClr>
            </a:solidFill>
            <a:ln w="12700">
              <a:solidFill>
                <a:srgbClr val="5C5C5C">
                  <a:alpha val="100000"/>
                </a:srgbClr>
              </a:solidFill>
              <a:prstDash val="solid"/>
              <a:miter lim="800000"/>
            </a:ln>
          </p:spPr>
          <p:txBody>
            <a:bodyPr anchor="ctr"/>
            <a:lstStyle/>
            <a:p>
              <a:pPr algn="ctr"/>
              <a:endParaRPr/>
            </a:p>
          </p:txBody>
        </p:sp>
      </p:grpSp>
      <p:grpSp>
        <p:nvGrpSpPr>
          <p:cNvPr id="11" name="组合 10"/>
          <p:cNvGrpSpPr/>
          <p:nvPr/>
        </p:nvGrpSpPr>
        <p:grpSpPr>
          <a:xfrm>
            <a:off x="3091180" y="2322669"/>
            <a:ext cx="8750300" cy="675103"/>
            <a:chOff x="3091180" y="2264642"/>
            <a:chExt cx="8750300" cy="981909"/>
          </a:xfrm>
        </p:grpSpPr>
        <p:sp>
          <p:nvSpPr>
            <p:cNvPr id="12" name="矩形: 圆角 3"/>
            <p:cNvSpPr/>
            <p:nvPr/>
          </p:nvSpPr>
          <p:spPr>
            <a:xfrm>
              <a:off x="3091180" y="2264642"/>
              <a:ext cx="8750300" cy="981909"/>
            </a:xfrm>
            <a:prstGeom prst="roundRect">
              <a:avLst>
                <a:gd name="adj" fmla="val 10000"/>
              </a:avLst>
            </a:prstGeom>
            <a:gradFill>
              <a:gsLst>
                <a:gs pos="0">
                  <a:srgbClr val="86A3DC">
                    <a:alpha val="80000"/>
                  </a:srgbClr>
                </a:gs>
                <a:gs pos="72000">
                  <a:srgbClr val="4874CB">
                    <a:alpha val="100000"/>
                  </a:srgbClr>
                </a:gs>
              </a:gsLst>
              <a:lin ang="0" scaled="0"/>
            </a:gradFill>
            <a:ln w="19050">
              <a:noFill/>
              <a:prstDash val="solid"/>
              <a:miter lim="800000"/>
            </a:ln>
            <a:effectLst>
              <a:outerShdw blurRad="254000" algn="ctr" rotWithShape="0">
                <a:schemeClr val="accent1">
                  <a:lumMod val="50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lnSpc>
                  <a:spcPct val="120000"/>
                </a:lnSpc>
              </a:pPr>
              <a:endParaRPr sz="1800">
                <a:solidFill>
                  <a:schemeClr val="bg1">
                    <a:alpha val="100000"/>
                  </a:schemeClr>
                </a:solidFill>
                <a:latin typeface="思源宋体 CN Heavy"/>
                <a:ea typeface="思源宋体 CN Heavy"/>
                <a:cs typeface="+mn-cs"/>
              </a:endParaRPr>
            </a:p>
          </p:txBody>
        </p:sp>
        <p:sp>
          <p:nvSpPr>
            <p:cNvPr id="13" name="文本框 12"/>
            <p:cNvSpPr txBox="1"/>
            <p:nvPr/>
          </p:nvSpPr>
          <p:spPr>
            <a:xfrm>
              <a:off x="3091180" y="2571445"/>
              <a:ext cx="8559800" cy="368300"/>
            </a:xfrm>
            <a:prstGeom prst="rect">
              <a:avLst/>
            </a:prstGeom>
            <a:ln w="6350">
              <a:prstDash val="solid"/>
            </a:ln>
          </p:spPr>
          <p:txBody>
            <a:bodyPr wrap="none" anchor="ctr">
              <a:spAutoFit/>
            </a:bodyPr>
            <a:lstStyle/>
            <a:p>
              <a:pPr marL="285750" indent="-285750">
                <a:buFont typeface="Wingdings" charset="2"/>
                <a:buChar char="Ø"/>
              </a:pPr>
              <a:r>
                <a:rPr lang="zh-CN"/>
                <a:t>取消调试前的静态分析，改为运行时按需</a:t>
              </a:r>
              <a:r>
                <a:rPr lang="zh-CN" b="1">
                  <a:solidFill>
                    <a:schemeClr val="bg1">
                      <a:alpha val="100000"/>
                    </a:schemeClr>
                  </a:solidFill>
                </a:rPr>
                <a:t>从</a:t>
              </a:r>
              <a:r>
                <a:rPr lang="en-US" b="1">
                  <a:solidFill>
                    <a:schemeClr val="bg1">
                      <a:alpha val="100000"/>
                    </a:schemeClr>
                  </a:solidFill>
                </a:rPr>
                <a:t>poll</a:t>
              </a:r>
              <a:r>
                <a:rPr lang="zh-CN" b="1">
                  <a:solidFill>
                    <a:schemeClr val="bg1">
                      <a:alpha val="100000"/>
                    </a:schemeClr>
                  </a:solidFill>
                </a:rPr>
                <a:t>函数</a:t>
              </a:r>
              <a:r>
                <a:rPr lang="en-US" b="1">
                  <a:solidFill>
                    <a:schemeClr val="bg1">
                      <a:alpha val="100000"/>
                    </a:schemeClr>
                  </a:solidFill>
                </a:rPr>
                <a:t>__awaitee</a:t>
              </a:r>
              <a:r>
                <a:rPr lang="zh-CN" b="1">
                  <a:solidFill>
                    <a:schemeClr val="bg1">
                      <a:alpha val="100000"/>
                    </a:schemeClr>
                  </a:solidFill>
                </a:rPr>
                <a:t>字段获取依赖函数</a:t>
              </a:r>
              <a:endParaRPr/>
            </a:p>
          </p:txBody>
        </p:sp>
      </p:grpSp>
      <p:grpSp>
        <p:nvGrpSpPr>
          <p:cNvPr id="14" name="组合 13"/>
          <p:cNvGrpSpPr/>
          <p:nvPr/>
        </p:nvGrpSpPr>
        <p:grpSpPr>
          <a:xfrm>
            <a:off x="3091180" y="3196871"/>
            <a:ext cx="8750300" cy="1778010"/>
            <a:chOff x="3091180" y="3274576"/>
            <a:chExt cx="8750300" cy="1617743"/>
          </a:xfrm>
        </p:grpSpPr>
        <p:sp>
          <p:nvSpPr>
            <p:cNvPr id="15" name="矩形: 圆角 3"/>
            <p:cNvSpPr/>
            <p:nvPr/>
          </p:nvSpPr>
          <p:spPr>
            <a:xfrm>
              <a:off x="3091180" y="3274576"/>
              <a:ext cx="8750300" cy="1617743"/>
            </a:xfrm>
            <a:prstGeom prst="roundRect">
              <a:avLst>
                <a:gd name="adj" fmla="val 10000"/>
              </a:avLst>
            </a:prstGeom>
            <a:gradFill>
              <a:gsLst>
                <a:gs pos="0">
                  <a:srgbClr val="86A3DC">
                    <a:alpha val="80000"/>
                  </a:srgbClr>
                </a:gs>
                <a:gs pos="72000">
                  <a:srgbClr val="4874CB">
                    <a:alpha val="100000"/>
                  </a:srgbClr>
                </a:gs>
              </a:gsLst>
              <a:lin ang="0" scaled="0"/>
            </a:gradFill>
            <a:ln w="19050">
              <a:noFill/>
              <a:prstDash val="solid"/>
              <a:miter lim="800000"/>
            </a:ln>
            <a:effectLst>
              <a:outerShdw blurRad="254000" algn="ctr" rotWithShape="0">
                <a:schemeClr val="accent1">
                  <a:lumMod val="50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lnSpc>
                  <a:spcPct val="120000"/>
                </a:lnSpc>
              </a:pPr>
              <a:endParaRPr sz="1800">
                <a:solidFill>
                  <a:schemeClr val="bg1">
                    <a:alpha val="100000"/>
                  </a:schemeClr>
                </a:solidFill>
                <a:latin typeface="思源宋体 CN Heavy"/>
                <a:ea typeface="思源宋体 CN Heavy"/>
                <a:cs typeface="+mn-cs"/>
              </a:endParaRPr>
            </a:p>
          </p:txBody>
        </p:sp>
        <p:sp>
          <p:nvSpPr>
            <p:cNvPr id="16" name="文本框 15"/>
            <p:cNvSpPr txBox="1"/>
            <p:nvPr/>
          </p:nvSpPr>
          <p:spPr>
            <a:xfrm>
              <a:off x="3091180" y="3349269"/>
              <a:ext cx="8750300" cy="1517650"/>
            </a:xfrm>
            <a:prstGeom prst="rect">
              <a:avLst/>
            </a:prstGeom>
            <a:ln w="6350">
              <a:prstDash val="solid"/>
            </a:ln>
          </p:spPr>
          <p:txBody>
            <a:bodyPr wrap="square" anchor="ctr">
              <a:spAutoFit/>
            </a:bodyPr>
            <a:lstStyle/>
            <a:p>
              <a:pPr marL="285750" indent="-285750">
                <a:lnSpc>
                  <a:spcPct val="130000"/>
                </a:lnSpc>
                <a:buFont typeface="Wingdings" charset="2"/>
                <a:buChar char="Ø"/>
              </a:pPr>
              <a:r>
                <a:rPr lang="zh-CN" b="0">
                  <a:solidFill>
                    <a:schemeClr val="tx1">
                      <a:alpha val="100000"/>
                    </a:schemeClr>
                  </a:solidFill>
                </a:rPr>
                <a:t>引入</a:t>
              </a:r>
              <a:r>
                <a:rPr lang="en-US" b="0">
                  <a:solidFill>
                    <a:schemeClr val="tx1">
                      <a:alpha val="100000"/>
                    </a:schemeClr>
                  </a:solidFill>
                </a:rPr>
                <a:t> Trace root </a:t>
              </a:r>
              <a:r>
                <a:rPr lang="zh-CN" b="0">
                  <a:solidFill>
                    <a:schemeClr val="tx1">
                      <a:alpha val="100000"/>
                    </a:schemeClr>
                  </a:solidFill>
                </a:rPr>
                <a:t>概念，即</a:t>
              </a:r>
              <a:r>
                <a:rPr lang="zh-CN" b="1">
                  <a:solidFill>
                    <a:schemeClr val="bg1">
                      <a:alpha val="100000"/>
                    </a:schemeClr>
                  </a:solidFill>
                </a:rPr>
                <a:t>「从哪个函数开始追踪」</a:t>
              </a:r>
              <a:endParaRPr/>
            </a:p>
            <a:p>
              <a:pPr marL="285750" indent="-285750">
                <a:lnSpc>
                  <a:spcPct val="130000"/>
                </a:lnSpc>
                <a:buFont typeface="Wingdings" charset="2"/>
                <a:buChar char="Ø"/>
              </a:pPr>
              <a:r>
                <a:rPr lang="zh-CN" b="0">
                  <a:solidFill>
                    <a:schemeClr val="tx1">
                      <a:alpha val="100000"/>
                    </a:schemeClr>
                  </a:solidFill>
                </a:rPr>
                <a:t>取消了</a:t>
              </a:r>
              <a:r>
                <a:rPr lang="zh-CN" b="1">
                  <a:solidFill>
                    <a:schemeClr val="bg1">
                      <a:alpha val="100000"/>
                    </a:schemeClr>
                  </a:solidFill>
                </a:rPr>
                <a:t>对白名单中函数及其相关函数的全量插桩</a:t>
              </a:r>
              <a:endParaRPr/>
            </a:p>
            <a:p>
              <a:pPr marL="285750" indent="-285750">
                <a:lnSpc>
                  <a:spcPct val="130000"/>
                </a:lnSpc>
                <a:buFont typeface="Wingdings" charset="2"/>
                <a:buChar char="Ø"/>
              </a:pPr>
              <a:r>
                <a:rPr lang="zh-CN" b="0">
                  <a:solidFill>
                    <a:schemeClr val="tx1">
                      <a:alpha val="100000"/>
                    </a:schemeClr>
                  </a:solidFill>
                </a:rPr>
                <a:t>追踪范围被精确限定在从</a:t>
              </a:r>
              <a:r>
                <a:rPr lang="en-US" b="0">
                  <a:solidFill>
                    <a:schemeClr val="tx1">
                      <a:alpha val="100000"/>
                    </a:schemeClr>
                  </a:solidFill>
                </a:rPr>
                <a:t> trace root </a:t>
              </a:r>
              <a:r>
                <a:rPr lang="zh-CN" b="0">
                  <a:solidFill>
                    <a:schemeClr val="tx1">
                      <a:alpha val="100000"/>
                    </a:schemeClr>
                  </a:solidFill>
                </a:rPr>
                <a:t>出发、沿</a:t>
              </a:r>
              <a:r>
                <a:rPr lang="en-US" b="0">
                  <a:solidFill>
                    <a:schemeClr val="tx1">
                      <a:alpha val="100000"/>
                    </a:schemeClr>
                  </a:solidFill>
                </a:rPr>
                <a:t> await edge </a:t>
              </a:r>
              <a:r>
                <a:rPr lang="zh-CN" b="0">
                  <a:solidFill>
                    <a:schemeClr val="tx1">
                      <a:alpha val="100000"/>
                    </a:schemeClr>
                  </a:solidFill>
                </a:rPr>
                <a:t>和</a:t>
              </a:r>
              <a:r>
                <a:rPr lang="en-US" b="0">
                  <a:solidFill>
                    <a:schemeClr val="tx1">
                      <a:alpha val="100000"/>
                    </a:schemeClr>
                  </a:solidFill>
                </a:rPr>
                <a:t> call edge </a:t>
              </a:r>
              <a:r>
                <a:rPr lang="zh-CN" b="0">
                  <a:solidFill>
                    <a:schemeClr val="tx1">
                      <a:alpha val="100000"/>
                    </a:schemeClr>
                  </a:solidFill>
                </a:rPr>
                <a:t>实际执行到的路径上</a:t>
              </a:r>
              <a:endParaRPr/>
            </a:p>
          </p:txBody>
        </p:sp>
      </p:grpSp>
      <p:grpSp>
        <p:nvGrpSpPr>
          <p:cNvPr id="17" name="组合 16"/>
          <p:cNvGrpSpPr/>
          <p:nvPr/>
        </p:nvGrpSpPr>
        <p:grpSpPr>
          <a:xfrm>
            <a:off x="3091180" y="5173980"/>
            <a:ext cx="8750300" cy="1359408"/>
            <a:chOff x="3191180" y="2244971"/>
            <a:chExt cx="8750300" cy="1016666"/>
          </a:xfrm>
        </p:grpSpPr>
        <p:sp>
          <p:nvSpPr>
            <p:cNvPr id="18" name="矩形: 圆角 3"/>
            <p:cNvSpPr/>
            <p:nvPr/>
          </p:nvSpPr>
          <p:spPr>
            <a:xfrm>
              <a:off x="3191180" y="2262356"/>
              <a:ext cx="8750300" cy="981909"/>
            </a:xfrm>
            <a:prstGeom prst="roundRect">
              <a:avLst>
                <a:gd name="adj" fmla="val 10000"/>
              </a:avLst>
            </a:prstGeom>
            <a:gradFill>
              <a:gsLst>
                <a:gs pos="0">
                  <a:srgbClr val="86A3DC">
                    <a:alpha val="80000"/>
                  </a:srgbClr>
                </a:gs>
                <a:gs pos="72000">
                  <a:srgbClr val="4874CB">
                    <a:alpha val="100000"/>
                  </a:srgbClr>
                </a:gs>
              </a:gsLst>
              <a:lin ang="0" scaled="0"/>
            </a:gradFill>
            <a:ln w="19050">
              <a:noFill/>
              <a:prstDash val="solid"/>
              <a:miter lim="800000"/>
            </a:ln>
            <a:effectLst>
              <a:outerShdw blurRad="254000" algn="ctr" rotWithShape="0">
                <a:schemeClr val="accent1">
                  <a:lumMod val="50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lnSpc>
                  <a:spcPct val="120000"/>
                </a:lnSpc>
              </a:pPr>
              <a:endParaRPr sz="1800">
                <a:solidFill>
                  <a:schemeClr val="bg1">
                    <a:alpha val="100000"/>
                  </a:schemeClr>
                </a:solidFill>
                <a:latin typeface="思源宋体 CN Heavy"/>
                <a:ea typeface="思源宋体 CN Heavy"/>
                <a:cs typeface="+mn-cs"/>
              </a:endParaRPr>
            </a:p>
          </p:txBody>
        </p:sp>
        <p:sp>
          <p:nvSpPr>
            <p:cNvPr id="19" name="文本框 18"/>
            <p:cNvSpPr txBox="1"/>
            <p:nvPr/>
          </p:nvSpPr>
          <p:spPr>
            <a:xfrm>
              <a:off x="3191180" y="2244971"/>
              <a:ext cx="8750300" cy="1016666"/>
            </a:xfrm>
            <a:prstGeom prst="rect">
              <a:avLst/>
            </a:prstGeom>
            <a:ln w="6350">
              <a:prstDash val="solid"/>
            </a:ln>
          </p:spPr>
          <p:txBody>
            <a:bodyPr wrap="square" anchor="ctr">
              <a:spAutoFit/>
            </a:bodyPr>
            <a:lstStyle/>
            <a:p>
              <a:pPr marL="285750" indent="-285750">
                <a:lnSpc>
                  <a:spcPct val="130000"/>
                </a:lnSpc>
                <a:buFont typeface="Wingdings" charset="2"/>
                <a:buChar char="Ø"/>
              </a:pPr>
              <a:r>
                <a:rPr lang="zh-CN" b="0">
                  <a:solidFill>
                    <a:schemeClr val="tx1">
                      <a:alpha val="100000"/>
                    </a:schemeClr>
                  </a:solidFill>
                </a:rPr>
                <a:t>原方法使用</a:t>
              </a:r>
              <a:r>
                <a:rPr lang="en-US" b="0">
                  <a:solidFill>
                    <a:schemeClr val="tx1">
                      <a:alpha val="100000"/>
                    </a:schemeClr>
                  </a:solidFill>
                </a:rPr>
                <a:t>DWARF </a:t>
              </a:r>
              <a:r>
                <a:rPr lang="zh-CN" b="0">
                  <a:solidFill>
                    <a:schemeClr val="tx1">
                      <a:alpha val="100000"/>
                    </a:schemeClr>
                  </a:solidFill>
                </a:rPr>
                <a:t>中</a:t>
              </a:r>
              <a:r>
                <a:rPr lang="en-US" b="0">
                  <a:solidFill>
                    <a:schemeClr val="tx1">
                      <a:alpha val="100000"/>
                    </a:schemeClr>
                  </a:solidFill>
                </a:rPr>
                <a:t> Future </a:t>
              </a:r>
              <a:r>
                <a:rPr lang="zh-CN" b="0">
                  <a:solidFill>
                    <a:schemeClr val="tx1">
                      <a:alpha val="100000"/>
                    </a:schemeClr>
                  </a:solidFill>
                </a:rPr>
                <a:t>类型的偏移量来生成标识符</a:t>
              </a:r>
              <a:r>
                <a:rPr lang="en-US" b="0">
                  <a:solidFill>
                    <a:schemeClr val="tx1">
                      <a:alpha val="100000"/>
                    </a:schemeClr>
                  </a:solidFill>
                </a:rPr>
                <a:t>——</a:t>
              </a:r>
              <a:r>
                <a:rPr lang="zh-CN" b="0">
                  <a:solidFill>
                    <a:schemeClr val="tx1">
                      <a:alpha val="100000"/>
                    </a:schemeClr>
                  </a:solidFill>
                </a:rPr>
                <a:t>这</a:t>
              </a:r>
              <a:r>
                <a:rPr lang="zh-CN" b="1">
                  <a:solidFill>
                    <a:schemeClr val="bg1">
                      <a:alpha val="100000"/>
                    </a:schemeClr>
                  </a:solidFill>
                </a:rPr>
                <a:t>只能区分不同的</a:t>
              </a:r>
              <a:r>
                <a:rPr lang="en-US" b="1">
                  <a:solidFill>
                    <a:schemeClr val="bg1">
                      <a:alpha val="100000"/>
                    </a:schemeClr>
                  </a:solidFill>
                </a:rPr>
                <a:t> async </a:t>
              </a:r>
              <a:r>
                <a:rPr lang="zh-CN" b="1">
                  <a:solidFill>
                    <a:schemeClr val="bg1">
                      <a:alpha val="100000"/>
                    </a:schemeClr>
                  </a:solidFill>
                </a:rPr>
                <a:t>函数类型，无法区分同一类型的不同实例</a:t>
              </a:r>
              <a:endParaRPr/>
            </a:p>
            <a:p>
              <a:pPr marL="285750" indent="-285750">
                <a:lnSpc>
                  <a:spcPct val="130000"/>
                </a:lnSpc>
                <a:buFont typeface="Wingdings" charset="2"/>
                <a:buChar char="Ø"/>
              </a:pPr>
              <a:r>
                <a:rPr lang="zh-CN" b="0">
                  <a:solidFill>
                    <a:schemeClr val="tx1">
                      <a:alpha val="100000"/>
                    </a:schemeClr>
                  </a:solidFill>
                </a:rPr>
                <a:t>改进</a:t>
              </a:r>
              <a:r>
                <a:rPr lang="zh-CN" b="1">
                  <a:solidFill>
                    <a:schemeClr val="bg1">
                      <a:alpha val="100000"/>
                    </a:schemeClr>
                  </a:solidFill>
                </a:rPr>
                <a:t>使用</a:t>
              </a:r>
              <a:r>
                <a:rPr lang="en-US" b="1">
                  <a:solidFill>
                    <a:schemeClr val="bg1">
                      <a:alpha val="100000"/>
                    </a:schemeClr>
                  </a:solidFill>
                </a:rPr>
                <a:t> (poll_symbol, env_ptr)</a:t>
              </a:r>
              <a:r>
                <a:rPr lang="zh-CN" b="1">
                  <a:solidFill>
                    <a:schemeClr val="bg1">
                      <a:alpha val="100000"/>
                    </a:schemeClr>
                  </a:solidFill>
                </a:rPr>
                <a:t>二元组作为协程实例的唯一标识</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6"/>
          <p:cNvSpPr txBox="1"/>
          <p:nvPr/>
        </p:nvSpPr>
        <p:spPr>
          <a:xfrm>
            <a:off x="609904" y="806704"/>
            <a:ext cx="10972800" cy="508000"/>
          </a:xfrm>
          <a:prstGeom prst="rect">
            <a:avLst/>
          </a:prstGeom>
          <a:noFill/>
        </p:spPr>
        <p:txBody>
          <a:bodyPr wrap="square" lIns="45720" tIns="9144" rIns="45720"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技术实现二：异步跟踪与跨特权级调试融合</a:t>
            </a:r>
            <a:endParaRPr/>
          </a:p>
        </p:txBody>
      </p:sp>
      <p:sp>
        <p:nvSpPr>
          <p:cNvPr id="22" name="TextBox 7"/>
          <p:cNvSpPr txBox="1"/>
          <p:nvPr/>
        </p:nvSpPr>
        <p:spPr>
          <a:xfrm>
            <a:off x="609904" y="1389430"/>
            <a:ext cx="10972800" cy="342900"/>
          </a:xfrm>
          <a:prstGeom prst="rect">
            <a:avLst/>
          </a:prstGeom>
          <a:noFill/>
        </p:spPr>
        <p:txBody>
          <a:bodyPr wrap="square" lIns="45720" tIns="9144" rIns="45720" bIns="9144" anchor="ctr">
            <a:spAutoFit/>
          </a:bodyPr>
          <a:lstStyle/>
          <a:p>
            <a:pPr algn="l">
              <a:lnSpc>
                <a:spcPct val="135000"/>
              </a:lnSpc>
              <a:spcAft>
                <a:spcPts val="0"/>
              </a:spcAft>
            </a:pPr>
            <a:r>
              <a:rPr lang="zh-CN" sz="1600" b="0">
                <a:solidFill>
                  <a:srgbClr val="666666">
                    <a:alpha val="100000"/>
                  </a:srgbClr>
                </a:solidFill>
                <a:latin typeface="华文中宋"/>
                <a:ea typeface="华文中宋"/>
                <a:cs typeface="华文中宋"/>
              </a:rPr>
              <a:t>问题分析</a:t>
            </a:r>
            <a:endParaRPr/>
          </a:p>
        </p:txBody>
      </p:sp>
      <p:sp>
        <p:nvSpPr>
          <p:cNvPr id="23" name="TextBox 25"/>
          <p:cNvSpPr txBox="1"/>
          <p:nvPr/>
        </p:nvSpPr>
        <p:spPr>
          <a:xfrm>
            <a:off x="11384280" y="6419088"/>
            <a:ext cx="457200" cy="228600"/>
          </a:xfrm>
          <a:prstGeom prst="rect">
            <a:avLst/>
          </a:prstGeom>
          <a:noFill/>
        </p:spPr>
        <p:txBody>
          <a:bodyPr wrap="square" lIns="45720" tIns="9144" rIns="45720" bIns="9144" anchor="ctr">
            <a:spAutoFit/>
          </a:bodyPr>
          <a:lstStyle/>
          <a:p>
            <a:pPr algn="r">
              <a:spcAft>
                <a:spcPts val="0"/>
              </a:spcAft>
            </a:pPr>
            <a:r>
              <a:rPr lang="zh-CN" sz="1100" b="0">
                <a:solidFill>
                  <a:srgbClr val="666666"/>
                </a:solidFill>
                <a:latin typeface="华文中宋"/>
                <a:ea typeface="华文中宋"/>
                <a:cs typeface="华文中宋"/>
              </a:rPr>
              <a:t>9</a:t>
            </a:r>
            <a:endParaRPr lang="zh-CN">
              <a:latin typeface="华文中宋"/>
              <a:ea typeface="华文中宋"/>
              <a:cs typeface="华文中宋"/>
            </a:endParaRPr>
          </a:p>
        </p:txBody>
      </p:sp>
      <p:sp>
        <p:nvSpPr>
          <p:cNvPr id="24" name="Rounded Rectangle 26"/>
          <p:cNvSpPr/>
          <p:nvPr/>
        </p:nvSpPr>
        <p:spPr>
          <a:xfrm>
            <a:off x="621792" y="1840492"/>
            <a:ext cx="10735056" cy="640080"/>
          </a:xfrm>
          <a:prstGeom prst="roundRect">
            <a:avLst/>
          </a:prstGeom>
          <a:solidFill>
            <a:srgbClr val="F4F6FA"/>
          </a:solidFill>
          <a:ln w="12700">
            <a:solidFill>
              <a:srgbClr val="C8D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8"/>
          <p:cNvSpPr txBox="1"/>
          <p:nvPr/>
        </p:nvSpPr>
        <p:spPr>
          <a:xfrm>
            <a:off x="768096" y="2014482"/>
            <a:ext cx="10203991" cy="292100"/>
          </a:xfrm>
          <a:prstGeom prst="rect">
            <a:avLst/>
          </a:prstGeom>
          <a:noFill/>
        </p:spPr>
        <p:txBody>
          <a:bodyPr wrap="square" lIns="45720" tIns="9144" rIns="45720" bIns="9144" anchor="ctr">
            <a:spAutoFit/>
          </a:bodyPr>
          <a:lstStyle/>
          <a:p>
            <a:pPr algn="l">
              <a:spcAft>
                <a:spcPts val="0"/>
              </a:spcAft>
            </a:pPr>
            <a:r>
              <a:rPr lang="zh-CN" sz="1800" b="1">
                <a:solidFill>
                  <a:srgbClr val="052E68">
                    <a:alpha val="100000"/>
                  </a:srgbClr>
                </a:solidFill>
                <a:latin typeface="思源宋体 CN Heavy"/>
                <a:ea typeface="思源宋体 CN Heavy"/>
                <a:cs typeface="思源宋体 CN Heavy"/>
              </a:rPr>
              <a:t>核心冲突：特权级切换会清除异步跟踪数据，本质是</a:t>
            </a:r>
            <a:r>
              <a:rPr lang="zh-CN" sz="1800" b="1">
                <a:solidFill>
                  <a:srgbClr val="C00000">
                    <a:alpha val="100000"/>
                  </a:srgbClr>
                </a:solidFill>
                <a:latin typeface="思源宋体 CN Heavy"/>
                <a:ea typeface="思源宋体 CN Heavy"/>
                <a:cs typeface="思源宋体 CN Heavy"/>
              </a:rPr>
              <a:t>两个功能的相关数据生命周期存在冲突</a:t>
            </a:r>
            <a:endParaRPr/>
          </a:p>
        </p:txBody>
      </p:sp>
      <p:sp>
        <p:nvSpPr>
          <p:cNvPr id="26" name="文本框 25"/>
          <p:cNvSpPr txBox="1"/>
          <p:nvPr/>
        </p:nvSpPr>
        <p:spPr>
          <a:xfrm>
            <a:off x="768096" y="2730827"/>
            <a:ext cx="2978150" cy="368300"/>
          </a:xfrm>
          <a:prstGeom prst="rect">
            <a:avLst/>
          </a:prstGeom>
          <a:ln w="6350">
            <a:prstDash val="solid"/>
          </a:ln>
        </p:spPr>
        <p:txBody>
          <a:bodyPr wrap="none">
            <a:spAutoFit/>
          </a:bodyPr>
          <a:lstStyle/>
          <a:p>
            <a:pPr marL="285750" indent="-285750">
              <a:buFont typeface="Wingdings" charset="2"/>
              <a:buChar char="n"/>
            </a:pPr>
            <a:r>
              <a:rPr lang="zh-CN" b="1"/>
              <a:t>存在冲突的相关数据有：</a:t>
            </a:r>
            <a:endParaRPr/>
          </a:p>
        </p:txBody>
      </p:sp>
      <p:sp>
        <p:nvSpPr>
          <p:cNvPr id="27" name="文本框 26"/>
          <p:cNvSpPr txBox="1"/>
          <p:nvPr/>
        </p:nvSpPr>
        <p:spPr>
          <a:xfrm>
            <a:off x="998652" y="3099127"/>
            <a:ext cx="7366000" cy="1739900"/>
          </a:xfrm>
          <a:prstGeom prst="rect">
            <a:avLst/>
          </a:prstGeom>
          <a:ln w="6350">
            <a:prstDash val="solid"/>
          </a:ln>
        </p:spPr>
        <p:txBody>
          <a:bodyPr wrap="none">
            <a:spAutoFit/>
          </a:bodyPr>
          <a:lstStyle/>
          <a:p>
            <a:pPr marL="342900" indent="-342900">
              <a:lnSpc>
                <a:spcPct val="150000"/>
              </a:lnSpc>
              <a:buAutoNum type="arabicPeriod"/>
            </a:pPr>
            <a:r>
              <a:rPr lang="zh-CN" b="1"/>
              <a:t>断点数据：</a:t>
            </a:r>
            <a:r>
              <a:rPr lang="zh-CN"/>
              <a:t>异步跟踪和跨特权级调试共涉及</a:t>
            </a:r>
            <a:r>
              <a:rPr lang="en-US"/>
              <a:t>6</a:t>
            </a:r>
            <a:r>
              <a:rPr lang="zh-CN"/>
              <a:t>大类断点</a:t>
            </a:r>
            <a:endParaRPr/>
          </a:p>
          <a:p>
            <a:pPr marL="342900" indent="-342900">
              <a:lnSpc>
                <a:spcPct val="150000"/>
              </a:lnSpc>
              <a:buAutoNum type="arabicPeriod"/>
            </a:pPr>
            <a:r>
              <a:rPr lang="zh-CN" b="1"/>
              <a:t>协程状态数据：</a:t>
            </a:r>
            <a:r>
              <a:rPr lang="zh-CN"/>
              <a:t>包括实例映射表、协程</a:t>
            </a:r>
            <a:r>
              <a:rPr lang="en-US"/>
              <a:t>ID</a:t>
            </a:r>
            <a:r>
              <a:rPr lang="zh-CN"/>
              <a:t>、</a:t>
            </a:r>
            <a:r>
              <a:rPr lang="en-US"/>
              <a:t>poll</a:t>
            </a:r>
            <a:r>
              <a:rPr lang="zh-CN"/>
              <a:t>次数等</a:t>
            </a:r>
            <a:endParaRPr/>
          </a:p>
          <a:p>
            <a:pPr marL="342900" indent="-342900">
              <a:lnSpc>
                <a:spcPct val="150000"/>
              </a:lnSpc>
              <a:buAutoNum type="arabicPeriod"/>
            </a:pPr>
            <a:r>
              <a:rPr lang="zh-CN" b="1"/>
              <a:t>追踪记录数据：</a:t>
            </a:r>
            <a:r>
              <a:rPr lang="en-US"/>
              <a:t>trace root </a:t>
            </a:r>
            <a:r>
              <a:rPr lang="zh-CN"/>
              <a:t>函数集合、已安装特殊断点函数的集合等</a:t>
            </a:r>
            <a:endParaRPr/>
          </a:p>
          <a:p>
            <a:pPr marL="342900" indent="-342900">
              <a:lnSpc>
                <a:spcPct val="150000"/>
              </a:lnSpc>
              <a:buAutoNum type="arabicPeriod"/>
            </a:pPr>
            <a:r>
              <a:rPr lang="zh-CN" b="1"/>
              <a:t>白名单数据：</a:t>
            </a:r>
            <a:r>
              <a:rPr lang="zh-CN"/>
              <a:t>白名单中函数的地址映射</a:t>
            </a:r>
            <a:endParaRPr/>
          </a:p>
        </p:txBody>
      </p:sp>
      <p:sp>
        <p:nvSpPr>
          <p:cNvPr id="28" name="文本框 27"/>
          <p:cNvSpPr txBox="1"/>
          <p:nvPr/>
        </p:nvSpPr>
        <p:spPr>
          <a:xfrm>
            <a:off x="768096" y="4916507"/>
            <a:ext cx="1606550" cy="368300"/>
          </a:xfrm>
          <a:prstGeom prst="rect">
            <a:avLst/>
          </a:prstGeom>
          <a:ln w="6350">
            <a:prstDash val="solid"/>
          </a:ln>
        </p:spPr>
        <p:txBody>
          <a:bodyPr wrap="none">
            <a:spAutoFit/>
          </a:bodyPr>
          <a:lstStyle/>
          <a:p>
            <a:pPr marL="285750" indent="-285750">
              <a:buFont typeface="Wingdings" charset="2"/>
              <a:buChar char="n"/>
            </a:pPr>
            <a:r>
              <a:rPr lang="zh-CN" b="1"/>
              <a:t>解决方案：</a:t>
            </a:r>
            <a:endParaRPr/>
          </a:p>
        </p:txBody>
      </p:sp>
      <p:sp>
        <p:nvSpPr>
          <p:cNvPr id="29" name="TextBox 28"/>
          <p:cNvSpPr txBox="1"/>
          <p:nvPr/>
        </p:nvSpPr>
        <p:spPr>
          <a:xfrm>
            <a:off x="998652" y="5457582"/>
            <a:ext cx="10204450" cy="292100"/>
          </a:xfrm>
          <a:prstGeom prst="rect">
            <a:avLst/>
          </a:prstGeom>
          <a:noFill/>
        </p:spPr>
        <p:txBody>
          <a:bodyPr wrap="square" lIns="45720" tIns="9144" rIns="45720" bIns="9144" anchor="ctr">
            <a:spAutoFit/>
          </a:bodyPr>
          <a:lstStyle/>
          <a:p>
            <a:pPr algn="l">
              <a:spcAft>
                <a:spcPts val="0"/>
              </a:spcAft>
            </a:pPr>
            <a:r>
              <a:rPr lang="zh-CN" sz="1800" b="1">
                <a:solidFill>
                  <a:srgbClr val="C00000">
                    <a:alpha val="100000"/>
                  </a:srgbClr>
                </a:solidFill>
                <a:latin typeface="思源宋体 CN Heavy"/>
                <a:ea typeface="思源宋体 CN Heavy"/>
                <a:cs typeface="思源宋体 CN Heavy"/>
              </a:rPr>
              <a:t>设计</a:t>
            </a:r>
            <a:r>
              <a:rPr lang="en-US" sz="1800" b="1">
                <a:solidFill>
                  <a:srgbClr val="C00000">
                    <a:alpha val="100000"/>
                  </a:srgbClr>
                </a:solidFill>
                <a:latin typeface="思源宋体 CN Heavy"/>
                <a:ea typeface="思源宋体 CN Heavy"/>
                <a:cs typeface="思源宋体 CN Heavy"/>
              </a:rPr>
              <a:t> save/restore </a:t>
            </a:r>
            <a:r>
              <a:rPr lang="zh-CN" sz="1800" b="1">
                <a:solidFill>
                  <a:srgbClr val="C00000">
                    <a:alpha val="100000"/>
                  </a:srgbClr>
                </a:solidFill>
                <a:latin typeface="思源宋体 CN Heavy"/>
                <a:ea typeface="思源宋体 CN Heavy"/>
                <a:cs typeface="思源宋体 CN Heavy"/>
              </a:rPr>
              <a:t>机制，正确维护所有数据的生命周期</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6"/>
          <p:cNvSpPr txBox="1"/>
          <p:nvPr/>
        </p:nvSpPr>
        <p:spPr>
          <a:xfrm>
            <a:off x="609904" y="806704"/>
            <a:ext cx="10972800" cy="508000"/>
          </a:xfrm>
          <a:prstGeom prst="rect">
            <a:avLst/>
          </a:prstGeom>
          <a:noFill/>
        </p:spPr>
        <p:txBody>
          <a:bodyPr wrap="square" lIns="45720" tIns="9144" rIns="45720"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技术实现二：异步跟踪与跨特权级调试融合</a:t>
            </a:r>
            <a:endParaRPr/>
          </a:p>
        </p:txBody>
      </p:sp>
      <p:sp>
        <p:nvSpPr>
          <p:cNvPr id="32" name="Rounded Rectangle 22"/>
          <p:cNvSpPr/>
          <p:nvPr/>
        </p:nvSpPr>
        <p:spPr>
          <a:xfrm>
            <a:off x="468394" y="1732330"/>
            <a:ext cx="3794760" cy="3063240"/>
          </a:xfrm>
          <a:prstGeom prst="roundRect">
            <a:avLst/>
          </a:prstGeom>
          <a:solidFill>
            <a:srgbClr val="F4F6FA"/>
          </a:solidFill>
          <a:ln w="12700">
            <a:solidFill>
              <a:srgbClr val="C8D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22"/>
          <p:cNvSpPr/>
          <p:nvPr/>
        </p:nvSpPr>
        <p:spPr>
          <a:xfrm>
            <a:off x="5129784" y="1732330"/>
            <a:ext cx="6564222" cy="3063240"/>
          </a:xfrm>
          <a:prstGeom prst="roundRect">
            <a:avLst/>
          </a:prstGeom>
          <a:solidFill>
            <a:srgbClr val="F4F6FA"/>
          </a:solidFill>
          <a:ln w="12700">
            <a:solidFill>
              <a:srgbClr val="C8D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7"/>
          <p:cNvSpPr txBox="1"/>
          <p:nvPr/>
        </p:nvSpPr>
        <p:spPr>
          <a:xfrm>
            <a:off x="609904" y="1389430"/>
            <a:ext cx="10972800" cy="342900"/>
          </a:xfrm>
          <a:prstGeom prst="rect">
            <a:avLst/>
          </a:prstGeom>
          <a:noFill/>
        </p:spPr>
        <p:txBody>
          <a:bodyPr wrap="square" lIns="45720" tIns="9144" rIns="45720" bIns="9144" anchor="ctr">
            <a:spAutoFit/>
          </a:bodyPr>
          <a:lstStyle/>
          <a:p>
            <a:pPr algn="l">
              <a:lnSpc>
                <a:spcPct val="135000"/>
              </a:lnSpc>
              <a:spcAft>
                <a:spcPts val="0"/>
              </a:spcAft>
            </a:pPr>
            <a:r>
              <a:rPr lang="zh-CN" sz="1600" b="0">
                <a:solidFill>
                  <a:srgbClr val="666666">
                    <a:alpha val="100000"/>
                  </a:srgbClr>
                </a:solidFill>
                <a:latin typeface="华文中宋"/>
                <a:ea typeface="华文中宋"/>
                <a:cs typeface="华文中宋"/>
              </a:rPr>
              <a:t>具体方案</a:t>
            </a:r>
            <a:endParaRPr/>
          </a:p>
        </p:txBody>
      </p:sp>
      <p:sp>
        <p:nvSpPr>
          <p:cNvPr id="35" name="TextBox 25"/>
          <p:cNvSpPr txBox="1"/>
          <p:nvPr/>
        </p:nvSpPr>
        <p:spPr>
          <a:xfrm>
            <a:off x="11384280" y="6441313"/>
            <a:ext cx="457200" cy="184150"/>
          </a:xfrm>
          <a:prstGeom prst="rect">
            <a:avLst/>
          </a:prstGeom>
          <a:noFill/>
        </p:spPr>
        <p:txBody>
          <a:bodyPr wrap="square" lIns="45720" tIns="9144" rIns="45720" bIns="9144" anchor="ctr">
            <a:spAutoFit/>
          </a:bodyPr>
          <a:lstStyle/>
          <a:p>
            <a:pPr algn="r">
              <a:spcAft>
                <a:spcPts val="0"/>
              </a:spcAft>
            </a:pPr>
            <a:r>
              <a:rPr lang="en-US" sz="1100" b="0">
                <a:solidFill>
                  <a:srgbClr val="666666">
                    <a:alpha val="100000"/>
                  </a:srgbClr>
                </a:solidFill>
                <a:latin typeface="华文中宋"/>
                <a:ea typeface="华文中宋"/>
                <a:cs typeface="华文中宋"/>
              </a:rPr>
              <a:t>10</a:t>
            </a:r>
            <a:endParaRPr/>
          </a:p>
        </p:txBody>
      </p:sp>
      <p:sp>
        <p:nvSpPr>
          <p:cNvPr id="36" name="文本框 35"/>
          <p:cNvSpPr txBox="1"/>
          <p:nvPr/>
        </p:nvSpPr>
        <p:spPr>
          <a:xfrm>
            <a:off x="768096" y="1829778"/>
            <a:ext cx="1727200" cy="368300"/>
          </a:xfrm>
          <a:prstGeom prst="rect">
            <a:avLst/>
          </a:prstGeom>
          <a:ln w="6350">
            <a:prstDash val="solid"/>
          </a:ln>
        </p:spPr>
        <p:txBody>
          <a:bodyPr wrap="none">
            <a:spAutoFit/>
          </a:bodyPr>
          <a:lstStyle/>
          <a:p>
            <a:pPr marL="285750" indent="-285750">
              <a:buFont typeface="Wingdings" charset="2"/>
              <a:buChar char="n"/>
            </a:pPr>
            <a:r>
              <a:rPr lang="en-US" b="1"/>
              <a:t>save </a:t>
            </a:r>
            <a:r>
              <a:rPr lang="zh-CN" b="1"/>
              <a:t>机制：</a:t>
            </a:r>
            <a:endParaRPr/>
          </a:p>
        </p:txBody>
      </p:sp>
      <p:sp>
        <p:nvSpPr>
          <p:cNvPr id="37" name="TextBox 7"/>
          <p:cNvSpPr txBox="1"/>
          <p:nvPr/>
        </p:nvSpPr>
        <p:spPr>
          <a:xfrm>
            <a:off x="768096" y="2272804"/>
            <a:ext cx="3762865" cy="342900"/>
          </a:xfrm>
          <a:prstGeom prst="rect">
            <a:avLst/>
          </a:prstGeom>
          <a:noFill/>
        </p:spPr>
        <p:txBody>
          <a:bodyPr wrap="square" lIns="45720" tIns="9144" rIns="45720" bIns="9144" anchor="ctr">
            <a:spAutoFit/>
          </a:bodyPr>
          <a:lstStyle/>
          <a:p>
            <a:pPr algn="l">
              <a:lnSpc>
                <a:spcPct val="135000"/>
              </a:lnSpc>
              <a:spcAft>
                <a:spcPts val="0"/>
              </a:spcAft>
            </a:pPr>
            <a:r>
              <a:rPr lang="zh-CN" sz="1600" b="0">
                <a:solidFill>
                  <a:srgbClr val="666666">
                    <a:alpha val="100000"/>
                  </a:srgbClr>
                </a:solidFill>
                <a:latin typeface="华文中宋"/>
                <a:ea typeface="华文中宋"/>
                <a:cs typeface="华文中宋"/>
              </a:rPr>
              <a:t>执行时间：在清除旧断点组之前执行</a:t>
            </a:r>
            <a:endParaRPr/>
          </a:p>
        </p:txBody>
      </p:sp>
      <p:sp>
        <p:nvSpPr>
          <p:cNvPr id="38" name="文本框 37"/>
          <p:cNvSpPr txBox="1"/>
          <p:nvPr/>
        </p:nvSpPr>
        <p:spPr>
          <a:xfrm>
            <a:off x="768096" y="2731421"/>
            <a:ext cx="2838450" cy="1555750"/>
          </a:xfrm>
          <a:prstGeom prst="rect">
            <a:avLst/>
          </a:prstGeom>
          <a:ln w="6350">
            <a:prstDash val="solid"/>
          </a:ln>
        </p:spPr>
        <p:txBody>
          <a:bodyPr wrap="none">
            <a:spAutoFit/>
          </a:bodyPr>
          <a:lstStyle/>
          <a:p>
            <a:pPr marL="342900" lvl="0" indent="-342900" algn="l" defTabSz="914400" hangingPunct="1">
              <a:lnSpc>
                <a:spcPct val="200000"/>
              </a:lnSpc>
              <a:buFont typeface="Wingdings" charset="2"/>
              <a:buChar char="ü"/>
              <a:defRPr sz="1800">
                <a:solidFill>
                  <a:schemeClr val="tx1">
                    <a:alpha val="100000"/>
                  </a:schemeClr>
                </a:solidFill>
                <a:latin typeface="Roboto"/>
                <a:ea typeface="HarmonyOS Sans SC"/>
                <a:cs typeface="+mn-cs"/>
              </a:defRPr>
            </a:pPr>
            <a:r>
              <a:rPr lang="zh-CN" sz="1600" b="1" i="0" u="none" strike="noStrike">
                <a:solidFill>
                  <a:srgbClr val="052E68">
                    <a:alpha val="100000"/>
                  </a:srgbClr>
                </a:solidFill>
                <a:latin typeface="思源宋体 CN Heavy"/>
                <a:ea typeface="思源宋体 CN Heavy"/>
                <a:cs typeface="思源宋体 CN Heavy"/>
              </a:rPr>
              <a:t>保存 poll 入口断点元数据</a:t>
            </a:r>
            <a:endParaRPr sz="1800">
              <a:solidFill>
                <a:schemeClr val="tx1">
                  <a:alpha val="100000"/>
                </a:schemeClr>
              </a:solidFill>
              <a:latin typeface="Roboto"/>
              <a:ea typeface="HarmonyOS Sans SC"/>
              <a:cs typeface="+mn-cs"/>
            </a:endParaRPr>
          </a:p>
          <a:p>
            <a:pPr marL="342900" lvl="0" indent="-342900" algn="l" defTabSz="914400" hangingPunct="1">
              <a:lnSpc>
                <a:spcPct val="200000"/>
              </a:lnSpc>
              <a:buFont typeface="Wingdings" charset="2"/>
              <a:buChar char="ü"/>
              <a:defRPr sz="1800">
                <a:solidFill>
                  <a:schemeClr val="tx1">
                    <a:alpha val="100000"/>
                  </a:schemeClr>
                </a:solidFill>
                <a:latin typeface="Roboto"/>
                <a:ea typeface="HarmonyOS Sans SC"/>
                <a:cs typeface="+mn-cs"/>
              </a:defRPr>
            </a:pPr>
            <a:r>
              <a:rPr lang="zh-CN" sz="1600" b="1" i="0" u="none" strike="noStrike">
                <a:solidFill>
                  <a:srgbClr val="052E68">
                    <a:alpha val="100000"/>
                  </a:srgbClr>
                </a:solidFill>
                <a:latin typeface="思源宋体 CN Heavy"/>
                <a:ea typeface="思源宋体 CN Heavy"/>
                <a:cs typeface="思源宋体 CN Heavy"/>
              </a:rPr>
              <a:t>保存协程状态数据</a:t>
            </a:r>
            <a:endParaRPr/>
          </a:p>
          <a:p>
            <a:pPr marL="342900" lvl="0" indent="-342900" algn="l" defTabSz="914400" hangingPunct="1">
              <a:lnSpc>
                <a:spcPct val="200000"/>
              </a:lnSpc>
              <a:buFont typeface="Wingdings" charset="2"/>
              <a:buChar char="ü"/>
              <a:defRPr sz="1800">
                <a:solidFill>
                  <a:schemeClr val="tx1">
                    <a:alpha val="100000"/>
                  </a:schemeClr>
                </a:solidFill>
                <a:latin typeface="Roboto"/>
                <a:ea typeface="HarmonyOS Sans SC"/>
                <a:cs typeface="+mn-cs"/>
              </a:defRPr>
            </a:pPr>
            <a:r>
              <a:rPr lang="zh-CN" sz="1600" b="1" i="0" u="none" strike="noStrike">
                <a:solidFill>
                  <a:srgbClr val="052E68">
                    <a:alpha val="100000"/>
                  </a:srgbClr>
                </a:solidFill>
                <a:latin typeface="思源宋体 CN Heavy"/>
                <a:ea typeface="思源宋体 CN Heavy"/>
                <a:cs typeface="思源宋体 CN Heavy"/>
              </a:rPr>
              <a:t>保存追踪函数列表</a:t>
            </a:r>
            <a:endParaRPr/>
          </a:p>
        </p:txBody>
      </p:sp>
      <p:grpSp>
        <p:nvGrpSpPr>
          <p:cNvPr id="39" name="组合 38"/>
          <p:cNvGrpSpPr/>
          <p:nvPr/>
        </p:nvGrpSpPr>
        <p:grpSpPr>
          <a:xfrm>
            <a:off x="5572710" y="1829753"/>
            <a:ext cx="6268770" cy="2996914"/>
            <a:chOff x="6419351" y="1904479"/>
            <a:chExt cx="6268770" cy="2996914"/>
          </a:xfrm>
        </p:grpSpPr>
        <p:grpSp>
          <p:nvGrpSpPr>
            <p:cNvPr id="40" name="组合 39"/>
            <p:cNvGrpSpPr/>
            <p:nvPr/>
          </p:nvGrpSpPr>
          <p:grpSpPr>
            <a:xfrm>
              <a:off x="6419351" y="1904479"/>
              <a:ext cx="5689600" cy="711225"/>
              <a:chOff x="6954436" y="1904479"/>
              <a:chExt cx="5689600" cy="711225"/>
            </a:xfrm>
          </p:grpSpPr>
          <p:sp>
            <p:nvSpPr>
              <p:cNvPr id="41" name="文本框 40"/>
              <p:cNvSpPr txBox="1"/>
              <p:nvPr/>
            </p:nvSpPr>
            <p:spPr>
              <a:xfrm>
                <a:off x="6959008" y="1904479"/>
                <a:ext cx="2000250" cy="368300"/>
              </a:xfrm>
              <a:prstGeom prst="rect">
                <a:avLst/>
              </a:prstGeom>
              <a:ln w="6350">
                <a:prstDash val="solid"/>
              </a:ln>
            </p:spPr>
            <p:txBody>
              <a:bodyPr wrap="none">
                <a:spAutoFit/>
              </a:bodyPr>
              <a:lstStyle/>
              <a:p>
                <a:pPr marL="285750" indent="-285750">
                  <a:buFont typeface="Wingdings" charset="2"/>
                  <a:buChar char="n"/>
                </a:pPr>
                <a:r>
                  <a:rPr lang="en-US" b="1"/>
                  <a:t>restore </a:t>
                </a:r>
                <a:r>
                  <a:rPr lang="zh-CN" b="1"/>
                  <a:t>机制：</a:t>
                </a:r>
                <a:endParaRPr/>
              </a:p>
            </p:txBody>
          </p:sp>
          <p:sp>
            <p:nvSpPr>
              <p:cNvPr id="42" name="TextBox 7"/>
              <p:cNvSpPr txBox="1"/>
              <p:nvPr/>
            </p:nvSpPr>
            <p:spPr>
              <a:xfrm>
                <a:off x="6954436" y="2272804"/>
                <a:ext cx="5689600" cy="342900"/>
              </a:xfrm>
              <a:prstGeom prst="rect">
                <a:avLst/>
              </a:prstGeom>
              <a:noFill/>
            </p:spPr>
            <p:txBody>
              <a:bodyPr wrap="square" lIns="45720" tIns="9144" rIns="45720" bIns="9144" anchor="ctr">
                <a:spAutoFit/>
              </a:bodyPr>
              <a:lstStyle/>
              <a:p>
                <a:pPr algn="l">
                  <a:lnSpc>
                    <a:spcPct val="135000"/>
                  </a:lnSpc>
                  <a:spcAft>
                    <a:spcPts val="0"/>
                  </a:spcAft>
                </a:pPr>
                <a:r>
                  <a:rPr lang="zh-CN" sz="1600" b="0">
                    <a:solidFill>
                      <a:srgbClr val="666666">
                        <a:alpha val="100000"/>
                      </a:srgbClr>
                    </a:solidFill>
                    <a:latin typeface="华文中宋"/>
                    <a:ea typeface="华文中宋"/>
                    <a:cs typeface="华文中宋"/>
                  </a:rPr>
                  <a:t>执行时间：在新符号表加载完成、新断点组激活后执行</a:t>
                </a:r>
                <a:endParaRPr/>
              </a:p>
            </p:txBody>
          </p:sp>
        </p:grpSp>
        <p:grpSp>
          <p:nvGrpSpPr>
            <p:cNvPr id="43" name="组合 42"/>
            <p:cNvGrpSpPr/>
            <p:nvPr/>
          </p:nvGrpSpPr>
          <p:grpSpPr>
            <a:xfrm>
              <a:off x="6419351" y="2825705"/>
              <a:ext cx="6268770" cy="2075688"/>
              <a:chOff x="6068777" y="3002458"/>
              <a:chExt cx="6268770" cy="2075688"/>
            </a:xfrm>
          </p:grpSpPr>
          <p:sp>
            <p:nvSpPr>
              <p:cNvPr id="44" name="TextBox 34"/>
              <p:cNvSpPr txBox="1"/>
              <p:nvPr/>
            </p:nvSpPr>
            <p:spPr>
              <a:xfrm>
                <a:off x="6366516" y="3002458"/>
                <a:ext cx="2011679" cy="457200"/>
              </a:xfrm>
              <a:prstGeom prst="rect">
                <a:avLst/>
              </a:prstGeom>
              <a:noFill/>
            </p:spPr>
            <p:txBody>
              <a:bodyPr wrap="square" lIns="54864" tIns="9144" rIns="54864" bIns="9144" anchor="ctr">
                <a:spAutoFit/>
              </a:bodyPr>
              <a:lstStyle/>
              <a:p>
                <a:pPr algn="l">
                  <a:spcAft>
                    <a:spcPts val="0"/>
                  </a:spcAft>
                </a:pPr>
                <a:r>
                  <a:rPr lang="zh-CN" sz="1600" b="1">
                    <a:solidFill>
                      <a:srgbClr val="052E68"/>
                    </a:solidFill>
                    <a:latin typeface="思源宋体 CN Heavy"/>
                    <a:ea typeface="思源宋体 CN Heavy"/>
                    <a:cs typeface="思源宋体 CN Heavy"/>
                  </a:rPr>
                  <a:t>恢复白名单配置</a:t>
                </a:r>
                <a:endParaRPr lang="zh-CN">
                  <a:latin typeface="思源宋体 CN Heavy"/>
                  <a:ea typeface="思源宋体 CN Heavy"/>
                  <a:cs typeface="思源宋体 CN Heavy"/>
                </a:endParaRPr>
              </a:p>
            </p:txBody>
          </p:sp>
          <p:sp>
            <p:nvSpPr>
              <p:cNvPr id="45" name="TextBox 35"/>
              <p:cNvSpPr txBox="1"/>
              <p:nvPr/>
            </p:nvSpPr>
            <p:spPr>
              <a:xfrm>
                <a:off x="8615940" y="3002458"/>
                <a:ext cx="3721607" cy="457200"/>
              </a:xfrm>
              <a:prstGeom prst="rect">
                <a:avLst/>
              </a:prstGeom>
              <a:noFill/>
            </p:spPr>
            <p:txBody>
              <a:bodyPr wrap="square" lIns="54864" tIns="9144" rIns="54864" bIns="9144" anchor="ctr">
                <a:spAutoFit/>
              </a:bodyPr>
              <a:lstStyle/>
              <a:p>
                <a:pPr algn="l">
                  <a:spcAft>
                    <a:spcPts val="0"/>
                  </a:spcAft>
                </a:pPr>
                <a:r>
                  <a:rPr lang="zh-CN" sz="1500" b="0" dirty="0">
                    <a:solidFill>
                      <a:srgbClr val="555555"/>
                    </a:solidFill>
                    <a:latin typeface="华文中宋"/>
                    <a:ea typeface="华文中宋"/>
                    <a:cs typeface="华文中宋"/>
                  </a:rPr>
                  <a:t>标记地址映射待重建</a:t>
                </a:r>
                <a:endParaRPr lang="zh-CN" dirty="0">
                  <a:latin typeface="华文中宋"/>
                  <a:ea typeface="华文中宋"/>
                  <a:cs typeface="华文中宋"/>
                </a:endParaRPr>
              </a:p>
            </p:txBody>
          </p:sp>
          <p:sp>
            <p:nvSpPr>
              <p:cNvPr id="46" name="TextBox 37"/>
              <p:cNvSpPr txBox="1"/>
              <p:nvPr/>
            </p:nvSpPr>
            <p:spPr>
              <a:xfrm>
                <a:off x="6366516" y="3640379"/>
                <a:ext cx="2313429" cy="260350"/>
              </a:xfrm>
              <a:prstGeom prst="rect">
                <a:avLst/>
              </a:prstGeom>
              <a:noFill/>
            </p:spPr>
            <p:txBody>
              <a:bodyPr wrap="square" lIns="54864" tIns="9144" rIns="54864" bIns="9144" anchor="ctr">
                <a:spAutoFit/>
              </a:bodyPr>
              <a:lstStyle/>
              <a:p>
                <a:pPr algn="l">
                  <a:spcAft>
                    <a:spcPts val="0"/>
                  </a:spcAft>
                </a:pPr>
                <a:r>
                  <a:rPr lang="zh-CN" sz="1600" b="1">
                    <a:solidFill>
                      <a:srgbClr val="052E68">
                        <a:alpha val="100000"/>
                      </a:srgbClr>
                    </a:solidFill>
                    <a:latin typeface="思源宋体 CN Heavy"/>
                    <a:ea typeface="思源宋体 CN Heavy"/>
                    <a:cs typeface="思源宋体 CN Heavy"/>
                  </a:rPr>
                  <a:t>恢复追踪根与追踪函数</a:t>
                </a:r>
                <a:endParaRPr/>
              </a:p>
            </p:txBody>
          </p:sp>
          <p:sp>
            <p:nvSpPr>
              <p:cNvPr id="47" name="TextBox 38"/>
              <p:cNvSpPr txBox="1"/>
              <p:nvPr/>
            </p:nvSpPr>
            <p:spPr>
              <a:xfrm>
                <a:off x="8615940" y="3541954"/>
                <a:ext cx="3721607" cy="457200"/>
              </a:xfrm>
              <a:prstGeom prst="rect">
                <a:avLst/>
              </a:prstGeom>
              <a:noFill/>
            </p:spPr>
            <p:txBody>
              <a:bodyPr wrap="square" lIns="54864" tIns="9144" rIns="54864" bIns="9144" anchor="ctr">
                <a:spAutoFit/>
              </a:bodyPr>
              <a:lstStyle/>
              <a:p>
                <a:pPr algn="l">
                  <a:spcAft>
                    <a:spcPts val="0"/>
                  </a:spcAft>
                </a:pPr>
                <a:r>
                  <a:rPr lang="zh-CN" sz="1500" b="0">
                    <a:solidFill>
                      <a:srgbClr val="555555"/>
                    </a:solidFill>
                    <a:latin typeface="华文中宋"/>
                    <a:ea typeface="华文中宋"/>
                    <a:cs typeface="华文中宋"/>
                  </a:rPr>
                  <a:t>ACTIVE_ROOTS、CallSite 安装记录</a:t>
                </a:r>
                <a:endParaRPr lang="zh-CN">
                  <a:latin typeface="华文中宋"/>
                  <a:ea typeface="华文中宋"/>
                  <a:cs typeface="华文中宋"/>
                </a:endParaRPr>
              </a:p>
            </p:txBody>
          </p:sp>
          <p:sp>
            <p:nvSpPr>
              <p:cNvPr id="48" name="TextBox 40"/>
              <p:cNvSpPr txBox="1"/>
              <p:nvPr/>
            </p:nvSpPr>
            <p:spPr>
              <a:xfrm>
                <a:off x="6366516" y="4081450"/>
                <a:ext cx="2011679" cy="457200"/>
              </a:xfrm>
              <a:prstGeom prst="rect">
                <a:avLst/>
              </a:prstGeom>
              <a:noFill/>
            </p:spPr>
            <p:txBody>
              <a:bodyPr wrap="square" lIns="54864" tIns="9144" rIns="54864" bIns="9144" anchor="ctr">
                <a:spAutoFit/>
              </a:bodyPr>
              <a:lstStyle/>
              <a:p>
                <a:pPr algn="l">
                  <a:spcAft>
                    <a:spcPts val="0"/>
                  </a:spcAft>
                </a:pPr>
                <a:r>
                  <a:rPr lang="zh-CN" sz="1600" b="1">
                    <a:solidFill>
                      <a:srgbClr val="052E68"/>
                    </a:solidFill>
                    <a:latin typeface="思源宋体 CN Heavy"/>
                    <a:ea typeface="思源宋体 CN Heavy"/>
                    <a:cs typeface="思源宋体 CN Heavy"/>
                  </a:rPr>
                  <a:t>恢复协程状态</a:t>
                </a:r>
                <a:endParaRPr lang="zh-CN">
                  <a:latin typeface="思源宋体 CN Heavy"/>
                  <a:ea typeface="思源宋体 CN Heavy"/>
                  <a:cs typeface="思源宋体 CN Heavy"/>
                </a:endParaRPr>
              </a:p>
            </p:txBody>
          </p:sp>
          <p:sp>
            <p:nvSpPr>
              <p:cNvPr id="49" name="TextBox 41"/>
              <p:cNvSpPr txBox="1"/>
              <p:nvPr/>
            </p:nvSpPr>
            <p:spPr>
              <a:xfrm>
                <a:off x="8615940" y="4081450"/>
                <a:ext cx="3721607" cy="457200"/>
              </a:xfrm>
              <a:prstGeom prst="rect">
                <a:avLst/>
              </a:prstGeom>
              <a:noFill/>
            </p:spPr>
            <p:txBody>
              <a:bodyPr wrap="square" lIns="54864" tIns="9144" rIns="54864" bIns="9144" anchor="ctr">
                <a:spAutoFit/>
              </a:bodyPr>
              <a:lstStyle/>
              <a:p>
                <a:pPr algn="l">
                  <a:spcAft>
                    <a:spcPts val="0"/>
                  </a:spcAft>
                </a:pPr>
                <a:r>
                  <a:rPr lang="zh-CN" sz="1500" b="0">
                    <a:solidFill>
                      <a:srgbClr val="555555"/>
                    </a:solidFill>
                    <a:latin typeface="华文中宋"/>
                    <a:ea typeface="华文中宋"/>
                    <a:cs typeface="华文中宋"/>
                  </a:rPr>
                  <a:t>ID 映射、元数据、poll 序列、TLS 栈</a:t>
                </a:r>
                <a:endParaRPr lang="zh-CN">
                  <a:latin typeface="华文中宋"/>
                  <a:ea typeface="华文中宋"/>
                  <a:cs typeface="华文中宋"/>
                </a:endParaRPr>
              </a:p>
            </p:txBody>
          </p:sp>
          <p:grpSp>
            <p:nvGrpSpPr>
              <p:cNvPr id="50" name="组合 49"/>
              <p:cNvGrpSpPr/>
              <p:nvPr/>
            </p:nvGrpSpPr>
            <p:grpSpPr>
              <a:xfrm>
                <a:off x="6068777" y="3134030"/>
                <a:ext cx="192023" cy="1805938"/>
                <a:chOff x="6068777" y="3134030"/>
                <a:chExt cx="192023" cy="1805938"/>
              </a:xfrm>
            </p:grpSpPr>
            <p:sp>
              <p:nvSpPr>
                <p:cNvPr id="51" name="Oval 33"/>
                <p:cNvSpPr/>
                <p:nvPr/>
              </p:nvSpPr>
              <p:spPr>
                <a:xfrm>
                  <a:off x="6068777" y="3134030"/>
                  <a:ext cx="192023" cy="192023"/>
                </a:xfrm>
                <a:prstGeom prst="ellipse">
                  <a:avLst/>
                </a:prstGeom>
                <a:solidFill>
                  <a:srgbClr val="FFFFFF">
                    <a:alpha val="100000"/>
                  </a:srgbClr>
                </a:solidFill>
                <a:ln w="1651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spcAft>
                      <a:spcPts val="0"/>
                    </a:spcAft>
                  </a:pPr>
                  <a:r>
                    <a:rPr lang="zh-CN" sz="1500" b="1">
                      <a:solidFill>
                        <a:srgbClr val="052E68"/>
                      </a:solidFill>
                      <a:latin typeface="思源宋体 CN Heavy"/>
                      <a:ea typeface="思源宋体 CN Heavy"/>
                      <a:cs typeface="思源宋体 CN Heavy"/>
                    </a:rPr>
                    <a:t>1</a:t>
                  </a:r>
                  <a:endParaRPr lang="zh-CN">
                    <a:latin typeface="思源宋体 CN Heavy"/>
                    <a:ea typeface="思源宋体 CN Heavy"/>
                    <a:cs typeface="思源宋体 CN Heavy"/>
                  </a:endParaRPr>
                </a:p>
              </p:txBody>
            </p:sp>
            <p:sp>
              <p:nvSpPr>
                <p:cNvPr id="52" name="Oval 36"/>
                <p:cNvSpPr/>
                <p:nvPr/>
              </p:nvSpPr>
              <p:spPr>
                <a:xfrm>
                  <a:off x="6068777" y="3675050"/>
                  <a:ext cx="192023" cy="192023"/>
                </a:xfrm>
                <a:prstGeom prst="ellipse">
                  <a:avLst/>
                </a:prstGeom>
                <a:solidFill>
                  <a:srgbClr val="FFFFFF">
                    <a:alpha val="100000"/>
                  </a:srgbClr>
                </a:solidFill>
                <a:ln w="1651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spcAft>
                      <a:spcPts val="0"/>
                    </a:spcAft>
                  </a:pPr>
                  <a:r>
                    <a:rPr lang="zh-CN" sz="1500" b="1">
                      <a:solidFill>
                        <a:srgbClr val="052E68"/>
                      </a:solidFill>
                      <a:latin typeface="思源宋体 CN Heavy"/>
                      <a:ea typeface="思源宋体 CN Heavy"/>
                      <a:cs typeface="思源宋体 CN Heavy"/>
                    </a:rPr>
                    <a:t>2</a:t>
                  </a:r>
                  <a:endParaRPr lang="zh-CN">
                    <a:latin typeface="思源宋体 CN Heavy"/>
                    <a:ea typeface="思源宋体 CN Heavy"/>
                    <a:cs typeface="思源宋体 CN Heavy"/>
                  </a:endParaRPr>
                </a:p>
              </p:txBody>
            </p:sp>
            <p:sp>
              <p:nvSpPr>
                <p:cNvPr id="53" name="Oval 39"/>
                <p:cNvSpPr/>
                <p:nvPr/>
              </p:nvSpPr>
              <p:spPr>
                <a:xfrm>
                  <a:off x="6068777" y="4216070"/>
                  <a:ext cx="192023" cy="192023"/>
                </a:xfrm>
                <a:prstGeom prst="ellipse">
                  <a:avLst/>
                </a:prstGeom>
                <a:solidFill>
                  <a:srgbClr val="FFFFFF">
                    <a:alpha val="100000"/>
                  </a:srgbClr>
                </a:solidFill>
                <a:ln w="1651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spcAft>
                      <a:spcPts val="0"/>
                    </a:spcAft>
                  </a:pPr>
                  <a:r>
                    <a:rPr lang="zh-CN" sz="1500" b="1">
                      <a:solidFill>
                        <a:srgbClr val="052E68"/>
                      </a:solidFill>
                      <a:latin typeface="思源宋体 CN Heavy"/>
                      <a:ea typeface="思源宋体 CN Heavy"/>
                      <a:cs typeface="思源宋体 CN Heavy"/>
                    </a:rPr>
                    <a:t>3</a:t>
                  </a:r>
                  <a:endParaRPr lang="zh-CN">
                    <a:latin typeface="思源宋体 CN Heavy"/>
                    <a:ea typeface="思源宋体 CN Heavy"/>
                    <a:cs typeface="思源宋体 CN Heavy"/>
                  </a:endParaRPr>
                </a:p>
              </p:txBody>
            </p:sp>
            <p:sp>
              <p:nvSpPr>
                <p:cNvPr id="54" name="Oval 42"/>
                <p:cNvSpPr/>
                <p:nvPr/>
              </p:nvSpPr>
              <p:spPr>
                <a:xfrm>
                  <a:off x="6073349" y="4757090"/>
                  <a:ext cx="182878" cy="182878"/>
                </a:xfrm>
                <a:prstGeom prst="ellipse">
                  <a:avLst/>
                </a:prstGeom>
                <a:solidFill>
                  <a:srgbClr val="FFFFFF">
                    <a:alpha val="100000"/>
                  </a:srgbClr>
                </a:solidFill>
                <a:ln w="1651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spcAft>
                      <a:spcPts val="0"/>
                    </a:spcAft>
                  </a:pPr>
                  <a:r>
                    <a:rPr lang="zh-CN" sz="1500" b="1">
                      <a:solidFill>
                        <a:srgbClr val="052E68"/>
                      </a:solidFill>
                      <a:latin typeface="思源宋体 CN Heavy"/>
                      <a:ea typeface="思源宋体 CN Heavy"/>
                      <a:cs typeface="思源宋体 CN Heavy"/>
                    </a:rPr>
                    <a:t>4</a:t>
                  </a:r>
                  <a:endParaRPr lang="zh-CN">
                    <a:latin typeface="思源宋体 CN Heavy"/>
                    <a:ea typeface="思源宋体 CN Heavy"/>
                    <a:cs typeface="思源宋体 CN Heavy"/>
                  </a:endParaRPr>
                </a:p>
              </p:txBody>
            </p:sp>
          </p:grpSp>
          <p:sp>
            <p:nvSpPr>
              <p:cNvPr id="55" name="TextBox 43"/>
              <p:cNvSpPr txBox="1"/>
              <p:nvPr/>
            </p:nvSpPr>
            <p:spPr>
              <a:xfrm>
                <a:off x="6366516" y="4620946"/>
                <a:ext cx="2011679" cy="457200"/>
              </a:xfrm>
              <a:prstGeom prst="rect">
                <a:avLst/>
              </a:prstGeom>
              <a:noFill/>
            </p:spPr>
            <p:txBody>
              <a:bodyPr wrap="square" lIns="54864" tIns="9144" rIns="54864" bIns="9144" anchor="ctr">
                <a:spAutoFit/>
              </a:bodyPr>
              <a:lstStyle/>
              <a:p>
                <a:pPr algn="l">
                  <a:spcAft>
                    <a:spcPts val="0"/>
                  </a:spcAft>
                </a:pPr>
                <a:r>
                  <a:rPr lang="zh-CN" sz="1600" b="1">
                    <a:solidFill>
                      <a:srgbClr val="052E68"/>
                    </a:solidFill>
                    <a:latin typeface="思源宋体 CN Heavy"/>
                    <a:ea typeface="思源宋体 CN Heavy"/>
                    <a:cs typeface="思源宋体 CN Heavy"/>
                  </a:rPr>
                  <a:t>重建入口断点</a:t>
                </a:r>
                <a:endParaRPr lang="zh-CN">
                  <a:latin typeface="思源宋体 CN Heavy"/>
                  <a:ea typeface="思源宋体 CN Heavy"/>
                  <a:cs typeface="思源宋体 CN Heavy"/>
                </a:endParaRPr>
              </a:p>
            </p:txBody>
          </p:sp>
          <p:sp>
            <p:nvSpPr>
              <p:cNvPr id="56" name="TextBox 44"/>
              <p:cNvSpPr txBox="1"/>
              <p:nvPr/>
            </p:nvSpPr>
            <p:spPr>
              <a:xfrm>
                <a:off x="8615940" y="4620946"/>
                <a:ext cx="3721607" cy="457200"/>
              </a:xfrm>
              <a:prstGeom prst="rect">
                <a:avLst/>
              </a:prstGeom>
              <a:noFill/>
            </p:spPr>
            <p:txBody>
              <a:bodyPr wrap="square" lIns="54864" tIns="9144" rIns="54864" bIns="9144" anchor="ctr">
                <a:spAutoFit/>
              </a:bodyPr>
              <a:lstStyle/>
              <a:p>
                <a:pPr algn="l">
                  <a:spcAft>
                    <a:spcPts val="0"/>
                  </a:spcAft>
                </a:pPr>
                <a:r>
                  <a:rPr lang="zh-CN" sz="1500" b="0">
                    <a:solidFill>
                      <a:srgbClr val="555555"/>
                    </a:solidFill>
                    <a:latin typeface="华文中宋"/>
                    <a:ea typeface="华文中宋"/>
                    <a:cs typeface="华文中宋"/>
                  </a:rPr>
                  <a:t>遍历 poll_entries，重建 PollEntryBP</a:t>
                </a:r>
                <a:endParaRPr lang="zh-CN">
                  <a:latin typeface="华文中宋"/>
                  <a:ea typeface="华文中宋"/>
                  <a:cs typeface="华文中宋"/>
                </a:endParaRPr>
              </a:p>
            </p:txBody>
          </p:sp>
        </p:grpSp>
      </p:grpSp>
      <p:sp>
        <p:nvSpPr>
          <p:cNvPr id="57" name="文本框 56"/>
          <p:cNvSpPr txBox="1"/>
          <p:nvPr/>
        </p:nvSpPr>
        <p:spPr>
          <a:xfrm>
            <a:off x="468394" y="4937520"/>
            <a:ext cx="9372600" cy="1835150"/>
          </a:xfrm>
          <a:prstGeom prst="rect">
            <a:avLst/>
          </a:prstGeom>
          <a:ln w="6350">
            <a:prstDash val="solid"/>
          </a:ln>
        </p:spPr>
        <p:txBody>
          <a:bodyPr wrap="square">
            <a:spAutoFit/>
          </a:bodyPr>
          <a:lstStyle/>
          <a:p>
            <a:pPr marL="0" lvl="0" algn="l" defTabSz="914400" hangingPunct="1">
              <a:lnSpc>
                <a:spcPct val="130000"/>
              </a:lnSpc>
              <a:defRPr sz="1800">
                <a:solidFill>
                  <a:schemeClr val="tx1">
                    <a:alpha val="100000"/>
                  </a:schemeClr>
                </a:solidFill>
                <a:latin typeface="Roboto"/>
                <a:ea typeface="HarmonyOS Sans SC"/>
                <a:cs typeface="+mn-cs"/>
              </a:defRPr>
            </a:pPr>
            <a:r>
              <a:rPr lang="zh-CN" sz="1800" b="1">
                <a:solidFill>
                  <a:schemeClr val="tx1">
                    <a:alpha val="100000"/>
                  </a:schemeClr>
                </a:solidFill>
                <a:latin typeface="Roboto"/>
                <a:ea typeface="HarmonyOS Sans SC"/>
                <a:cs typeface="+mn-cs"/>
              </a:rPr>
              <a:t>关键点：恢复机制必须按</a:t>
            </a:r>
            <a:r>
              <a:rPr lang="en-US" sz="1800" b="1">
                <a:solidFill>
                  <a:schemeClr val="tx1">
                    <a:alpha val="100000"/>
                  </a:schemeClr>
                </a:solidFill>
                <a:latin typeface="Roboto"/>
                <a:ea typeface="HarmonyOS Sans SC"/>
                <a:cs typeface="+mn-cs"/>
              </a:rPr>
              <a:t> </a:t>
            </a:r>
            <a:r>
              <a:rPr lang="zh-CN" sz="1800" b="1">
                <a:solidFill>
                  <a:schemeClr val="tx1">
                    <a:alpha val="100000"/>
                  </a:schemeClr>
                </a:solidFill>
                <a:latin typeface="Roboto"/>
                <a:ea typeface="HarmonyOS Sans SC"/>
                <a:cs typeface="+mn-cs"/>
              </a:rPr>
              <a:t>①</a:t>
            </a:r>
            <a:r>
              <a:rPr lang="en-US" sz="1800" b="1">
                <a:solidFill>
                  <a:schemeClr val="tx1">
                    <a:alpha val="100000"/>
                  </a:schemeClr>
                </a:solidFill>
                <a:latin typeface="Roboto"/>
                <a:ea typeface="HarmonyOS Sans SC"/>
                <a:cs typeface="+mn-cs"/>
              </a:rPr>
              <a:t> → </a:t>
            </a:r>
            <a:r>
              <a:rPr lang="zh-CN" sz="1800" b="1">
                <a:solidFill>
                  <a:schemeClr val="tx1">
                    <a:alpha val="100000"/>
                  </a:schemeClr>
                </a:solidFill>
                <a:latin typeface="Roboto"/>
                <a:ea typeface="HarmonyOS Sans SC"/>
                <a:cs typeface="+mn-cs"/>
              </a:rPr>
              <a:t>④</a:t>
            </a:r>
            <a:r>
              <a:rPr lang="en-US" sz="1800" b="1">
                <a:solidFill>
                  <a:schemeClr val="tx1">
                    <a:alpha val="100000"/>
                  </a:schemeClr>
                </a:solidFill>
                <a:latin typeface="Roboto"/>
                <a:ea typeface="HarmonyOS Sans SC"/>
                <a:cs typeface="+mn-cs"/>
              </a:rPr>
              <a:t> </a:t>
            </a:r>
            <a:r>
              <a:rPr lang="zh-CN" sz="1800" b="1">
                <a:solidFill>
                  <a:schemeClr val="tx1">
                    <a:alpha val="100000"/>
                  </a:schemeClr>
                </a:solidFill>
                <a:latin typeface="Roboto"/>
                <a:ea typeface="HarmonyOS Sans SC"/>
                <a:cs typeface="+mn-cs"/>
              </a:rPr>
              <a:t>顺序执行</a:t>
            </a:r>
            <a:endParaRPr sz="1800">
              <a:solidFill>
                <a:schemeClr val="tx1">
                  <a:alpha val="100000"/>
                </a:schemeClr>
              </a:solidFill>
              <a:latin typeface="Roboto"/>
              <a:ea typeface="HarmonyOS Sans SC"/>
              <a:cs typeface="+mn-cs"/>
            </a:endParaRPr>
          </a:p>
          <a:p>
            <a:pPr marL="0" lvl="0" algn="l" defTabSz="914400" hangingPunct="1">
              <a:lnSpc>
                <a:spcPct val="130000"/>
              </a:lnSpc>
              <a:defRPr sz="1800">
                <a:solidFill>
                  <a:schemeClr val="tx1">
                    <a:alpha val="100000"/>
                  </a:schemeClr>
                </a:solidFill>
                <a:latin typeface="Roboto"/>
                <a:ea typeface="HarmonyOS Sans SC"/>
                <a:cs typeface="+mn-cs"/>
              </a:defRPr>
            </a:pPr>
            <a:r>
              <a:rPr lang="zh-CN" sz="1400" b="0" i="0" u="none" strike="noStrike">
                <a:solidFill>
                  <a:srgbClr val="666666">
                    <a:alpha val="100000"/>
                  </a:srgbClr>
                </a:solidFill>
                <a:latin typeface="华文中宋"/>
                <a:ea typeface="华文中宋"/>
                <a:cs typeface="华文中宋"/>
              </a:rPr>
              <a:t>顺序的设计依据是：</a:t>
            </a:r>
            <a:endParaRPr sz="1800">
              <a:solidFill>
                <a:schemeClr val="tx1">
                  <a:alpha val="100000"/>
                </a:schemeClr>
              </a:solidFill>
              <a:latin typeface="Roboto"/>
              <a:ea typeface="HarmonyOS Sans SC"/>
              <a:cs typeface="+mn-cs"/>
            </a:endParaRPr>
          </a:p>
          <a:p>
            <a:pPr marL="342900" lvl="0" indent="-342900" algn="l" defTabSz="914400" hangingPunct="1">
              <a:lnSpc>
                <a:spcPct val="130000"/>
              </a:lnSpc>
              <a:buAutoNum type="alphaUcPeriod"/>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latin typeface="华文中宋"/>
                <a:ea typeface="华文中宋"/>
                <a:cs typeface="华文中宋"/>
              </a:rPr>
              <a:t>白名单和地址映射是基础</a:t>
            </a:r>
            <a:r>
              <a:rPr lang="zh-CN" sz="1400" b="0" i="0" u="none" strike="noStrike">
                <a:solidFill>
                  <a:srgbClr val="666666">
                    <a:alpha val="100000"/>
                  </a:srgbClr>
                </a:solidFill>
                <a:latin typeface="华文中宋"/>
                <a:ea typeface="华文中宋"/>
                <a:cs typeface="华文中宋"/>
              </a:rPr>
              <a:t>——没有它，后续任何断点都无法正确定位到目标函数；</a:t>
            </a:r>
            <a:endParaRPr sz="1800">
              <a:solidFill>
                <a:schemeClr val="tx1">
                  <a:alpha val="100000"/>
                </a:schemeClr>
              </a:solidFill>
              <a:latin typeface="Roboto"/>
              <a:ea typeface="HarmonyOS Sans SC"/>
              <a:cs typeface="+mn-cs"/>
            </a:endParaRPr>
          </a:p>
          <a:p>
            <a:pPr marL="342900" lvl="0" indent="-342900" algn="l" defTabSz="914400" hangingPunct="1">
              <a:lnSpc>
                <a:spcPct val="130000"/>
              </a:lnSpc>
              <a:buAutoNum type="alphaUcPeriod"/>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latin typeface="华文中宋"/>
                <a:ea typeface="华文中宋"/>
                <a:cs typeface="华文中宋"/>
              </a:rPr>
              <a:t>追踪函数列表决定了哪些 poll 入口需要恢复</a:t>
            </a:r>
            <a:r>
              <a:rPr lang="zh-CN" sz="1400" b="0" i="0" u="none" strike="noStrike">
                <a:solidFill>
                  <a:srgbClr val="666666">
                    <a:alpha val="100000"/>
                  </a:srgbClr>
                </a:solidFill>
                <a:latin typeface="华文中宋"/>
                <a:ea typeface="华文中宋"/>
                <a:cs typeface="华文中宋"/>
              </a:rPr>
              <a:t>——先知道要恢复谁，再恢复数据；</a:t>
            </a:r>
            <a:endParaRPr/>
          </a:p>
          <a:p>
            <a:pPr marL="342900" lvl="0" indent="-342900" algn="l" defTabSz="914400" hangingPunct="1">
              <a:lnSpc>
                <a:spcPct val="130000"/>
              </a:lnSpc>
              <a:buAutoNum type="alphaUcPeriod"/>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latin typeface="华文中宋"/>
                <a:ea typeface="华文中宋"/>
                <a:cs typeface="华文中宋"/>
              </a:rPr>
              <a:t>协程状态是纯内存数据，不涉及 GDB 断点操作，可以在断点恢复前完成；</a:t>
            </a:r>
            <a:endParaRPr/>
          </a:p>
          <a:p>
            <a:pPr marL="342900" lvl="0" indent="-342900" algn="l" defTabSz="914400" hangingPunct="1">
              <a:lnSpc>
                <a:spcPct val="130000"/>
              </a:lnSpc>
              <a:buAutoNum type="alphaUcPeriod"/>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latin typeface="华文中宋"/>
                <a:ea typeface="华文中宋"/>
                <a:cs typeface="华文中宋"/>
              </a:rPr>
              <a:t>PollEntryBP （入口断点）的实际设置必须在最后</a:t>
            </a:r>
            <a:r>
              <a:rPr lang="zh-CN" sz="1400" b="0" i="0" u="none" strike="noStrike">
                <a:solidFill>
                  <a:srgbClr val="666666">
                    <a:alpha val="100000"/>
                  </a:srgbClr>
                </a:solidFill>
                <a:latin typeface="华文中宋"/>
                <a:ea typeface="华文中宋"/>
                <a:cs typeface="华文中宋"/>
              </a:rPr>
              <a:t>——它依赖前三个步骤的全部结果；</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6"/>
          <p:cNvSpPr txBox="1"/>
          <p:nvPr/>
        </p:nvSpPr>
        <p:spPr>
          <a:xfrm>
            <a:off x="609904" y="806704"/>
            <a:ext cx="10972800" cy="508000"/>
          </a:xfrm>
          <a:prstGeom prst="rect">
            <a:avLst/>
          </a:prstGeom>
          <a:noFill/>
        </p:spPr>
        <p:txBody>
          <a:bodyPr wrap="square" lIns="54864" tIns="9144" rIns="54864"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技术实现三：图形化界面设计与实现</a:t>
            </a:r>
            <a:endParaRPr/>
          </a:p>
        </p:txBody>
      </p:sp>
      <p:sp>
        <p:nvSpPr>
          <p:cNvPr id="60" name="TextBox 7"/>
          <p:cNvSpPr txBox="1"/>
          <p:nvPr/>
        </p:nvSpPr>
        <p:spPr>
          <a:xfrm>
            <a:off x="609904" y="1430705"/>
            <a:ext cx="10972800" cy="260350"/>
          </a:xfrm>
          <a:prstGeom prst="rect">
            <a:avLst/>
          </a:prstGeom>
          <a:noFill/>
        </p:spPr>
        <p:txBody>
          <a:bodyPr wrap="square" lIns="54864" tIns="9144" rIns="54864" bIns="9144" anchor="ctr">
            <a:spAutoFit/>
          </a:bodyPr>
          <a:lstStyle/>
          <a:p>
            <a:pPr algn="l">
              <a:spcAft>
                <a:spcPts val="0"/>
              </a:spcAft>
            </a:pPr>
            <a:r>
              <a:rPr lang="zh-CN" sz="1600" b="0">
                <a:solidFill>
                  <a:srgbClr val="666666">
                    <a:alpha val="100000"/>
                  </a:srgbClr>
                </a:solidFill>
                <a:latin typeface="华文中宋"/>
                <a:ea typeface="华文中宋"/>
                <a:cs typeface="华文中宋"/>
              </a:rPr>
              <a:t>问题分析</a:t>
            </a:r>
            <a:endParaRPr/>
          </a:p>
        </p:txBody>
      </p:sp>
      <p:sp>
        <p:nvSpPr>
          <p:cNvPr id="61" name="TextBox 8"/>
          <p:cNvSpPr txBox="1"/>
          <p:nvPr/>
        </p:nvSpPr>
        <p:spPr>
          <a:xfrm>
            <a:off x="11384280" y="6419088"/>
            <a:ext cx="457200" cy="228600"/>
          </a:xfrm>
          <a:prstGeom prst="rect">
            <a:avLst/>
          </a:prstGeom>
          <a:noFill/>
        </p:spPr>
        <p:txBody>
          <a:bodyPr wrap="square" lIns="54864" tIns="9144" rIns="54864" bIns="9144" anchor="ctr">
            <a:spAutoFit/>
          </a:bodyPr>
          <a:lstStyle/>
          <a:p>
            <a:pPr algn="r">
              <a:spcAft>
                <a:spcPts val="0"/>
              </a:spcAft>
            </a:pPr>
            <a:r>
              <a:rPr lang="zh-CN" sz="1100" b="0">
                <a:solidFill>
                  <a:srgbClr val="666666"/>
                </a:solidFill>
                <a:latin typeface="华文中宋"/>
                <a:ea typeface="华文中宋"/>
                <a:cs typeface="华文中宋"/>
              </a:rPr>
              <a:t>11</a:t>
            </a:r>
            <a:endParaRPr lang="zh-CN">
              <a:latin typeface="华文中宋"/>
              <a:ea typeface="华文中宋"/>
              <a:cs typeface="华文中宋"/>
            </a:endParaRPr>
          </a:p>
        </p:txBody>
      </p:sp>
      <p:pic>
        <p:nvPicPr>
          <p:cNvPr id="62" name="图片 61"/>
          <p:cNvPicPr>
            <a:picLocks noChangeAspect="1"/>
          </p:cNvPicPr>
          <p:nvPr/>
        </p:nvPicPr>
        <p:blipFill>
          <a:blip r:embed="rId3"/>
          <a:stretch>
            <a:fillRect/>
          </a:stretch>
        </p:blipFill>
        <p:spPr>
          <a:xfrm>
            <a:off x="609904" y="1807056"/>
            <a:ext cx="5003044" cy="2784196"/>
          </a:xfrm>
          <a:prstGeom prst="rect">
            <a:avLst/>
          </a:prstGeom>
        </p:spPr>
      </p:pic>
      <p:sp>
        <p:nvSpPr>
          <p:cNvPr id="63" name="文本框 62"/>
          <p:cNvSpPr txBox="1"/>
          <p:nvPr/>
        </p:nvSpPr>
        <p:spPr>
          <a:xfrm>
            <a:off x="6837680" y="1314704"/>
            <a:ext cx="5003800" cy="2832100"/>
          </a:xfrm>
          <a:prstGeom prst="rect">
            <a:avLst/>
          </a:prstGeom>
          <a:ln w="6350">
            <a:prstDash val="solid"/>
          </a:ln>
        </p:spPr>
        <p:txBody>
          <a:bodyPr wrap="square">
            <a:spAutoFit/>
          </a:bodyPr>
          <a:lstStyle/>
          <a:p>
            <a:pPr marL="285750" indent="-285750">
              <a:lnSpc>
                <a:spcPct val="200000"/>
              </a:lnSpc>
              <a:buFont typeface="Wingdings" charset="2"/>
              <a:buChar char="Ø"/>
            </a:pPr>
            <a:r>
              <a:rPr lang="en-US" b="0">
                <a:latin typeface="Microsoft YaHei"/>
                <a:ea typeface="Microsoft YaHei"/>
                <a:cs typeface="+mn-cs"/>
              </a:rPr>
              <a:t>25</a:t>
            </a:r>
            <a:r>
              <a:rPr lang="zh-CN" b="0">
                <a:latin typeface="Microsoft YaHei"/>
                <a:ea typeface="Microsoft YaHei"/>
                <a:cs typeface="+mn-cs"/>
              </a:rPr>
              <a:t>年实现的异步跟踪工具是</a:t>
            </a:r>
            <a:r>
              <a:rPr lang="zh-CN" b="1">
                <a:latin typeface="Microsoft YaHei"/>
                <a:ea typeface="Microsoft YaHei"/>
                <a:cs typeface="+mn-cs"/>
              </a:rPr>
              <a:t>命令行版</a:t>
            </a:r>
            <a:r>
              <a:rPr lang="zh-CN" b="0">
                <a:latin typeface="Microsoft YaHei"/>
                <a:ea typeface="Microsoft YaHei"/>
                <a:cs typeface="+mn-cs"/>
              </a:rPr>
              <a:t>；</a:t>
            </a:r>
            <a:endParaRPr/>
          </a:p>
          <a:p>
            <a:pPr marL="285750" indent="-285750">
              <a:lnSpc>
                <a:spcPct val="200000"/>
              </a:lnSpc>
              <a:buFont typeface="Wingdings" charset="2"/>
              <a:buChar char="Ø"/>
            </a:pPr>
            <a:r>
              <a:rPr lang="zh-CN" b="0">
                <a:latin typeface="Microsoft YaHei"/>
                <a:ea typeface="Microsoft YaHei"/>
                <a:cs typeface="+mn-cs"/>
              </a:rPr>
              <a:t>开发者在终端中手动输入命令、查看文本输出来理解异步执行流，</a:t>
            </a:r>
            <a:r>
              <a:rPr lang="zh-CN" b="1">
                <a:latin typeface="Microsoft YaHei"/>
                <a:ea typeface="Microsoft YaHei"/>
                <a:cs typeface="+mn-cs"/>
              </a:rPr>
              <a:t>使用门槛高</a:t>
            </a:r>
            <a:r>
              <a:rPr lang="zh-CN" b="0">
                <a:latin typeface="Microsoft YaHei"/>
                <a:ea typeface="Microsoft YaHei"/>
                <a:cs typeface="+mn-cs"/>
              </a:rPr>
              <a:t>；</a:t>
            </a:r>
            <a:endParaRPr/>
          </a:p>
          <a:p>
            <a:pPr marL="285750" indent="-285750">
              <a:lnSpc>
                <a:spcPct val="200000"/>
              </a:lnSpc>
              <a:buFont typeface="Wingdings" charset="2"/>
              <a:buChar char="Ø"/>
            </a:pPr>
            <a:r>
              <a:rPr lang="zh-CN" b="0">
                <a:latin typeface="Microsoft YaHei"/>
                <a:ea typeface="Microsoft YaHei"/>
                <a:cs typeface="+mn-cs"/>
              </a:rPr>
              <a:t>此外</a:t>
            </a:r>
            <a:r>
              <a:rPr lang="en-US" b="0">
                <a:latin typeface="Microsoft YaHei"/>
                <a:ea typeface="Microsoft YaHei"/>
                <a:cs typeface="+mn-cs"/>
              </a:rPr>
              <a:t> VS code </a:t>
            </a:r>
            <a:r>
              <a:rPr lang="zh-CN" b="1">
                <a:latin typeface="Microsoft YaHei"/>
                <a:ea typeface="Microsoft YaHei"/>
                <a:cs typeface="+mn-cs"/>
              </a:rPr>
              <a:t>原生调试面板对异步跟踪语义支持较差</a:t>
            </a:r>
            <a:r>
              <a:rPr lang="zh-CN" b="0">
                <a:latin typeface="Microsoft YaHei"/>
                <a:ea typeface="Microsoft YaHei"/>
                <a:cs typeface="+mn-cs"/>
              </a:rPr>
              <a:t>；</a:t>
            </a:r>
            <a:endParaRPr/>
          </a:p>
        </p:txBody>
      </p:sp>
      <p:sp>
        <p:nvSpPr>
          <p:cNvPr id="64" name="箭头: 下 63"/>
          <p:cNvSpPr/>
          <p:nvPr/>
        </p:nvSpPr>
        <p:spPr>
          <a:xfrm>
            <a:off x="9006614" y="3892804"/>
            <a:ext cx="924709" cy="508000"/>
          </a:xfrm>
          <a:prstGeom prst="downArrow">
            <a:avLst/>
          </a:prstGeom>
          <a:gradFill rotWithShape="0">
            <a:gsLst>
              <a:gs pos="0">
                <a:schemeClr val="accent1">
                  <a:lumMod val="50000"/>
                  <a:lumOff val="50000"/>
                  <a:alpha val="100000"/>
                </a:schemeClr>
              </a:gs>
              <a:gs pos="0">
                <a:schemeClr val="accent2">
                  <a:lumMod val="50000"/>
                  <a:lumOff val="50000"/>
                  <a:alpha val="0"/>
                </a:schemeClr>
              </a:gs>
              <a:gs pos="100000">
                <a:schemeClr val="accent4">
                  <a:alpha val="100000"/>
                </a:schemeClr>
              </a:gs>
            </a:gsLst>
            <a:lin ang="5400000" scaled="1"/>
          </a:gradFill>
          <a:ln w="0"/>
        </p:spPr>
        <p:txBody>
          <a:bodyPr anchor="ctr"/>
          <a:lstStyle/>
          <a:p>
            <a:pPr algn="ctr"/>
            <a:endParaRPr/>
          </a:p>
        </p:txBody>
      </p:sp>
      <p:pic>
        <p:nvPicPr>
          <p:cNvPr id="65" name="图片 64"/>
          <p:cNvPicPr>
            <a:picLocks noChangeAspect="1"/>
          </p:cNvPicPr>
          <p:nvPr/>
        </p:nvPicPr>
        <p:blipFill>
          <a:blip r:embed="rId4"/>
          <a:stretch>
            <a:fillRect/>
          </a:stretch>
        </p:blipFill>
        <p:spPr>
          <a:xfrm>
            <a:off x="609904" y="4662692"/>
            <a:ext cx="5723431" cy="1756396"/>
          </a:xfrm>
          <a:prstGeom prst="rect">
            <a:avLst/>
          </a:prstGeom>
        </p:spPr>
      </p:pic>
      <p:grpSp>
        <p:nvGrpSpPr>
          <p:cNvPr id="66" name="组合 65"/>
          <p:cNvGrpSpPr/>
          <p:nvPr/>
        </p:nvGrpSpPr>
        <p:grpSpPr>
          <a:xfrm>
            <a:off x="7096456" y="4569822"/>
            <a:ext cx="4745024" cy="1942136"/>
            <a:chOff x="6731628" y="4561574"/>
            <a:chExt cx="4745024" cy="1942136"/>
          </a:xfrm>
        </p:grpSpPr>
        <p:sp>
          <p:nvSpPr>
            <p:cNvPr id="67" name="Rounded Rectangle 22"/>
            <p:cNvSpPr/>
            <p:nvPr/>
          </p:nvSpPr>
          <p:spPr>
            <a:xfrm>
              <a:off x="6731628" y="4561574"/>
              <a:ext cx="4745024" cy="1942136"/>
            </a:xfrm>
            <a:prstGeom prst="roundRect">
              <a:avLst>
                <a:gd name="adj" fmla="val 10704"/>
              </a:avLst>
            </a:prstGeom>
            <a:solidFill>
              <a:srgbClr val="F4F6FA"/>
            </a:solidFill>
            <a:ln w="12700">
              <a:solidFill>
                <a:srgbClr val="C8D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文本框 67"/>
            <p:cNvSpPr txBox="1"/>
            <p:nvPr/>
          </p:nvSpPr>
          <p:spPr>
            <a:xfrm>
              <a:off x="6837680" y="4662692"/>
              <a:ext cx="4070350" cy="1739900"/>
            </a:xfrm>
            <a:prstGeom prst="rect">
              <a:avLst/>
            </a:prstGeom>
            <a:ln w="6350">
              <a:prstDash val="solid"/>
            </a:ln>
          </p:spPr>
          <p:txBody>
            <a:bodyPr wrap="none">
              <a:spAutoFit/>
            </a:bodyPr>
            <a:lstStyle/>
            <a:p>
              <a:pPr marL="285750" indent="-285750">
                <a:lnSpc>
                  <a:spcPct val="200000"/>
                </a:lnSpc>
                <a:buFont typeface="Wingdings" charset="2"/>
                <a:buChar char="ü"/>
              </a:pPr>
              <a:r>
                <a:rPr lang="zh-CN">
                  <a:latin typeface="Microsoft YaHei"/>
                  <a:ea typeface="Microsoft YaHei"/>
                  <a:cs typeface="+mn-cs"/>
                </a:rPr>
                <a:t>将跟踪工具</a:t>
              </a:r>
              <a:r>
                <a:rPr lang="zh-CN" b="1">
                  <a:solidFill>
                    <a:srgbClr val="C00000">
                      <a:alpha val="100000"/>
                    </a:srgbClr>
                  </a:solidFill>
                  <a:latin typeface="Microsoft YaHei"/>
                  <a:ea typeface="Microsoft YaHei"/>
                  <a:cs typeface="+mn-cs"/>
                </a:rPr>
                <a:t>插件化</a:t>
              </a:r>
              <a:r>
                <a:rPr lang="zh-CN">
                  <a:latin typeface="Microsoft YaHei"/>
                  <a:ea typeface="Microsoft YaHei"/>
                  <a:cs typeface="+mn-cs"/>
                </a:rPr>
                <a:t>，降低使用门槛</a:t>
              </a:r>
              <a:endParaRPr/>
            </a:p>
            <a:p>
              <a:pPr marL="285750" indent="-285750">
                <a:lnSpc>
                  <a:spcPct val="200000"/>
                </a:lnSpc>
                <a:buFont typeface="Wingdings" charset="2"/>
                <a:buChar char="ü"/>
              </a:pPr>
              <a:r>
                <a:rPr lang="zh-CN">
                  <a:latin typeface="Microsoft YaHei"/>
                  <a:ea typeface="Microsoft YaHei"/>
                  <a:cs typeface="+mn-cs"/>
                </a:rPr>
                <a:t>针对</a:t>
              </a:r>
              <a:r>
                <a:rPr lang="en-US">
                  <a:latin typeface="Microsoft YaHei"/>
                  <a:ea typeface="Microsoft YaHei"/>
                  <a:cs typeface="+mn-cs"/>
                </a:rPr>
                <a:t> Rust </a:t>
              </a:r>
              <a:r>
                <a:rPr lang="zh-CN">
                  <a:latin typeface="Microsoft YaHei"/>
                  <a:ea typeface="Microsoft YaHei"/>
                  <a:cs typeface="+mn-cs"/>
                </a:rPr>
                <a:t>异步语义</a:t>
              </a:r>
              <a:r>
                <a:rPr lang="zh-CN" b="1">
                  <a:solidFill>
                    <a:srgbClr val="C00000">
                      <a:alpha val="100000"/>
                    </a:srgbClr>
                  </a:solidFill>
                  <a:latin typeface="Microsoft YaHei"/>
                  <a:ea typeface="Microsoft YaHei"/>
                  <a:cs typeface="+mn-cs"/>
                </a:rPr>
                <a:t>设计可视化面板</a:t>
              </a:r>
              <a:endParaRPr/>
            </a:p>
            <a:p>
              <a:pPr marL="285750" indent="-285750">
                <a:lnSpc>
                  <a:spcPct val="200000"/>
                </a:lnSpc>
                <a:buFont typeface="Wingdings" charset="2"/>
                <a:buChar char="ü"/>
              </a:pPr>
              <a:r>
                <a:rPr lang="zh-CN">
                  <a:latin typeface="Microsoft YaHei"/>
                  <a:ea typeface="Microsoft YaHei"/>
                  <a:cs typeface="+mn-cs"/>
                </a:rPr>
                <a:t>支持快速</a:t>
              </a:r>
              <a:r>
                <a:rPr lang="zh-CN" b="1">
                  <a:solidFill>
                    <a:srgbClr val="C00000">
                      <a:alpha val="100000"/>
                    </a:srgbClr>
                  </a:solidFill>
                  <a:latin typeface="Microsoft YaHei"/>
                  <a:ea typeface="Microsoft YaHei"/>
                  <a:cs typeface="+mn-cs"/>
                </a:rPr>
                <a:t>查看异步函数元数据</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
          <p:cNvSpPr txBox="1"/>
          <p:nvPr/>
        </p:nvSpPr>
        <p:spPr>
          <a:xfrm>
            <a:off x="609904" y="806704"/>
            <a:ext cx="10972800" cy="508000"/>
          </a:xfrm>
          <a:prstGeom prst="rect">
            <a:avLst/>
          </a:prstGeom>
          <a:noFill/>
        </p:spPr>
        <p:txBody>
          <a:bodyPr wrap="square" lIns="54864" tIns="9144" rIns="54864"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技术实现三：图形化界面设计与实现</a:t>
            </a:r>
            <a:endParaRPr/>
          </a:p>
        </p:txBody>
      </p:sp>
      <p:sp>
        <p:nvSpPr>
          <p:cNvPr id="71" name="TextBox 7"/>
          <p:cNvSpPr txBox="1"/>
          <p:nvPr/>
        </p:nvSpPr>
        <p:spPr>
          <a:xfrm>
            <a:off x="609904" y="1430705"/>
            <a:ext cx="10972800" cy="260350"/>
          </a:xfrm>
          <a:prstGeom prst="rect">
            <a:avLst/>
          </a:prstGeom>
          <a:noFill/>
          <a:ln/>
        </p:spPr>
        <p:txBody>
          <a:bodyPr wrap="square" lIns="54864" tIns="9144" rIns="54864" bIns="9144" anchor="ctr">
            <a:spAutoFit/>
          </a:bodyPr>
          <a:lstStyle/>
          <a:p>
            <a:pPr algn="l">
              <a:spcAft>
                <a:spcPts val="0"/>
              </a:spcAft>
            </a:pPr>
            <a:r>
              <a:rPr lang="zh-CN" sz="1600" b="0">
                <a:solidFill>
                  <a:srgbClr val="666666">
                    <a:alpha val="100000"/>
                  </a:srgbClr>
                </a:solidFill>
                <a:latin typeface="华文中宋"/>
                <a:ea typeface="华文中宋"/>
                <a:cs typeface="华文中宋"/>
              </a:rPr>
              <a:t>插件架构图</a:t>
            </a:r>
            <a:endParaRPr/>
          </a:p>
        </p:txBody>
      </p:sp>
      <p:sp>
        <p:nvSpPr>
          <p:cNvPr id="72" name="TextBox 8"/>
          <p:cNvSpPr txBox="1"/>
          <p:nvPr/>
        </p:nvSpPr>
        <p:spPr>
          <a:xfrm>
            <a:off x="11384280" y="6441313"/>
            <a:ext cx="457200" cy="184150"/>
          </a:xfrm>
          <a:prstGeom prst="rect">
            <a:avLst/>
          </a:prstGeom>
          <a:noFill/>
        </p:spPr>
        <p:txBody>
          <a:bodyPr wrap="square" lIns="54864" tIns="9144" rIns="54864" bIns="9144" anchor="ctr">
            <a:spAutoFit/>
          </a:bodyPr>
          <a:lstStyle/>
          <a:p>
            <a:pPr algn="r">
              <a:spcAft>
                <a:spcPts val="0"/>
              </a:spcAft>
            </a:pPr>
            <a:r>
              <a:rPr lang="zh-CN" sz="1100" b="0">
                <a:solidFill>
                  <a:srgbClr val="666666">
                    <a:alpha val="100000"/>
                  </a:srgbClr>
                </a:solidFill>
                <a:latin typeface="华文中宋"/>
                <a:ea typeface="华文中宋"/>
                <a:cs typeface="华文中宋"/>
              </a:rPr>
              <a:t>12</a:t>
            </a:r>
            <a:endParaRPr/>
          </a:p>
        </p:txBody>
      </p:sp>
      <p:pic>
        <p:nvPicPr>
          <p:cNvPr id="73" name="图片 72"/>
          <p:cNvPicPr>
            <a:picLocks noChangeAspect="1"/>
          </p:cNvPicPr>
          <p:nvPr/>
        </p:nvPicPr>
        <p:blipFill>
          <a:blip r:embed="rId3"/>
          <a:stretch>
            <a:fillRect/>
          </a:stretch>
        </p:blipFill>
        <p:spPr>
          <a:xfrm>
            <a:off x="1060450" y="1807056"/>
            <a:ext cx="10071100" cy="3352800"/>
          </a:xfrm>
          <a:prstGeom prst="rect">
            <a:avLst/>
          </a:prstGeom>
        </p:spPr>
      </p:pic>
      <p:sp>
        <p:nvSpPr>
          <p:cNvPr id="74" name="文本框 73"/>
          <p:cNvSpPr txBox="1"/>
          <p:nvPr/>
        </p:nvSpPr>
        <p:spPr>
          <a:xfrm>
            <a:off x="609904" y="5091938"/>
            <a:ext cx="5797550" cy="1187450"/>
          </a:xfrm>
          <a:prstGeom prst="rect">
            <a:avLst/>
          </a:prstGeom>
          <a:ln w="6350">
            <a:prstDash val="solid"/>
          </a:ln>
        </p:spPr>
        <p:txBody>
          <a:bodyPr wrap="none">
            <a:spAutoFit/>
          </a:bodyPr>
          <a:lstStyle/>
          <a:p>
            <a:pPr marL="0" lvl="0" algn="l" defTabSz="914400" hangingPunct="1">
              <a:lnSpc>
                <a:spcPct val="150000"/>
              </a:lnSpc>
              <a:defRPr sz="1800">
                <a:solidFill>
                  <a:schemeClr val="tx1">
                    <a:alpha val="100000"/>
                  </a:schemeClr>
                </a:solidFill>
                <a:latin typeface="Roboto"/>
                <a:ea typeface="HarmonyOS Sans SC"/>
                <a:cs typeface="+mn-cs"/>
              </a:defRPr>
            </a:pPr>
            <a:r>
              <a:rPr lang="zh-CN" sz="1600" b="1" i="0" u="none" strike="noStrike">
                <a:solidFill>
                  <a:srgbClr val="666666">
                    <a:alpha val="100000"/>
                  </a:srgbClr>
                </a:solidFill>
                <a:latin typeface="华文中宋"/>
                <a:ea typeface="华文中宋"/>
                <a:cs typeface="华文中宋"/>
              </a:rPr>
              <a:t>核心工作：</a:t>
            </a:r>
            <a:endParaRPr sz="1800">
              <a:solidFill>
                <a:schemeClr val="tx1">
                  <a:alpha val="100000"/>
                </a:schemeClr>
              </a:solidFill>
              <a:latin typeface="Roboto"/>
              <a:ea typeface="HarmonyOS Sans SC"/>
              <a:cs typeface="+mn-cs"/>
            </a:endParaRPr>
          </a:p>
          <a:p>
            <a:pPr marL="342900" lvl="0" indent="-342900" algn="l" defTabSz="914400" hangingPunct="1">
              <a:lnSpc>
                <a:spcPct val="150000"/>
              </a:lnSpc>
              <a:buAutoNum type="arabicPeriod"/>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华文中宋"/>
              </a:rPr>
              <a:t>使用</a:t>
            </a:r>
            <a:r>
              <a:rPr lang="en-US" sz="1600" b="0" i="0" u="none" strike="noStrike">
                <a:solidFill>
                  <a:srgbClr val="666666">
                    <a:alpha val="100000"/>
                  </a:srgbClr>
                </a:solidFill>
                <a:latin typeface="华文中宋"/>
                <a:ea typeface="华文中宋"/>
                <a:cs typeface="华文中宋"/>
              </a:rPr>
              <a:t> </a:t>
            </a:r>
            <a:r>
              <a:rPr lang="zh-CN" sz="1600" b="0" i="0" u="none" strike="noStrike">
                <a:solidFill>
                  <a:srgbClr val="666666">
                    <a:alpha val="100000"/>
                  </a:srgbClr>
                </a:solidFill>
                <a:latin typeface="华文中宋"/>
                <a:ea typeface="华文中宋"/>
                <a:cs typeface="华文中宋"/>
              </a:rPr>
              <a:t>vs code 提供的标准</a:t>
            </a:r>
            <a:r>
              <a:rPr lang="en-US" sz="1600" b="0" i="0" u="none" strike="noStrike">
                <a:solidFill>
                  <a:srgbClr val="666666">
                    <a:alpha val="100000"/>
                  </a:srgbClr>
                </a:solidFill>
                <a:latin typeface="华文中宋"/>
                <a:ea typeface="华文中宋"/>
                <a:cs typeface="华文中宋"/>
              </a:rPr>
              <a:t> </a:t>
            </a:r>
            <a:r>
              <a:rPr lang="zh-CN" sz="1600" b="0" i="0" u="none" strike="noStrike">
                <a:solidFill>
                  <a:srgbClr val="666666">
                    <a:alpha val="100000"/>
                  </a:srgbClr>
                </a:solidFill>
                <a:latin typeface="华文中宋"/>
                <a:ea typeface="华文中宋"/>
                <a:cs typeface="华文中宋"/>
              </a:rPr>
              <a:t>DAP 协议重构跟踪工具的传输层</a:t>
            </a:r>
            <a:endParaRPr/>
          </a:p>
          <a:p>
            <a:pPr marL="342900" lvl="0" indent="-342900" algn="l" defTabSz="914400" hangingPunct="1">
              <a:lnSpc>
                <a:spcPct val="150000"/>
              </a:lnSpc>
              <a:buAutoNum type="arabicPeriod"/>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华文中宋"/>
              </a:rPr>
              <a:t>插件面板设计与实现</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3"/>
          <p:cNvSpPr/>
          <p:nvPr/>
        </p:nvSpPr>
        <p:spPr>
          <a:xfrm>
            <a:off x="482672" y="1346524"/>
            <a:ext cx="10972800" cy="4026235"/>
          </a:xfrm>
          <a:prstGeom prst="rect">
            <a:avLst/>
          </a:prstGeom>
          <a:gradFill flip="none" rotWithShape="1">
            <a:gsLst>
              <a:gs pos="45000">
                <a:srgbClr val="A3C7FB"/>
              </a:gs>
              <a:gs pos="0">
                <a:sysClr val="window" lastClr="FFFFFF">
                  <a:alpha val="0"/>
                </a:sysClr>
              </a:gs>
              <a:gs pos="100000">
                <a:sysClr val="window" lastClr="FFFFFF">
                  <a:alpha val="0"/>
                </a:sysClr>
              </a:gs>
            </a:gsLst>
            <a:lin ang="0" scaled="1"/>
            <a:tileRect/>
          </a:gradFill>
          <a:ln w="28575" cap="flat" cmpd="sng" algn="ctr">
            <a:gradFill flip="none" rotWithShape="1">
              <a:gsLst>
                <a:gs pos="0">
                  <a:srgbClr val="052E68">
                    <a:alpha val="0"/>
                  </a:srgbClr>
                </a:gs>
                <a:gs pos="50000">
                  <a:schemeClr val="accent1"/>
                </a:gs>
                <a:gs pos="100000">
                  <a:srgbClr val="052E68">
                    <a:alpha val="0"/>
                  </a:srgbClr>
                </a:gs>
              </a:gsLst>
              <a:lin ang="0" scaled="1"/>
              <a:tileRect/>
            </a:gradFill>
            <a:prstDash val="solid"/>
            <a:miter lim="800000"/>
          </a:ln>
          <a:effectLst/>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ontserrat" panose="00000500000000000000"/>
              <a:ea typeface="HarmonyOS Sans SC"/>
              <a:cs typeface="+mn-cs"/>
            </a:endParaRPr>
          </a:p>
        </p:txBody>
      </p:sp>
      <p:sp>
        <p:nvSpPr>
          <p:cNvPr id="77" name="梯形 4"/>
          <p:cNvSpPr/>
          <p:nvPr/>
        </p:nvSpPr>
        <p:spPr>
          <a:xfrm flipV="1">
            <a:off x="3486019" y="2012444"/>
            <a:ext cx="5514669" cy="3220030"/>
          </a:xfrm>
          <a:prstGeom prst="trapezoid">
            <a:avLst/>
          </a:prstGeom>
          <a:gradFill flip="none" rotWithShape="1">
            <a:gsLst>
              <a:gs pos="0">
                <a:srgbClr val="052E68">
                  <a:alpha val="0"/>
                </a:srgbClr>
              </a:gs>
              <a:gs pos="100000">
                <a:srgbClr val="052E68">
                  <a:alpha val="12000"/>
                </a:srgbClr>
              </a:gs>
            </a:gsLst>
            <a:lin ang="1620000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Medium" panose="02000000000000000000"/>
              <a:ea typeface="思源黑体 CN Regular" panose="020B0500000000000000" charset="-128"/>
              <a:cs typeface="+mn-cs"/>
            </a:endParaRPr>
          </a:p>
        </p:txBody>
      </p:sp>
      <p:grpSp>
        <p:nvGrpSpPr>
          <p:cNvPr id="78" name="组合 5"/>
          <p:cNvGrpSpPr/>
          <p:nvPr/>
        </p:nvGrpSpPr>
        <p:grpSpPr>
          <a:xfrm>
            <a:off x="8351520" y="1367865"/>
            <a:ext cx="1778842" cy="4004893"/>
            <a:chOff x="7453388" y="1753573"/>
            <a:chExt cx="1825102" cy="2752496"/>
          </a:xfrm>
        </p:grpSpPr>
        <p:sp>
          <p:nvSpPr>
            <p:cNvPr id="79" name="梯形 9"/>
            <p:cNvSpPr/>
            <p:nvPr/>
          </p:nvSpPr>
          <p:spPr>
            <a:xfrm rot="16200000" flipH="1">
              <a:off x="6841983" y="2393422"/>
              <a:ext cx="2752496" cy="1472798"/>
            </a:xfrm>
            <a:prstGeom prst="trapezoid">
              <a:avLst>
                <a:gd name="adj" fmla="val 32300"/>
              </a:avLst>
            </a:prstGeom>
            <a:gradFill flip="none" rotWithShape="1">
              <a:gsLst>
                <a:gs pos="0">
                  <a:srgbClr val="052E68">
                    <a:alpha val="49000"/>
                  </a:srgbClr>
                </a:gs>
                <a:gs pos="60000">
                  <a:schemeClr val="tx2">
                    <a:lumMod val="10000"/>
                    <a:lumOff val="90000"/>
                    <a:alpha val="0"/>
                  </a:schemeClr>
                </a:gs>
              </a:gsLst>
              <a:lin ang="1620000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Medium" panose="02000000000000000000"/>
                <a:ea typeface="思源黑体 CN Regular" panose="020B0500000000000000" charset="-128"/>
                <a:cs typeface="+mn-cs"/>
              </a:endParaRPr>
            </a:p>
          </p:txBody>
        </p:sp>
        <p:sp>
          <p:nvSpPr>
            <p:cNvPr id="80" name="梯形 10"/>
            <p:cNvSpPr/>
            <p:nvPr/>
          </p:nvSpPr>
          <p:spPr>
            <a:xfrm rot="16200000" flipH="1">
              <a:off x="7245021" y="2217271"/>
              <a:ext cx="2241836" cy="1825102"/>
            </a:xfrm>
            <a:prstGeom prst="trapezoid">
              <a:avLst>
                <a:gd name="adj" fmla="val 34176"/>
              </a:avLst>
            </a:prstGeom>
            <a:gradFill flip="none" rotWithShape="1">
              <a:gsLst>
                <a:gs pos="0">
                  <a:srgbClr val="052E68">
                    <a:alpha val="61000"/>
                  </a:srgbClr>
                </a:gs>
                <a:gs pos="60000">
                  <a:schemeClr val="tx2">
                    <a:lumMod val="10000"/>
                    <a:lumOff val="90000"/>
                    <a:alpha val="0"/>
                  </a:schemeClr>
                </a:gs>
              </a:gsLst>
              <a:lin ang="1620000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Medium" panose="02000000000000000000"/>
                <a:ea typeface="思源黑体 CN Regular" panose="020B0500000000000000" charset="-128"/>
                <a:cs typeface="+mn-cs"/>
              </a:endParaRPr>
            </a:p>
          </p:txBody>
        </p:sp>
        <p:sp>
          <p:nvSpPr>
            <p:cNvPr id="81" name="等腰三角形 11"/>
            <p:cNvSpPr/>
            <p:nvPr/>
          </p:nvSpPr>
          <p:spPr>
            <a:xfrm rot="5400000" flipH="1">
              <a:off x="8666549" y="3071810"/>
              <a:ext cx="340869" cy="235285"/>
            </a:xfrm>
            <a:prstGeom prst="triangle">
              <a:avLst/>
            </a:prstGeom>
            <a:gradFill flip="none" rotWithShape="1">
              <a:gsLst>
                <a:gs pos="0">
                  <a:srgbClr val="052E68"/>
                </a:gs>
                <a:gs pos="100000">
                  <a:srgbClr val="052E68">
                    <a:alpha val="0"/>
                  </a:srgbClr>
                </a:gs>
              </a:gsLst>
              <a:lin ang="16200000" scaled="1"/>
              <a:tileRect/>
            </a:gradFill>
            <a:ln w="19050" cap="flat" cmpd="sng" algn="ctr">
              <a:noFill/>
              <a:prstDash val="solid"/>
              <a:miter lim="800000"/>
            </a:ln>
            <a:effectLst>
              <a:outerShdw blurRad="127000" dist="88900" dir="2700000" algn="tl" rotWithShape="0">
                <a:srgbClr val="AD84C6">
                  <a:lumMod val="50000"/>
                  <a:alpha val="3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Medium" panose="02000000000000000000"/>
                <a:ea typeface="思源黑体 CN Regular" panose="020B0500000000000000" charset="-128"/>
                <a:cs typeface="+mn-cs"/>
              </a:endParaRPr>
            </a:p>
          </p:txBody>
        </p:sp>
      </p:grpSp>
      <p:grpSp>
        <p:nvGrpSpPr>
          <p:cNvPr id="82" name="组合 12"/>
          <p:cNvGrpSpPr/>
          <p:nvPr/>
        </p:nvGrpSpPr>
        <p:grpSpPr>
          <a:xfrm flipH="1">
            <a:off x="2209151" y="1338316"/>
            <a:ext cx="1731550" cy="4054090"/>
            <a:chOff x="8089367" y="1823460"/>
            <a:chExt cx="1825102" cy="2752496"/>
          </a:xfrm>
        </p:grpSpPr>
        <p:sp>
          <p:nvSpPr>
            <p:cNvPr id="83" name="梯形 13"/>
            <p:cNvSpPr/>
            <p:nvPr/>
          </p:nvSpPr>
          <p:spPr>
            <a:xfrm rot="16200000" flipH="1">
              <a:off x="7477962" y="2463309"/>
              <a:ext cx="2752496" cy="1472798"/>
            </a:xfrm>
            <a:prstGeom prst="trapezoid">
              <a:avLst>
                <a:gd name="adj" fmla="val 32300"/>
              </a:avLst>
            </a:prstGeom>
            <a:gradFill flip="none" rotWithShape="1">
              <a:gsLst>
                <a:gs pos="0">
                  <a:schemeClr val="accent1">
                    <a:alpha val="49000"/>
                  </a:schemeClr>
                </a:gs>
                <a:gs pos="60000">
                  <a:schemeClr val="tx2">
                    <a:lumMod val="10000"/>
                    <a:lumOff val="90000"/>
                    <a:alpha val="0"/>
                  </a:schemeClr>
                </a:gs>
              </a:gsLst>
              <a:lin ang="1620000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Medium" panose="02000000000000000000"/>
                <a:ea typeface="思源黑体 CN Regular" panose="020B0500000000000000" charset="-128"/>
                <a:cs typeface="+mn-cs"/>
              </a:endParaRPr>
            </a:p>
          </p:txBody>
        </p:sp>
        <p:sp>
          <p:nvSpPr>
            <p:cNvPr id="84" name="梯形 14"/>
            <p:cNvSpPr/>
            <p:nvPr/>
          </p:nvSpPr>
          <p:spPr>
            <a:xfrm rot="16200000" flipH="1">
              <a:off x="7881000" y="2287158"/>
              <a:ext cx="2241836" cy="1825102"/>
            </a:xfrm>
            <a:prstGeom prst="trapezoid">
              <a:avLst>
                <a:gd name="adj" fmla="val 34176"/>
              </a:avLst>
            </a:prstGeom>
            <a:gradFill flip="none" rotWithShape="1">
              <a:gsLst>
                <a:gs pos="0">
                  <a:schemeClr val="accent1">
                    <a:alpha val="61000"/>
                  </a:schemeClr>
                </a:gs>
                <a:gs pos="60000">
                  <a:schemeClr val="tx2">
                    <a:lumMod val="10000"/>
                    <a:lumOff val="90000"/>
                    <a:alpha val="0"/>
                  </a:schemeClr>
                </a:gs>
              </a:gsLst>
              <a:lin ang="1620000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Medium" panose="02000000000000000000"/>
                <a:ea typeface="思源黑体 CN Regular" panose="020B0500000000000000" charset="-128"/>
                <a:cs typeface="+mn-cs"/>
              </a:endParaRPr>
            </a:p>
          </p:txBody>
        </p:sp>
        <p:sp>
          <p:nvSpPr>
            <p:cNvPr id="85" name="等腰三角形 15"/>
            <p:cNvSpPr/>
            <p:nvPr/>
          </p:nvSpPr>
          <p:spPr>
            <a:xfrm rot="16200000" flipH="1" flipV="1">
              <a:off x="9272864" y="3040217"/>
              <a:ext cx="340869" cy="235285"/>
            </a:xfrm>
            <a:prstGeom prst="triangle">
              <a:avLst/>
            </a:prstGeom>
            <a:gradFill flip="none" rotWithShape="1">
              <a:gsLst>
                <a:gs pos="0">
                  <a:srgbClr val="052E68"/>
                </a:gs>
                <a:gs pos="100000">
                  <a:srgbClr val="052E68">
                    <a:alpha val="0"/>
                  </a:srgbClr>
                </a:gs>
              </a:gsLst>
              <a:lin ang="16200000" scaled="1"/>
              <a:tileRect/>
            </a:gradFill>
            <a:ln w="19050" cap="flat" cmpd="sng" algn="ctr">
              <a:noFill/>
              <a:prstDash val="solid"/>
              <a:miter lim="800000"/>
            </a:ln>
            <a:effectLst>
              <a:outerShdw blurRad="127000" dist="88900" dir="2700000" algn="tl" rotWithShape="0">
                <a:srgbClr val="AD84C6">
                  <a:lumMod val="50000"/>
                  <a:alpha val="3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Medium" panose="02000000000000000000"/>
                <a:ea typeface="思源黑体 CN Regular" panose="020B0500000000000000" charset="-128"/>
                <a:cs typeface="+mn-cs"/>
              </a:endParaRPr>
            </a:p>
          </p:txBody>
        </p:sp>
      </p:grpSp>
      <p:sp>
        <p:nvSpPr>
          <p:cNvPr id="86"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lang="zh-CN" sz="2400" b="1">
                <a:solidFill>
                  <a:srgbClr val="052E68">
                    <a:alpha val="100000"/>
                  </a:srgbClr>
                </a:solidFill>
                <a:latin typeface="思源宋体 CN Heavy"/>
                <a:ea typeface="思源宋体 CN Heavy"/>
                <a:cs typeface="+mn-cs"/>
              </a:rPr>
              <a:t>技术</a:t>
            </a:r>
            <a:r>
              <a:rPr sz="2400" b="1">
                <a:solidFill>
                  <a:srgbClr val="052E68">
                    <a:alpha val="100000"/>
                  </a:srgbClr>
                </a:solidFill>
                <a:latin typeface="思源宋体 CN Heavy"/>
                <a:ea typeface="思源宋体 CN Heavy"/>
                <a:cs typeface="+mn-cs"/>
              </a:rPr>
              <a:t>实现</a:t>
            </a:r>
            <a:r>
              <a:rPr lang="zh-CN" sz="2400" b="1">
                <a:solidFill>
                  <a:srgbClr val="052E68">
                    <a:alpha val="100000"/>
                  </a:srgbClr>
                </a:solidFill>
                <a:latin typeface="思源宋体 CN Heavy"/>
                <a:ea typeface="思源宋体 CN Heavy"/>
                <a:cs typeface="+mn-cs"/>
              </a:rPr>
              <a:t>三</a:t>
            </a:r>
            <a:r>
              <a:rPr sz="2400" b="1">
                <a:solidFill>
                  <a:srgbClr val="052E68">
                    <a:alpha val="100000"/>
                  </a:srgbClr>
                </a:solidFill>
                <a:latin typeface="思源宋体 CN Heavy"/>
                <a:ea typeface="思源宋体 CN Heavy"/>
                <a:cs typeface="+mn-cs"/>
              </a:rPr>
              <a:t>：</a:t>
            </a:r>
            <a:r>
              <a:rPr lang="zh-CN" sz="2400" b="1">
                <a:solidFill>
                  <a:srgbClr val="052E68">
                    <a:alpha val="100000"/>
                  </a:srgbClr>
                </a:solidFill>
                <a:latin typeface="思源宋体 CN Heavy"/>
                <a:ea typeface="思源宋体 CN Heavy"/>
                <a:cs typeface="思源宋体 CN Heavy"/>
              </a:rPr>
              <a:t>图形化界面设计与实现</a:t>
            </a:r>
            <a:endParaRPr/>
          </a:p>
        </p:txBody>
      </p:sp>
      <p:pic>
        <p:nvPicPr>
          <p:cNvPr id="87" name="Picture 22" descr="async-inspector面板截图.png"/>
          <p:cNvPicPr>
            <a:picLocks noChangeAspect="1"/>
          </p:cNvPicPr>
          <p:nvPr/>
        </p:nvPicPr>
        <p:blipFill>
          <a:blip r:embed="rId3"/>
          <a:srcRect l="20901" t="9316" b="3034"/>
          <a:stretch>
            <a:fillRect/>
          </a:stretch>
        </p:blipFill>
        <p:spPr>
          <a:xfrm>
            <a:off x="2812746" y="1320378"/>
            <a:ext cx="6778668" cy="4021786"/>
          </a:xfrm>
          <a:prstGeom prst="rect">
            <a:avLst/>
          </a:prstGeom>
        </p:spPr>
      </p:pic>
      <p:sp>
        <p:nvSpPr>
          <p:cNvPr id="88" name="矩形 16"/>
          <p:cNvSpPr/>
          <p:nvPr/>
        </p:nvSpPr>
        <p:spPr>
          <a:xfrm>
            <a:off x="2812745" y="1581685"/>
            <a:ext cx="4424561" cy="3766003"/>
          </a:xfrm>
          <a:prstGeom prst="rect">
            <a:avLst/>
          </a:prstGeom>
          <a:solidFill>
            <a:srgbClr val="FF9999">
              <a:alpha val="4000"/>
            </a:srgbClr>
          </a:solidFill>
          <a:ln w="25400">
            <a:solidFill>
              <a:srgbClr val="B4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18"/>
          <p:cNvSpPr/>
          <p:nvPr/>
        </p:nvSpPr>
        <p:spPr>
          <a:xfrm>
            <a:off x="7272928" y="1565262"/>
            <a:ext cx="2276537" cy="618701"/>
          </a:xfrm>
          <a:prstGeom prst="rect">
            <a:avLst/>
          </a:prstGeom>
          <a:solidFill>
            <a:srgbClr val="92D050">
              <a:alpha val="4000"/>
            </a:srgbClr>
          </a:solidFill>
          <a:ln w="254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20"/>
          <p:cNvSpPr/>
          <p:nvPr/>
        </p:nvSpPr>
        <p:spPr>
          <a:xfrm>
            <a:off x="7289248" y="2258694"/>
            <a:ext cx="2276537" cy="3083469"/>
          </a:xfrm>
          <a:prstGeom prst="rect">
            <a:avLst/>
          </a:prstGeom>
          <a:solidFill>
            <a:srgbClr val="FBE2A1">
              <a:alpha val="4000"/>
            </a:srgbClr>
          </a:solidFill>
          <a:ln w="254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22"/>
          <p:cNvSpPr txBox="1"/>
          <p:nvPr/>
        </p:nvSpPr>
        <p:spPr>
          <a:xfrm>
            <a:off x="1354453" y="2469646"/>
            <a:ext cx="609600" cy="2039265"/>
          </a:xfrm>
          <a:prstGeom prst="rect">
            <a:avLst/>
          </a:prstGeom>
          <a:noFill/>
        </p:spPr>
        <p:txBody>
          <a:bodyPr vert="eaVert" wrap="square" rtlCol="0" anchor="ctr">
            <a:spAutoFit/>
          </a:bodyPr>
          <a:lstStyle/>
          <a:p>
            <a:pPr algn="dist"/>
            <a:r>
              <a:rPr lang="zh-CN" sz="2800" b="1">
                <a:solidFill>
                  <a:srgbClr val="C00000">
                    <a:alpha val="81000"/>
                  </a:srgbClr>
                </a:solidFill>
                <a:latin typeface="思源宋体 CN Heavy"/>
                <a:ea typeface="思源宋体 CN Heavy"/>
                <a:cs typeface="HarmonyOS Sans SC"/>
                <a:sym typeface="Roboto"/>
              </a:rPr>
              <a:t>逻辑调用树</a:t>
            </a:r>
            <a:endParaRPr/>
          </a:p>
        </p:txBody>
      </p:sp>
      <p:sp>
        <p:nvSpPr>
          <p:cNvPr id="92" name="文本框 24"/>
          <p:cNvSpPr txBox="1"/>
          <p:nvPr/>
        </p:nvSpPr>
        <p:spPr>
          <a:xfrm>
            <a:off x="7622386" y="766105"/>
            <a:ext cx="1778825" cy="457200"/>
          </a:xfrm>
          <a:prstGeom prst="rect">
            <a:avLst/>
          </a:prstGeom>
          <a:noFill/>
        </p:spPr>
        <p:txBody>
          <a:bodyPr vert="horz" wrap="square" rtlCol="0" anchor="ctr">
            <a:spAutoFit/>
          </a:bodyPr>
          <a:lstStyle/>
          <a:p>
            <a:pPr algn="dist"/>
            <a:r>
              <a:rPr lang="zh-CN" sz="2400" b="1">
                <a:solidFill>
                  <a:srgbClr val="00B050">
                    <a:alpha val="100000"/>
                  </a:srgbClr>
                </a:solidFill>
                <a:latin typeface="思源宋体 CN Heavy"/>
                <a:ea typeface="思源宋体 CN Heavy"/>
                <a:cs typeface="HarmonyOS Sans SC"/>
                <a:sym typeface="Roboto"/>
              </a:rPr>
              <a:t>追踪根函数</a:t>
            </a:r>
            <a:endParaRPr/>
          </a:p>
        </p:txBody>
      </p:sp>
      <p:sp>
        <p:nvSpPr>
          <p:cNvPr id="93" name="文本框 26"/>
          <p:cNvSpPr txBox="1"/>
          <p:nvPr/>
        </p:nvSpPr>
        <p:spPr>
          <a:xfrm>
            <a:off x="10243714" y="2780809"/>
            <a:ext cx="609600" cy="2039239"/>
          </a:xfrm>
          <a:prstGeom prst="rect">
            <a:avLst/>
          </a:prstGeom>
          <a:noFill/>
        </p:spPr>
        <p:txBody>
          <a:bodyPr vert="eaVert" wrap="square" rtlCol="0" anchor="ctr">
            <a:spAutoFit/>
          </a:bodyPr>
          <a:lstStyle/>
          <a:p>
            <a:pPr algn="dist"/>
            <a:r>
              <a:rPr lang="zh-CN" sz="2800" b="1">
                <a:solidFill>
                  <a:srgbClr val="FFC000">
                    <a:alpha val="100000"/>
                  </a:srgbClr>
                </a:solidFill>
                <a:latin typeface="思源宋体 CN Heavy"/>
                <a:ea typeface="思源宋体 CN Heavy"/>
                <a:cs typeface="HarmonyOS Sans SC"/>
                <a:sym typeface="Roboto"/>
              </a:rPr>
              <a:t>函数白名单</a:t>
            </a:r>
            <a:endParaRPr/>
          </a:p>
        </p:txBody>
      </p:sp>
      <p:sp>
        <p:nvSpPr>
          <p:cNvPr id="94" name="平行四边形 28"/>
          <p:cNvSpPr/>
          <p:nvPr/>
        </p:nvSpPr>
        <p:spPr>
          <a:xfrm rot="20166891" flipH="1" flipV="1">
            <a:off x="1749417" y="1796135"/>
            <a:ext cx="1125745" cy="45719"/>
          </a:xfrm>
          <a:prstGeom prst="parallelogram">
            <a:avLst>
              <a:gd name="adj" fmla="val 45698"/>
            </a:avLst>
          </a:prstGeom>
          <a:gradFill flip="none" rotWithShape="1">
            <a:gsLst>
              <a:gs pos="0">
                <a:srgbClr val="C00000">
                  <a:alpha val="67000"/>
                </a:srgbClr>
              </a:gs>
              <a:gs pos="100000">
                <a:srgbClr val="C00000">
                  <a:alpha val="0"/>
                </a:srgbClr>
              </a:gs>
            </a:gsLst>
            <a:lin ang="0" scaled="1"/>
            <a:tileRect/>
          </a:gradFill>
          <a:ln w="10186" cap="flat">
            <a:noFill/>
            <a:prstDash val="solid"/>
            <a:miter/>
          </a:ln>
          <a:effectLst/>
        </p:spPr>
        <p:txBody>
          <a:bodyPr wrap="square" rtlCol="0" anchor="ctr">
            <a:noAutofit/>
          </a:bodyPr>
          <a:lstStyle/>
          <a:p>
            <a:pPr algn="ctr"/>
            <a:endParaRPr lang="zh-CN" altLang="en-US" b="1" dirty="0">
              <a:solidFill>
                <a:schemeClr val="bg1"/>
              </a:solidFill>
              <a:latin typeface="微软雅黑" panose="020B0503020204020204" charset="-122"/>
              <a:cs typeface="+mn-ea"/>
              <a:sym typeface="+mn-lt"/>
            </a:endParaRPr>
          </a:p>
        </p:txBody>
      </p:sp>
      <p:sp>
        <p:nvSpPr>
          <p:cNvPr id="95" name="平行四边形 30"/>
          <p:cNvSpPr/>
          <p:nvPr/>
        </p:nvSpPr>
        <p:spPr>
          <a:xfrm rot="1433109" flipH="1">
            <a:off x="1833607" y="5118896"/>
            <a:ext cx="1037786" cy="45719"/>
          </a:xfrm>
          <a:prstGeom prst="parallelogram">
            <a:avLst>
              <a:gd name="adj" fmla="val 45698"/>
            </a:avLst>
          </a:prstGeom>
          <a:gradFill flip="none" rotWithShape="1">
            <a:gsLst>
              <a:gs pos="0">
                <a:srgbClr val="C00000">
                  <a:alpha val="68000"/>
                </a:srgbClr>
              </a:gs>
              <a:gs pos="100000">
                <a:srgbClr val="C00000">
                  <a:alpha val="0"/>
                </a:srgbClr>
              </a:gs>
            </a:gsLst>
            <a:lin ang="0" scaled="1"/>
            <a:tileRect/>
          </a:gradFill>
          <a:ln w="10186" cap="flat">
            <a:noFill/>
            <a:prstDash val="solid"/>
            <a:miter/>
          </a:ln>
          <a:effectLst/>
        </p:spPr>
        <p:txBody>
          <a:bodyPr wrap="square" rtlCol="0" anchor="ctr">
            <a:noAutofit/>
          </a:bodyPr>
          <a:lstStyle/>
          <a:p>
            <a:pPr algn="ctr"/>
            <a:endParaRPr lang="zh-CN" altLang="en-US" b="1" dirty="0">
              <a:solidFill>
                <a:schemeClr val="bg1"/>
              </a:solidFill>
              <a:latin typeface="微软雅黑" panose="020B0503020204020204" charset="-122"/>
              <a:cs typeface="+mn-ea"/>
              <a:sym typeface="+mn-lt"/>
            </a:endParaRPr>
          </a:p>
        </p:txBody>
      </p:sp>
      <p:grpSp>
        <p:nvGrpSpPr>
          <p:cNvPr id="96" name="组合 33"/>
          <p:cNvGrpSpPr/>
          <p:nvPr/>
        </p:nvGrpSpPr>
        <p:grpSpPr>
          <a:xfrm rot="10800000">
            <a:off x="7263298" y="1071068"/>
            <a:ext cx="2321789" cy="508700"/>
            <a:chOff x="2940035" y="1107848"/>
            <a:chExt cx="6311932" cy="1913555"/>
          </a:xfrm>
        </p:grpSpPr>
        <p:sp>
          <p:nvSpPr>
            <p:cNvPr id="97" name="任意形状 4"/>
            <p:cNvSpPr/>
            <p:nvPr/>
          </p:nvSpPr>
          <p:spPr>
            <a:xfrm flipV="1">
              <a:off x="2940035" y="1264822"/>
              <a:ext cx="6311932" cy="1756581"/>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0">
                  <a:srgbClr val="00B050">
                    <a:alpha val="24000"/>
                  </a:srgbClr>
                </a:gs>
                <a:gs pos="100000">
                  <a:srgbClr val="00B050">
                    <a:alpha val="0"/>
                  </a:srgbClr>
                </a:gs>
              </a:gsLst>
              <a:lin ang="16200000" scaled="1"/>
              <a:tileRect/>
            </a:gradFill>
            <a:ln w="3175">
              <a:gradFill flip="none" rotWithShape="1">
                <a:gsLst>
                  <a:gs pos="70000">
                    <a:srgbClr val="00B050"/>
                  </a:gs>
                  <a:gs pos="29000">
                    <a:srgbClr val="00B050"/>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cs typeface="+mn-ea"/>
                <a:sym typeface="+mn-lt"/>
              </a:endParaRPr>
            </a:p>
          </p:txBody>
        </p:sp>
        <p:sp>
          <p:nvSpPr>
            <p:cNvPr id="98" name="椭圆 35"/>
            <p:cNvSpPr/>
            <p:nvPr/>
          </p:nvSpPr>
          <p:spPr>
            <a:xfrm>
              <a:off x="2994709" y="1107848"/>
              <a:ext cx="6203911" cy="321459"/>
            </a:xfrm>
            <a:prstGeom prst="ellipse">
              <a:avLst/>
            </a:prstGeom>
            <a:gradFill>
              <a:gsLst>
                <a:gs pos="0">
                  <a:schemeClr val="bg1">
                    <a:alpha val="3000"/>
                  </a:schemeClr>
                </a:gs>
                <a:gs pos="57000">
                  <a:schemeClr val="bg1"/>
                </a:gs>
              </a:gsLst>
              <a:lin ang="5400000" scaled="1"/>
            </a:gradFill>
            <a:ln w="12700">
              <a:gradFill>
                <a:gsLst>
                  <a:gs pos="14000">
                    <a:srgbClr val="00B050">
                      <a:alpha val="0"/>
                    </a:srgbClr>
                  </a:gs>
                  <a:gs pos="100000">
                    <a:srgbClr val="00B05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cs typeface="+mn-ea"/>
                <a:sym typeface="+mn-lt"/>
              </a:endParaRPr>
            </a:p>
          </p:txBody>
        </p:sp>
      </p:grpSp>
      <p:sp>
        <p:nvSpPr>
          <p:cNvPr id="99" name="平行四边形 37"/>
          <p:cNvSpPr/>
          <p:nvPr/>
        </p:nvSpPr>
        <p:spPr>
          <a:xfrm rot="9543192" flipH="1" flipV="1">
            <a:off x="9549492" y="5140839"/>
            <a:ext cx="883600" cy="45719"/>
          </a:xfrm>
          <a:prstGeom prst="parallelogram">
            <a:avLst>
              <a:gd name="adj" fmla="val 45698"/>
            </a:avLst>
          </a:prstGeom>
          <a:gradFill flip="none" rotWithShape="1">
            <a:gsLst>
              <a:gs pos="0">
                <a:srgbClr val="FFC000"/>
              </a:gs>
              <a:gs pos="100000">
                <a:srgbClr val="FFC000">
                  <a:alpha val="0"/>
                </a:srgbClr>
              </a:gs>
            </a:gsLst>
            <a:lin ang="0" scaled="1"/>
            <a:tileRect/>
          </a:gradFill>
          <a:ln w="10186" cap="flat">
            <a:noFill/>
            <a:prstDash val="solid"/>
            <a:miter/>
          </a:ln>
          <a:effectLst/>
        </p:spPr>
        <p:txBody>
          <a:bodyPr wrap="square" rtlCol="0" anchor="ctr">
            <a:noAutofit/>
          </a:bodyPr>
          <a:lstStyle/>
          <a:p>
            <a:pPr algn="ctr"/>
            <a:endParaRPr lang="zh-CN" altLang="en-US" b="1" dirty="0">
              <a:solidFill>
                <a:schemeClr val="bg1"/>
              </a:solidFill>
              <a:latin typeface="微软雅黑" panose="020B0503020204020204" charset="-122"/>
              <a:cs typeface="+mn-ea"/>
              <a:sym typeface="+mn-lt"/>
            </a:endParaRPr>
          </a:p>
        </p:txBody>
      </p:sp>
      <p:sp>
        <p:nvSpPr>
          <p:cNvPr id="100" name="平行四边形 39"/>
          <p:cNvSpPr/>
          <p:nvPr/>
        </p:nvSpPr>
        <p:spPr>
          <a:xfrm rot="12233700" flipH="1">
            <a:off x="9508541" y="2402130"/>
            <a:ext cx="758416" cy="45719"/>
          </a:xfrm>
          <a:prstGeom prst="parallelogram">
            <a:avLst>
              <a:gd name="adj" fmla="val 45698"/>
            </a:avLst>
          </a:prstGeom>
          <a:gradFill flip="none" rotWithShape="1">
            <a:gsLst>
              <a:gs pos="0">
                <a:srgbClr val="FFC000"/>
              </a:gs>
              <a:gs pos="100000">
                <a:srgbClr val="FFC000">
                  <a:alpha val="0"/>
                </a:srgbClr>
              </a:gs>
            </a:gsLst>
            <a:lin ang="0" scaled="1"/>
            <a:tileRect/>
          </a:gradFill>
          <a:ln w="10186" cap="flat">
            <a:noFill/>
            <a:prstDash val="solid"/>
            <a:miter/>
          </a:ln>
          <a:effectLst/>
        </p:spPr>
        <p:txBody>
          <a:bodyPr wrap="square" rtlCol="0" anchor="ctr">
            <a:noAutofit/>
          </a:bodyPr>
          <a:lstStyle/>
          <a:p>
            <a:pPr algn="ctr"/>
            <a:endParaRPr lang="zh-CN" altLang="en-US" b="1" dirty="0">
              <a:solidFill>
                <a:schemeClr val="bg1"/>
              </a:solidFill>
              <a:latin typeface="微软雅黑" panose="020B0503020204020204" charset="-122"/>
              <a:cs typeface="+mn-ea"/>
              <a:sym typeface="+mn-lt"/>
            </a:endParaRPr>
          </a:p>
        </p:txBody>
      </p:sp>
      <p:sp>
        <p:nvSpPr>
          <p:cNvPr id="101" name="TextBox 12"/>
          <p:cNvSpPr txBox="1"/>
          <p:nvPr/>
        </p:nvSpPr>
        <p:spPr>
          <a:xfrm>
            <a:off x="183487" y="5517318"/>
            <a:ext cx="11798300" cy="1244600"/>
          </a:xfrm>
          <a:prstGeom prst="rect">
            <a:avLst/>
          </a:prstGeom>
          <a:noFill/>
        </p:spPr>
        <p:txBody>
          <a:bodyPr wrap="square">
            <a:spAutoFit/>
          </a:bodyPr>
          <a:lstStyle/>
          <a:p>
            <a:pPr marL="285750" indent="-285750" algn="l">
              <a:spcAft>
                <a:spcPts val="400"/>
              </a:spcAft>
              <a:buFont typeface="Wingdings" panose="05000000000000000000" pitchFamily="2" charset="2"/>
              <a:buChar char="ü"/>
            </a:pPr>
            <a:r>
              <a:rPr lang="en-US" sz="1600" b="1">
                <a:solidFill>
                  <a:srgbClr val="052E68">
                    <a:alpha val="100000"/>
                  </a:srgbClr>
                </a:solidFill>
                <a:latin typeface="华文中宋"/>
                <a:ea typeface="华文中宋"/>
                <a:cs typeface="+mn-cs"/>
              </a:rPr>
              <a:t>Logical Call Tree</a:t>
            </a:r>
            <a:r>
              <a:rPr lang="zh-CN" sz="1600" b="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以</a:t>
            </a:r>
            <a:r>
              <a:rPr sz="1600" b="1">
                <a:solidFill>
                  <a:srgbClr val="C00000">
                    <a:alpha val="100000"/>
                  </a:srgbClr>
                </a:solidFill>
                <a:latin typeface="华文中宋"/>
                <a:ea typeface="华文中宋"/>
                <a:cs typeface="+mn-cs"/>
              </a:rPr>
              <a:t>树形图</a:t>
            </a:r>
            <a:r>
              <a:rPr sz="1600" b="0">
                <a:solidFill>
                  <a:srgbClr val="2C2C2C">
                    <a:alpha val="100000"/>
                  </a:srgbClr>
                </a:solidFill>
                <a:latin typeface="华文中宋"/>
                <a:ea typeface="华文中宋"/>
                <a:cs typeface="+mn-cs"/>
              </a:rPr>
              <a:t>展示逻辑调用关系</a:t>
            </a:r>
            <a:r>
              <a:rPr lang="zh-CN" sz="1600" b="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红色节点为 async 协程，</a:t>
            </a:r>
            <a:r>
              <a:rPr lang="zh-CN" sz="1600" b="0">
                <a:solidFill>
                  <a:srgbClr val="2C2C2C">
                    <a:alpha val="100000"/>
                  </a:srgbClr>
                </a:solidFill>
                <a:latin typeface="华文中宋"/>
                <a:ea typeface="华文中宋"/>
                <a:cs typeface="+mn-cs"/>
              </a:rPr>
              <a:t>绿色</a:t>
            </a:r>
            <a:r>
              <a:rPr sz="1600" b="0">
                <a:solidFill>
                  <a:srgbClr val="2C2C2C">
                    <a:alpha val="100000"/>
                  </a:srgbClr>
                </a:solidFill>
                <a:latin typeface="华文中宋"/>
                <a:ea typeface="华文中宋"/>
                <a:cs typeface="+mn-cs"/>
              </a:rPr>
              <a:t>节点为 sync 函数</a:t>
            </a:r>
            <a:r>
              <a:rPr lang="zh-CN" sz="1600" b="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异步节点标注协程 ID、poll 次数、运行状态</a:t>
            </a:r>
            <a:r>
              <a:rPr lang="zh-CN" sz="1600" b="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点击节点跳转对应源码行。</a:t>
            </a:r>
            <a:endParaRPr/>
          </a:p>
          <a:p>
            <a:pPr marL="285750" indent="-285750" algn="l">
              <a:lnSpc>
                <a:spcPct val="130000"/>
              </a:lnSpc>
              <a:spcAft>
                <a:spcPts val="400"/>
              </a:spcAft>
              <a:buFont typeface="Wingdings" panose="05000000000000000000" pitchFamily="2" charset="2"/>
              <a:buChar char="ü"/>
            </a:pPr>
            <a:r>
              <a:rPr sz="1600" b="1">
                <a:solidFill>
                  <a:srgbClr val="052E68">
                    <a:alpha val="100000"/>
                  </a:srgbClr>
                </a:solidFill>
                <a:latin typeface="华文中宋"/>
                <a:ea typeface="华文中宋"/>
                <a:cs typeface="+mn-cs"/>
              </a:rPr>
              <a:t>Trace Root 显示区</a:t>
            </a:r>
            <a:r>
              <a:rPr lang="zh-CN" sz="1600" b="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展示当前已设置的</a:t>
            </a:r>
            <a:r>
              <a:rPr sz="1600" b="1">
                <a:solidFill>
                  <a:srgbClr val="C00000">
                    <a:alpha val="100000"/>
                  </a:srgbClr>
                </a:solidFill>
                <a:latin typeface="华文中宋"/>
                <a:ea typeface="华文中宋"/>
                <a:cs typeface="+mn-cs"/>
              </a:rPr>
              <a:t>追踪根函数列表</a:t>
            </a:r>
            <a:r>
              <a:rPr sz="1600" b="0">
                <a:solidFill>
                  <a:srgbClr val="2C2C2C">
                    <a:alpha val="100000"/>
                  </a:srgbClr>
                </a:solidFill>
                <a:latin typeface="华文中宋"/>
                <a:ea typeface="华文中宋"/>
                <a:cs typeface="+mn-cs"/>
              </a:rPr>
              <a:t>。</a:t>
            </a:r>
            <a:endParaRPr/>
          </a:p>
          <a:p>
            <a:pPr marL="285750" indent="-285750" algn="l">
              <a:spcAft>
                <a:spcPts val="400"/>
              </a:spcAft>
              <a:buFont typeface="Wingdings" panose="05000000000000000000" pitchFamily="2" charset="2"/>
              <a:buChar char="ü"/>
            </a:pPr>
            <a:r>
              <a:rPr sz="1600" b="1">
                <a:solidFill>
                  <a:srgbClr val="052E68">
                    <a:alpha val="100000"/>
                  </a:srgbClr>
                </a:solidFill>
                <a:latin typeface="华文中宋"/>
                <a:ea typeface="华文中宋"/>
                <a:cs typeface="+mn-cs"/>
              </a:rPr>
              <a:t>Whitelist</a:t>
            </a:r>
            <a:r>
              <a:rPr lang="zh-CN" sz="1600">
                <a:solidFill>
                  <a:srgbClr val="2C2C2C">
                    <a:alpha val="100000"/>
                  </a:srgbClr>
                </a:solidFill>
                <a:latin typeface="华文中宋"/>
                <a:ea typeface="华文中宋"/>
                <a:cs typeface="+mn-cs"/>
              </a:rPr>
              <a:t>：</a:t>
            </a:r>
            <a:r>
              <a:rPr sz="1600" b="0">
                <a:solidFill>
                  <a:srgbClr val="2C2C2C">
                    <a:alpha val="100000"/>
                  </a:srgbClr>
                </a:solidFill>
                <a:latin typeface="华文中宋"/>
                <a:ea typeface="华文中宋"/>
                <a:cs typeface="+mn-cs"/>
              </a:rPr>
              <a:t>按 crate 分组展示可追踪函数，每个函数提供 </a:t>
            </a:r>
            <a:r>
              <a:rPr sz="1600" b="1">
                <a:solidFill>
                  <a:srgbClr val="C00000">
                    <a:alpha val="100000"/>
                  </a:srgbClr>
                </a:solidFill>
                <a:latin typeface="华文中宋"/>
                <a:ea typeface="华文中宋"/>
                <a:cs typeface="+mn-cs"/>
              </a:rPr>
              <a:t>Trace</a:t>
            </a:r>
            <a:r>
              <a:rPr sz="1600" b="0">
                <a:solidFill>
                  <a:srgbClr val="2C2C2C">
                    <a:alpha val="100000"/>
                  </a:srgbClr>
                </a:solidFill>
                <a:latin typeface="华文中宋"/>
                <a:ea typeface="华文中宋"/>
                <a:cs typeface="+mn-cs"/>
              </a:rPr>
              <a:t> 和 </a:t>
            </a:r>
            <a:r>
              <a:rPr sz="1600" b="1">
                <a:solidFill>
                  <a:srgbClr val="C00000">
                    <a:alpha val="100000"/>
                  </a:srgbClr>
                </a:solidFill>
                <a:latin typeface="华文中宋"/>
                <a:ea typeface="华文中宋"/>
                <a:cs typeface="+mn-cs"/>
              </a:rPr>
              <a:t>Locate</a:t>
            </a:r>
            <a:r>
              <a:rPr sz="1600" b="0">
                <a:solidFill>
                  <a:srgbClr val="2C2C2C">
                    <a:alpha val="100000"/>
                  </a:srgbClr>
                </a:solidFill>
                <a:latin typeface="华文中宋"/>
                <a:ea typeface="华文中宋"/>
                <a:cs typeface="+mn-cs"/>
              </a:rPr>
              <a:t> 按钮。</a:t>
            </a:r>
            <a:endParaRPr/>
          </a:p>
        </p:txBody>
      </p:sp>
      <p:sp>
        <p:nvSpPr>
          <p:cNvPr id="102" name="TextBox 42"/>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sz="1100" b="0">
                <a:solidFill>
                  <a:srgbClr val="666666">
                    <a:alpha val="100000"/>
                  </a:srgbClr>
                </a:solidFill>
                <a:latin typeface="华文中宋"/>
                <a:ea typeface="HarmonyOS Sans SC"/>
                <a:cs typeface="+mn-cs"/>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Box 6"/>
          <p:cNvSpPr txBox="1"/>
          <p:nvPr/>
        </p:nvSpPr>
        <p:spPr>
          <a:xfrm>
            <a:off x="609904" y="806704"/>
            <a:ext cx="10972800" cy="508000"/>
          </a:xfrm>
          <a:prstGeom prst="rect">
            <a:avLst/>
          </a:prstGeom>
          <a:noFill/>
        </p:spPr>
        <p:txBody>
          <a:bodyPr wrap="square" lIns="54864" tIns="9144" rIns="54864"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技术实现三：图形化界面设计与实现</a:t>
            </a:r>
            <a:endParaRPr/>
          </a:p>
        </p:txBody>
      </p:sp>
      <p:sp>
        <p:nvSpPr>
          <p:cNvPr id="105" name="TextBox 7"/>
          <p:cNvSpPr txBox="1"/>
          <p:nvPr/>
        </p:nvSpPr>
        <p:spPr>
          <a:xfrm>
            <a:off x="609904" y="1430705"/>
            <a:ext cx="10972800" cy="260350"/>
          </a:xfrm>
          <a:prstGeom prst="rect">
            <a:avLst/>
          </a:prstGeom>
          <a:noFill/>
          <a:ln/>
        </p:spPr>
        <p:txBody>
          <a:bodyPr wrap="square" lIns="54864" tIns="9144" rIns="54864" bIns="9144" anchor="ctr">
            <a:spAutoFit/>
          </a:bodyPr>
          <a:lstStyle/>
          <a:p>
            <a:pPr marL="0" lvl="0" algn="l" defTabSz="914400" hangingPunct="1">
              <a:lnSpc>
                <a:spcPct val="100000"/>
              </a:lnSpc>
              <a:spcAft>
                <a:spcPts val="0"/>
              </a:spcAft>
              <a:defRPr sz="1800">
                <a:solidFill>
                  <a:schemeClr val="tx1">
                    <a:alpha val="100000"/>
                  </a:schemeClr>
                </a:solidFill>
                <a:latin typeface="Roboto"/>
                <a:ea typeface="HarmonyOS Sans SC"/>
                <a:cs typeface="+mn-cs"/>
              </a:defRPr>
            </a:pPr>
            <a:r>
              <a:rPr lang="zh-CN" sz="1600" b="0">
                <a:solidFill>
                  <a:srgbClr val="666666">
                    <a:alpha val="100000"/>
                  </a:srgbClr>
                </a:solidFill>
                <a:latin typeface="华文中宋"/>
                <a:ea typeface="华文中宋"/>
                <a:cs typeface="华文中宋"/>
              </a:rPr>
              <a:t>界面工作流程（</a:t>
            </a:r>
            <a:r>
              <a:rPr lang="zh-CN" sz="1600" b="0" i="0" u="none" strike="noStrike">
                <a:solidFill>
                  <a:srgbClr val="666666">
                    <a:alpha val="100000"/>
                  </a:srgbClr>
                </a:solidFill>
                <a:latin typeface="华文中宋"/>
                <a:ea typeface="华文中宋"/>
                <a:cs typeface="华文中宋"/>
              </a:rPr>
              <a:t>蓝色为用户操作，绿色为系统响应</a:t>
            </a:r>
            <a:r>
              <a:rPr lang="zh-CN" sz="1600" b="0">
                <a:solidFill>
                  <a:srgbClr val="666666">
                    <a:alpha val="100000"/>
                  </a:srgbClr>
                </a:solidFill>
                <a:latin typeface="华文中宋"/>
                <a:ea typeface="华文中宋"/>
                <a:cs typeface="华文中宋"/>
              </a:rPr>
              <a:t>）</a:t>
            </a:r>
            <a:endParaRPr sz="1800">
              <a:solidFill>
                <a:schemeClr val="tx1">
                  <a:alpha val="100000"/>
                </a:schemeClr>
              </a:solidFill>
              <a:latin typeface="Roboto"/>
              <a:ea typeface="HarmonyOS Sans SC"/>
              <a:cs typeface="+mn-cs"/>
            </a:endParaRPr>
          </a:p>
        </p:txBody>
      </p:sp>
      <p:sp>
        <p:nvSpPr>
          <p:cNvPr id="106" name="TextBox 8"/>
          <p:cNvSpPr txBox="1"/>
          <p:nvPr/>
        </p:nvSpPr>
        <p:spPr>
          <a:xfrm>
            <a:off x="11384280" y="6441313"/>
            <a:ext cx="457200" cy="184150"/>
          </a:xfrm>
          <a:prstGeom prst="rect">
            <a:avLst/>
          </a:prstGeom>
          <a:noFill/>
        </p:spPr>
        <p:txBody>
          <a:bodyPr wrap="square" lIns="54864" tIns="9144" rIns="54864" bIns="9144" anchor="ctr">
            <a:spAutoFit/>
          </a:bodyPr>
          <a:lstStyle/>
          <a:p>
            <a:pPr algn="r">
              <a:spcAft>
                <a:spcPts val="0"/>
              </a:spcAft>
            </a:pPr>
            <a:r>
              <a:rPr lang="zh-CN" sz="1100" b="0">
                <a:solidFill>
                  <a:srgbClr val="666666">
                    <a:alpha val="100000"/>
                  </a:srgbClr>
                </a:solidFill>
                <a:latin typeface="华文中宋"/>
                <a:ea typeface="华文中宋"/>
                <a:cs typeface="华文中宋"/>
              </a:rPr>
              <a:t>14</a:t>
            </a:r>
            <a:endParaRPr/>
          </a:p>
        </p:txBody>
      </p:sp>
      <p:sp>
        <p:nvSpPr>
          <p:cNvPr id="107" name="文本框 106"/>
          <p:cNvSpPr txBox="1"/>
          <p:nvPr/>
        </p:nvSpPr>
        <p:spPr>
          <a:xfrm>
            <a:off x="609904" y="2715453"/>
            <a:ext cx="5327650" cy="2044700"/>
          </a:xfrm>
          <a:prstGeom prst="rect">
            <a:avLst/>
          </a:prstGeom>
          <a:ln w="6350">
            <a:prstDash val="solid"/>
          </a:ln>
        </p:spPr>
        <p:txBody>
          <a:bodyPr wrap="square">
            <a:spAutoFit/>
          </a:bodyPr>
          <a:lstStyle/>
          <a:p>
            <a:pPr marL="0" lvl="0" algn="l" defTabSz="914400" hangingPunct="1">
              <a:lnSpc>
                <a:spcPct val="200000"/>
              </a:lnSpc>
              <a:defRPr sz="1800">
                <a:solidFill>
                  <a:schemeClr val="tx1">
                    <a:alpha val="100000"/>
                  </a:schemeClr>
                </a:solidFill>
                <a:latin typeface="Roboto"/>
                <a:ea typeface="HarmonyOS Sans SC"/>
                <a:cs typeface="+mn-cs"/>
              </a:defRPr>
            </a:pPr>
            <a:r>
              <a:rPr lang="zh-CN" sz="1600" b="1" i="0" u="none" strike="noStrike">
                <a:solidFill>
                  <a:srgbClr val="666666">
                    <a:alpha val="100000"/>
                  </a:srgbClr>
                </a:solidFill>
                <a:latin typeface="华文中宋"/>
                <a:ea typeface="华文中宋"/>
                <a:cs typeface="华文中宋"/>
              </a:rPr>
              <a:t>开发者从启动调试到查看异步执行流：</a:t>
            </a:r>
            <a:endParaRPr/>
          </a:p>
          <a:p>
            <a:pPr marL="285750" lvl="0" indent="-285750" algn="l" defTabSz="914400" hangingPunct="1">
              <a:lnSpc>
                <a:spcPct val="200000"/>
              </a:lnSpc>
              <a:buFont typeface="Wingdings" charset="2"/>
              <a:buChar char="Ø"/>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华文中宋"/>
              </a:rPr>
              <a:t>六步操作均在</a:t>
            </a:r>
            <a:r>
              <a:rPr lang="en-US" sz="1600" b="0" i="0" u="none" strike="noStrike">
                <a:solidFill>
                  <a:srgbClr val="666666">
                    <a:alpha val="100000"/>
                  </a:srgbClr>
                </a:solidFill>
                <a:latin typeface="华文中宋"/>
                <a:ea typeface="华文中宋"/>
                <a:cs typeface="华文中宋"/>
              </a:rPr>
              <a:t> VS Code </a:t>
            </a:r>
            <a:r>
              <a:rPr lang="zh-CN" sz="1600" b="0" i="0" u="none" strike="noStrike">
                <a:solidFill>
                  <a:srgbClr val="666666">
                    <a:alpha val="100000"/>
                  </a:srgbClr>
                </a:solidFill>
                <a:latin typeface="华文中宋"/>
                <a:ea typeface="华文中宋"/>
                <a:cs typeface="华文中宋"/>
              </a:rPr>
              <a:t>界面内完成；</a:t>
            </a:r>
            <a:endParaRPr/>
          </a:p>
          <a:p>
            <a:pPr marL="285750" lvl="0" indent="-285750" algn="l" defTabSz="914400" hangingPunct="1">
              <a:lnSpc>
                <a:spcPct val="200000"/>
              </a:lnSpc>
              <a:buFont typeface="Wingdings" charset="2"/>
              <a:buChar char="Ø"/>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华文中宋"/>
              </a:rPr>
              <a:t>开发者无需切换终端、无需手动编辑配置文件</a:t>
            </a:r>
            <a:endParaRPr/>
          </a:p>
          <a:p>
            <a:pPr marL="0" lvl="0" algn="l" defTabSz="914400" hangingPunct="1">
              <a:lnSpc>
                <a:spcPct val="200000"/>
              </a:lnSpc>
              <a:defRPr sz="1800">
                <a:solidFill>
                  <a:schemeClr val="tx1">
                    <a:alpha val="100000"/>
                  </a:schemeClr>
                </a:solidFill>
                <a:latin typeface="Roboto"/>
                <a:ea typeface="HarmonyOS Sans SC"/>
                <a:cs typeface="+mn-cs"/>
              </a:defRPr>
            </a:pPr>
            <a:r>
              <a:rPr lang="zh-CN" sz="1600" b="1" i="0" u="none" strike="noStrike">
                <a:solidFill>
                  <a:srgbClr val="C00000">
                    <a:alpha val="100000"/>
                  </a:srgbClr>
                </a:solidFill>
                <a:latin typeface="华文中宋"/>
                <a:ea typeface="华文中宋"/>
                <a:cs typeface="华文中宋"/>
              </a:rPr>
              <a:t>异步追踪从配置到可视化形成完整闭环</a:t>
            </a:r>
            <a:endParaRPr/>
          </a:p>
        </p:txBody>
      </p:sp>
      <p:pic>
        <p:nvPicPr>
          <p:cNvPr id="108" name="图片 107"/>
          <p:cNvPicPr>
            <a:picLocks noChangeAspect="1"/>
          </p:cNvPicPr>
          <p:nvPr/>
        </p:nvPicPr>
        <p:blipFill>
          <a:blip r:embed="rId3"/>
          <a:srcRect l="5417" t="2194" r="6251" b="3169"/>
          <a:stretch>
            <a:fillRect/>
          </a:stretch>
        </p:blipFill>
        <p:spPr>
          <a:xfrm>
            <a:off x="5621909" y="1099527"/>
            <a:ext cx="5762371" cy="52765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6"/>
          <p:cNvSpPr txBox="1"/>
          <p:nvPr/>
        </p:nvSpPr>
        <p:spPr>
          <a:xfrm>
            <a:off x="609904" y="806704"/>
            <a:ext cx="10972800" cy="508000"/>
          </a:xfrm>
          <a:prstGeom prst="rect">
            <a:avLst/>
          </a:prstGeom>
          <a:noFill/>
        </p:spPr>
        <p:txBody>
          <a:bodyPr wrap="square" lIns="45720" tIns="9144" rIns="45720"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技术实现四：面向不同操作系统的通用化改进</a:t>
            </a:r>
            <a:endParaRPr/>
          </a:p>
        </p:txBody>
      </p:sp>
      <p:sp>
        <p:nvSpPr>
          <p:cNvPr id="111" name="TextBox 14"/>
          <p:cNvSpPr txBox="1"/>
          <p:nvPr/>
        </p:nvSpPr>
        <p:spPr>
          <a:xfrm>
            <a:off x="11384280" y="6441313"/>
            <a:ext cx="457200" cy="184150"/>
          </a:xfrm>
          <a:prstGeom prst="rect">
            <a:avLst/>
          </a:prstGeom>
          <a:noFill/>
        </p:spPr>
        <p:txBody>
          <a:bodyPr wrap="square" lIns="45720" tIns="9144" rIns="45720" bIns="9144" anchor="ctr">
            <a:spAutoFit/>
          </a:bodyPr>
          <a:lstStyle/>
          <a:p>
            <a:pPr algn="r">
              <a:spcAft>
                <a:spcPts val="0"/>
              </a:spcAft>
            </a:pPr>
            <a:r>
              <a:rPr lang="zh-CN" sz="1100" b="0">
                <a:solidFill>
                  <a:srgbClr val="666666">
                    <a:alpha val="100000"/>
                  </a:srgbClr>
                </a:solidFill>
                <a:latin typeface="华文中宋"/>
                <a:ea typeface="华文中宋"/>
                <a:cs typeface="华文中宋"/>
              </a:rPr>
              <a:t>15</a:t>
            </a:r>
            <a:endParaRPr/>
          </a:p>
        </p:txBody>
      </p:sp>
      <p:sp>
        <p:nvSpPr>
          <p:cNvPr id="112" name="TextBox 15"/>
          <p:cNvSpPr txBox="1"/>
          <p:nvPr/>
        </p:nvSpPr>
        <p:spPr>
          <a:xfrm>
            <a:off x="612648" y="1415161"/>
            <a:ext cx="10972800" cy="266700"/>
          </a:xfrm>
          <a:prstGeom prst="rect">
            <a:avLst/>
          </a:prstGeom>
          <a:noFill/>
        </p:spPr>
        <p:txBody>
          <a:bodyPr wrap="square" lIns="45720" tIns="9144" rIns="45720" bIns="9144" anchor="ctr">
            <a:spAutoFit/>
          </a:bodyPr>
          <a:lstStyle/>
          <a:p>
            <a:pPr algn="l">
              <a:spcAft>
                <a:spcPts val="0"/>
              </a:spcAft>
            </a:pPr>
            <a:r>
              <a:rPr lang="zh-CN" sz="1600" b="0">
                <a:solidFill>
                  <a:srgbClr val="666666">
                    <a:alpha val="100000"/>
                  </a:srgbClr>
                </a:solidFill>
                <a:latin typeface="华文中宋"/>
                <a:ea typeface="华文中宋"/>
                <a:cs typeface="华文中宋"/>
              </a:rPr>
              <a:t>问题分析</a:t>
            </a:r>
            <a:endParaRPr/>
          </a:p>
        </p:txBody>
      </p:sp>
      <p:graphicFrame>
        <p:nvGraphicFramePr>
          <p:cNvPr id="113" name="Table 16"/>
          <p:cNvGraphicFramePr/>
          <p:nvPr/>
        </p:nvGraphicFramePr>
        <p:xfrm>
          <a:off x="481330" y="3191955"/>
          <a:ext cx="10975544" cy="2997200"/>
        </p:xfrm>
        <a:graphic>
          <a:graphicData uri="http://schemas.openxmlformats.org/drawingml/2006/table">
            <a:tbl>
              <a:tblPr firstRow="1" bandRow="1">
                <a:tableStyleId>{5C22544A-7EE6-4342-B048-85BDC9FD1C3A}</a:tableStyleId>
              </a:tblPr>
              <a:tblGrid>
                <a:gridCol w="2713458">
                  <a:extLst>
                    <a:ext uri="{9D8B030D-6E8A-4147-A177-3AD203B41FA5}">
                      <a16:colId xmlns:a16="http://schemas.microsoft.com/office/drawing/2014/main" val="1"/>
                    </a:ext>
                  </a:extLst>
                </a:gridCol>
                <a:gridCol w="3930576">
                  <a:extLst>
                    <a:ext uri="{9D8B030D-6E8A-4147-A177-3AD203B41FA5}">
                      <a16:colId xmlns:a16="http://schemas.microsoft.com/office/drawing/2014/main" val="2"/>
                    </a:ext>
                  </a:extLst>
                </a:gridCol>
                <a:gridCol w="4331510">
                  <a:extLst>
                    <a:ext uri="{9D8B030D-6E8A-4147-A177-3AD203B41FA5}">
                      <a16:colId xmlns:a16="http://schemas.microsoft.com/office/drawing/2014/main" val="3"/>
                    </a:ext>
                  </a:extLst>
                </a:gridCol>
              </a:tblGrid>
              <a:tr h="425450">
                <a:tc>
                  <a:txBody>
                    <a:bodyPr/>
                    <a:lstStyle/>
                    <a:p>
                      <a:pPr algn="ctr">
                        <a:spcAft>
                          <a:spcPts val="0"/>
                        </a:spcAft>
                      </a:pPr>
                      <a:r>
                        <a:rPr lang="zh-CN" sz="1800" b="1" dirty="0">
                          <a:solidFill>
                            <a:srgbClr val="FFFFFF"/>
                          </a:solidFill>
                          <a:latin typeface="思源宋体 CN Heavy"/>
                          <a:ea typeface="思源宋体 CN Heavy"/>
                          <a:cs typeface="思源宋体 CN Heavy"/>
                        </a:rPr>
                        <a:t>问题</a:t>
                      </a:r>
                      <a:endParaRPr lang="zh-CN" dirty="0">
                        <a:latin typeface="思源宋体 CN Heavy"/>
                        <a:ea typeface="思源宋体 CN Heavy"/>
                        <a:cs typeface="思源宋体 CN Heavy"/>
                      </a:endParaRPr>
                    </a:p>
                  </a:txBody>
                  <a:tcPr anchor="ctr">
                    <a:solidFill>
                      <a:srgbClr val="052E68"/>
                    </a:solidFill>
                  </a:tcPr>
                </a:tc>
                <a:tc>
                  <a:txBody>
                    <a:bodyPr/>
                    <a:lstStyle/>
                    <a:p>
                      <a:pPr algn="ctr">
                        <a:spcAft>
                          <a:spcPts val="0"/>
                        </a:spcAft>
                      </a:pPr>
                      <a:r>
                        <a:rPr lang="zh-CN" sz="1800" b="1">
                          <a:solidFill>
                            <a:srgbClr val="FFFFFF">
                              <a:alpha val="100000"/>
                            </a:srgbClr>
                          </a:solidFill>
                          <a:latin typeface="思源宋体 CN Heavy"/>
                          <a:ea typeface="思源宋体 CN Heavy"/>
                          <a:cs typeface="思源宋体 CN Heavy"/>
                        </a:rPr>
                        <a:t>说明</a:t>
                      </a:r>
                      <a:endParaRPr/>
                    </a:p>
                  </a:txBody>
                  <a:tcPr anchor="ctr">
                    <a:solidFill>
                      <a:srgbClr val="052E68"/>
                    </a:solidFill>
                  </a:tcPr>
                </a:tc>
                <a:tc>
                  <a:txBody>
                    <a:bodyPr/>
                    <a:lstStyle/>
                    <a:p>
                      <a:pPr algn="ctr">
                        <a:spcAft>
                          <a:spcPts val="0"/>
                        </a:spcAft>
                      </a:pPr>
                      <a:r>
                        <a:rPr lang="zh-CN" sz="1800" b="1">
                          <a:solidFill>
                            <a:srgbClr val="FFFFFF"/>
                          </a:solidFill>
                          <a:latin typeface="思源宋体 CN Heavy"/>
                          <a:ea typeface="思源宋体 CN Heavy"/>
                          <a:cs typeface="思源宋体 CN Heavy"/>
                        </a:rPr>
                        <a:t>在组件化 OS 中的限制</a:t>
                      </a:r>
                      <a:endParaRPr lang="zh-CN">
                        <a:latin typeface="思源宋体 CN Heavy"/>
                        <a:ea typeface="思源宋体 CN Heavy"/>
                        <a:cs typeface="思源宋体 CN Heavy"/>
                      </a:endParaRPr>
                    </a:p>
                  </a:txBody>
                  <a:tcPr anchor="ctr">
                    <a:solidFill>
                      <a:srgbClr val="052E68"/>
                    </a:solidFill>
                  </a:tcPr>
                </a:tc>
                <a:extLst>
                  <a:ext uri="{0D108BD9-81ED-4DB2-BD59-A6C34878D82A}">
                    <a16:rowId xmlns:a16="http://schemas.microsoft.com/office/drawing/2014/main" val="1"/>
                  </a:ext>
                </a:extLst>
              </a:tr>
              <a:tr h="857250">
                <a:tc>
                  <a:txBody>
                    <a:bodyPr/>
                    <a:lstStyle/>
                    <a:p>
                      <a:pPr algn="l">
                        <a:spcAft>
                          <a:spcPts val="0"/>
                        </a:spcAft>
                      </a:pPr>
                      <a:r>
                        <a:rPr lang="zh-CN" sz="1800" b="1">
                          <a:solidFill>
                            <a:srgbClr val="052E68">
                              <a:alpha val="100000"/>
                            </a:srgbClr>
                          </a:solidFill>
                          <a:latin typeface="思源宋体 CN Heavy"/>
                          <a:ea typeface="思源宋体 CN Heavy"/>
                          <a:cs typeface="思源宋体 CN Heavy"/>
                        </a:rPr>
                        <a:t>特殊断点依赖本地源码</a:t>
                      </a:r>
                      <a:endParaRPr lang="zh-CN">
                        <a:latin typeface="思源宋体 CN Heavy"/>
                        <a:ea typeface="思源宋体 CN Heavy"/>
                        <a:cs typeface="思源宋体 CN Heavy"/>
                      </a:endParaRPr>
                    </a:p>
                  </a:txBody>
                  <a:tcPr anchor="ctr">
                    <a:solidFill>
                      <a:srgbClr val="E9F0F8"/>
                    </a:solidFill>
                  </a:tcPr>
                </a:tc>
                <a:tc>
                  <a:txBody>
                    <a:bodyPr/>
                    <a:lstStyle/>
                    <a:p>
                      <a:pPr algn="l">
                        <a:spcAft>
                          <a:spcPts val="0"/>
                        </a:spcAft>
                      </a:pPr>
                      <a:r>
                        <a:rPr lang="zh-CN" sz="1800" b="0">
                          <a:solidFill>
                            <a:srgbClr val="555555">
                              <a:alpha val="100000"/>
                            </a:srgbClr>
                          </a:solidFill>
                          <a:latin typeface="华文中宋"/>
                          <a:ea typeface="华文中宋"/>
                          <a:cs typeface="华文中宋"/>
                        </a:rPr>
                        <a:t>调试器通过程序路径 + 行数配置特殊断点，这要求本地具有对应源代码</a:t>
                      </a:r>
                      <a:endParaRPr/>
                    </a:p>
                  </a:txBody>
                  <a:tcPr anchor="ctr">
                    <a:solidFill>
                      <a:srgbClr val="F4F6FA"/>
                    </a:solidFill>
                  </a:tcPr>
                </a:tc>
                <a:tc>
                  <a:txBody>
                    <a:bodyPr/>
                    <a:lstStyle/>
                    <a:p>
                      <a:pPr algn="l">
                        <a:spcAft>
                          <a:spcPts val="0"/>
                        </a:spcAft>
                      </a:pPr>
                      <a:r>
                        <a:rPr lang="zh-CN" sz="1800" b="0">
                          <a:solidFill>
                            <a:srgbClr val="555555">
                              <a:alpha val="100000"/>
                            </a:srgbClr>
                          </a:solidFill>
                          <a:latin typeface="华文中宋"/>
                          <a:ea typeface="华文中宋"/>
                          <a:cs typeface="华文中宋"/>
                        </a:rPr>
                        <a:t>部分特殊断点位于外部 crate，不在本地源码工作区，断点无法设置</a:t>
                      </a:r>
                      <a:endParaRPr/>
                    </a:p>
                  </a:txBody>
                  <a:tcPr anchor="ctr">
                    <a:solidFill>
                      <a:srgbClr val="F4F6FA"/>
                    </a:solidFill>
                  </a:tcPr>
                </a:tc>
                <a:extLst>
                  <a:ext uri="{0D108BD9-81ED-4DB2-BD59-A6C34878D82A}">
                    <a16:rowId xmlns:a16="http://schemas.microsoft.com/office/drawing/2014/main" val="2"/>
                  </a:ext>
                </a:extLst>
              </a:tr>
              <a:tr h="857250">
                <a:tc>
                  <a:txBody>
                    <a:bodyPr/>
                    <a:lstStyle/>
                    <a:p>
                      <a:pPr algn="l">
                        <a:spcAft>
                          <a:spcPts val="0"/>
                        </a:spcAft>
                      </a:pPr>
                      <a:r>
                        <a:rPr lang="zh-CN" sz="1800" b="1">
                          <a:solidFill>
                            <a:srgbClr val="052E68">
                              <a:alpha val="100000"/>
                            </a:srgbClr>
                          </a:solidFill>
                          <a:latin typeface="思源宋体 CN Heavy"/>
                          <a:ea typeface="思源宋体 CN Heavy"/>
                          <a:cs typeface="思源宋体 CN Heavy"/>
                        </a:rPr>
                        <a:t>硬编码解析进程名</a:t>
                      </a:r>
                      <a:endParaRPr/>
                    </a:p>
                  </a:txBody>
                  <a:tcPr anchor="ctr">
                    <a:solidFill>
                      <a:srgbClr val="E9F0F8"/>
                    </a:solidFill>
                  </a:tcPr>
                </a:tc>
                <a:tc>
                  <a:txBody>
                    <a:bodyPr/>
                    <a:lstStyle/>
                    <a:p>
                      <a:pPr algn="l">
                        <a:spcAft>
                          <a:spcPts val="0"/>
                        </a:spcAft>
                      </a:pPr>
                      <a:r>
                        <a:rPr lang="zh-CN" sz="1800" b="0">
                          <a:solidFill>
                            <a:srgbClr val="555555">
                              <a:alpha val="100000"/>
                            </a:srgbClr>
                          </a:solidFill>
                          <a:latin typeface="华文中宋"/>
                          <a:ea typeface="华文中宋"/>
                          <a:cs typeface="华文中宋"/>
                        </a:rPr>
                        <a:t>硬编码解析导致对不同</a:t>
                      </a:r>
                      <a:r>
                        <a:rPr lang="en-US" sz="1800" b="0">
                          <a:solidFill>
                            <a:srgbClr val="555555">
                              <a:alpha val="100000"/>
                            </a:srgbClr>
                          </a:solidFill>
                          <a:latin typeface="华文中宋"/>
                          <a:ea typeface="华文中宋"/>
                          <a:cs typeface="华文中宋"/>
                        </a:rPr>
                        <a:t> Rust </a:t>
                      </a:r>
                      <a:r>
                        <a:rPr lang="zh-CN" sz="1800" b="0">
                          <a:solidFill>
                            <a:srgbClr val="555555">
                              <a:alpha val="100000"/>
                            </a:srgbClr>
                          </a:solidFill>
                          <a:latin typeface="华文中宋"/>
                          <a:ea typeface="华文中宋"/>
                          <a:cs typeface="华文中宋"/>
                        </a:rPr>
                        <a:t>版本适配度极低</a:t>
                      </a:r>
                      <a:endParaRPr/>
                    </a:p>
                  </a:txBody>
                  <a:tcPr anchor="ctr">
                    <a:solidFill>
                      <a:srgbClr val="FFFFFF"/>
                    </a:solidFill>
                  </a:tcPr>
                </a:tc>
                <a:tc>
                  <a:txBody>
                    <a:bodyPr/>
                    <a:lstStyle/>
                    <a:p>
                      <a:pPr algn="l">
                        <a:spcAft>
                          <a:spcPts val="0"/>
                        </a:spcAft>
                      </a:pPr>
                      <a:r>
                        <a:rPr lang="zh-CN" sz="1800" b="0">
                          <a:solidFill>
                            <a:srgbClr val="555555">
                              <a:alpha val="100000"/>
                            </a:srgbClr>
                          </a:solidFill>
                          <a:latin typeface="华文中宋"/>
                          <a:ea typeface="华文中宋"/>
                          <a:cs typeface="华文中宋"/>
                        </a:rPr>
                        <a:t>字段布局随 Rust 版本变化，硬编码解析失效</a:t>
                      </a:r>
                      <a:endParaRPr/>
                    </a:p>
                  </a:txBody>
                  <a:tcPr anchor="ctr">
                    <a:solidFill>
                      <a:srgbClr val="FFFFFF"/>
                    </a:solidFill>
                  </a:tcPr>
                </a:tc>
                <a:extLst>
                  <a:ext uri="{0D108BD9-81ED-4DB2-BD59-A6C34878D82A}">
                    <a16:rowId xmlns:a16="http://schemas.microsoft.com/office/drawing/2014/main" val="3"/>
                  </a:ext>
                </a:extLst>
              </a:tr>
              <a:tr h="857250">
                <a:tc>
                  <a:txBody>
                    <a:bodyPr/>
                    <a:lstStyle/>
                    <a:p>
                      <a:pPr algn="l">
                        <a:spcAft>
                          <a:spcPts val="0"/>
                        </a:spcAft>
                      </a:pPr>
                      <a:r>
                        <a:rPr lang="zh-CN" sz="1800" b="1">
                          <a:solidFill>
                            <a:srgbClr val="052E68">
                              <a:alpha val="100000"/>
                            </a:srgbClr>
                          </a:solidFill>
                          <a:latin typeface="思源宋体 CN Heavy"/>
                          <a:ea typeface="思源宋体 CN Heavy"/>
                          <a:cs typeface="思源宋体 CN Heavy"/>
                        </a:rPr>
                        <a:t>进程组切换依赖提前配置</a:t>
                      </a:r>
                      <a:endParaRPr/>
                    </a:p>
                  </a:txBody>
                  <a:tcPr anchor="ctr">
                    <a:solidFill>
                      <a:srgbClr val="E9F0F8"/>
                    </a:solidFill>
                  </a:tcPr>
                </a:tc>
                <a:tc>
                  <a:txBody>
                    <a:bodyPr/>
                    <a:lstStyle/>
                    <a:p>
                      <a:pPr algn="l">
                        <a:spcAft>
                          <a:spcPts val="0"/>
                        </a:spcAft>
                      </a:pPr>
                      <a:r>
                        <a:rPr lang="zh-CN" sz="1800" b="0">
                          <a:solidFill>
                            <a:srgbClr val="555555">
                              <a:alpha val="100000"/>
                            </a:srgbClr>
                          </a:solidFill>
                          <a:latin typeface="华文中宋"/>
                          <a:ea typeface="华文中宋"/>
                          <a:cs typeface="华文中宋"/>
                        </a:rPr>
                        <a:t>要求调试开始前将所有用户进程组写入配置文件</a:t>
                      </a:r>
                      <a:endParaRPr/>
                    </a:p>
                  </a:txBody>
                  <a:tcPr anchor="ctr">
                    <a:solidFill>
                      <a:srgbClr val="F4F6FA"/>
                    </a:solidFill>
                  </a:tcPr>
                </a:tc>
                <a:tc>
                  <a:txBody>
                    <a:bodyPr/>
                    <a:lstStyle/>
                    <a:p>
                      <a:pPr algn="l">
                        <a:spcAft>
                          <a:spcPts val="0"/>
                        </a:spcAft>
                      </a:pPr>
                      <a:r>
                        <a:rPr lang="zh-CN" sz="1800" b="0">
                          <a:solidFill>
                            <a:srgbClr val="555555">
                              <a:alpha val="100000"/>
                            </a:srgbClr>
                          </a:solidFill>
                          <a:latin typeface="华文中宋"/>
                          <a:ea typeface="华文中宋"/>
                          <a:cs typeface="华文中宋"/>
                        </a:rPr>
                        <a:t>运行时启动的程序不可预知，无法提前写入配置</a:t>
                      </a:r>
                      <a:endParaRPr lang="zh-CN">
                        <a:latin typeface="华文中宋"/>
                        <a:ea typeface="华文中宋"/>
                        <a:cs typeface="华文中宋"/>
                      </a:endParaRPr>
                    </a:p>
                  </a:txBody>
                  <a:tcPr anchor="ctr">
                    <a:solidFill>
                      <a:srgbClr val="F4F6FA"/>
                    </a:solidFill>
                  </a:tcPr>
                </a:tc>
                <a:extLst>
                  <a:ext uri="{0D108BD9-81ED-4DB2-BD59-A6C34878D82A}">
                    <a16:rowId xmlns:a16="http://schemas.microsoft.com/office/drawing/2014/main" val="4"/>
                  </a:ext>
                </a:extLst>
              </a:tr>
            </a:tbl>
          </a:graphicData>
        </a:graphic>
      </p:graphicFrame>
      <p:sp>
        <p:nvSpPr>
          <p:cNvPr id="114" name="文本框 113"/>
          <p:cNvSpPr txBox="1"/>
          <p:nvPr/>
        </p:nvSpPr>
        <p:spPr>
          <a:xfrm>
            <a:off x="481330" y="1774571"/>
            <a:ext cx="11360150" cy="1187450"/>
          </a:xfrm>
          <a:prstGeom prst="rect">
            <a:avLst/>
          </a:prstGeom>
          <a:ln w="6350">
            <a:prstDash val="solid"/>
          </a:ln>
        </p:spPr>
        <p:txBody>
          <a:bodyPr wrap="square">
            <a:spAutoFit/>
          </a:bodyPr>
          <a:lstStyle/>
          <a:p>
            <a:pPr marL="285750" indent="-285750">
              <a:lnSpc>
                <a:spcPct val="150000"/>
              </a:lnSpc>
              <a:buFont typeface="Wingdings" charset="2"/>
              <a:buChar char="Ø"/>
            </a:pPr>
            <a:r>
              <a:rPr lang="zh-CN" sz="1600">
                <a:latin typeface="Microsoft YaHei"/>
                <a:ea typeface="Microsoft YaHei"/>
                <a:cs typeface="+mn-cs"/>
              </a:rPr>
              <a:t>教学</a:t>
            </a:r>
            <a:r>
              <a:rPr lang="en-US" sz="1600">
                <a:latin typeface="Microsoft YaHei"/>
                <a:ea typeface="Microsoft YaHei"/>
                <a:cs typeface="+mn-cs"/>
              </a:rPr>
              <a:t> OS </a:t>
            </a:r>
            <a:r>
              <a:rPr lang="zh-CN" sz="1600">
                <a:latin typeface="Microsoft YaHei"/>
                <a:ea typeface="Microsoft YaHei"/>
                <a:cs typeface="+mn-cs"/>
              </a:rPr>
              <a:t>的静态特征（源码同工作区、单一系统调用入口、进程提前已知）构成了调试方案的隐含前提</a:t>
            </a:r>
            <a:endParaRPr/>
          </a:p>
          <a:p>
            <a:pPr marL="285750" indent="-285750">
              <a:lnSpc>
                <a:spcPct val="150000"/>
              </a:lnSpc>
              <a:buFont typeface="Wingdings" charset="2"/>
              <a:buChar char="Ø"/>
            </a:pPr>
            <a:r>
              <a:rPr lang="zh-CN" sz="1600">
                <a:latin typeface="Microsoft YaHei"/>
                <a:ea typeface="Microsoft YaHei"/>
                <a:cs typeface="+mn-cs"/>
              </a:rPr>
              <a:t>在</a:t>
            </a:r>
            <a:r>
              <a:rPr lang="en-US" sz="1600">
                <a:latin typeface="Microsoft YaHei"/>
                <a:ea typeface="Microsoft YaHei"/>
                <a:cs typeface="+mn-cs"/>
              </a:rPr>
              <a:t> Rust </a:t>
            </a:r>
            <a:r>
              <a:rPr lang="zh-CN" sz="1600">
                <a:latin typeface="Microsoft YaHei"/>
                <a:ea typeface="Microsoft YaHei"/>
                <a:cs typeface="+mn-cs"/>
              </a:rPr>
              <a:t>操作系统领域，</a:t>
            </a:r>
            <a:r>
              <a:rPr lang="zh-CN" sz="1600" b="1">
                <a:solidFill>
                  <a:srgbClr val="C00000">
                    <a:alpha val="100000"/>
                  </a:srgbClr>
                </a:solidFill>
                <a:latin typeface="Microsoft YaHei"/>
                <a:ea typeface="Microsoft YaHei"/>
                <a:cs typeface="+mn-cs"/>
              </a:rPr>
              <a:t>组件化</a:t>
            </a:r>
            <a:r>
              <a:rPr lang="en-US" sz="1600" b="1">
                <a:solidFill>
                  <a:srgbClr val="C00000">
                    <a:alpha val="100000"/>
                  </a:srgbClr>
                </a:solidFill>
                <a:latin typeface="Microsoft YaHei"/>
                <a:ea typeface="Microsoft YaHei"/>
                <a:cs typeface="+mn-cs"/>
              </a:rPr>
              <a:t> OS </a:t>
            </a:r>
            <a:r>
              <a:rPr lang="zh-CN" sz="1600" b="0">
                <a:solidFill>
                  <a:schemeClr val="tx1">
                    <a:alpha val="100000"/>
                  </a:schemeClr>
                </a:solidFill>
                <a:latin typeface="Microsoft YaHei"/>
                <a:ea typeface="Microsoft YaHei"/>
                <a:cs typeface="+mn-cs"/>
              </a:rPr>
              <a:t>是一类重要且普遍的目标</a:t>
            </a:r>
            <a:r>
              <a:rPr lang="zh-CN" sz="1600">
                <a:latin typeface="Microsoft YaHei"/>
                <a:ea typeface="Microsoft YaHei"/>
                <a:cs typeface="+mn-cs"/>
              </a:rPr>
              <a:t>，</a:t>
            </a:r>
            <a:r>
              <a:rPr lang="zh-CN" sz="1600" b="1">
                <a:solidFill>
                  <a:srgbClr val="C00000">
                    <a:alpha val="100000"/>
                  </a:srgbClr>
                </a:solidFill>
                <a:latin typeface="Microsoft YaHei"/>
                <a:ea typeface="Microsoft YaHei"/>
                <a:cs typeface="+mn-cs"/>
              </a:rPr>
              <a:t>其灵活架构使得这些前提全部失效</a:t>
            </a:r>
            <a:endParaRPr/>
          </a:p>
          <a:p>
            <a:pPr marL="285750" indent="-285750">
              <a:lnSpc>
                <a:spcPct val="150000"/>
              </a:lnSpc>
              <a:buFont typeface="Wingdings" charset="2"/>
              <a:buChar char="Ø"/>
            </a:pPr>
            <a:r>
              <a:rPr lang="zh-CN" sz="1600">
                <a:latin typeface="Microsoft YaHei"/>
                <a:ea typeface="Microsoft YaHei"/>
                <a:cs typeface="+mn-cs"/>
              </a:rPr>
              <a:t>因此需要</a:t>
            </a:r>
            <a:r>
              <a:rPr lang="zh-CN" sz="1600" b="1">
                <a:solidFill>
                  <a:srgbClr val="C00000">
                    <a:alpha val="100000"/>
                  </a:srgbClr>
                </a:solidFill>
                <a:latin typeface="Microsoft YaHei"/>
                <a:ea typeface="Microsoft YaHei"/>
                <a:cs typeface="+mn-cs"/>
              </a:rPr>
              <a:t>拓宽调试方案的通用性</a:t>
            </a:r>
            <a:r>
              <a:rPr lang="zh-CN" sz="1600">
                <a:latin typeface="Microsoft YaHei"/>
                <a:ea typeface="Microsoft YaHei"/>
                <a:cs typeface="+mn-cs"/>
              </a:rPr>
              <a:t>，使其覆盖更多类型的操作系统</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6"/>
          <p:cNvSpPr txBox="1"/>
          <p:nvPr/>
        </p:nvSpPr>
        <p:spPr>
          <a:xfrm>
            <a:off x="609904" y="806704"/>
            <a:ext cx="10972800" cy="508000"/>
          </a:xfrm>
          <a:prstGeom prst="rect">
            <a:avLst/>
          </a:prstGeom>
          <a:noFill/>
        </p:spPr>
        <p:txBody>
          <a:bodyPr wrap="square" lIns="45720" tIns="9144" rIns="45720" bIns="9144"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技术实现四：面向不同操作系统的通用化改进</a:t>
            </a:r>
            <a:endParaRPr/>
          </a:p>
        </p:txBody>
      </p:sp>
      <p:sp>
        <p:nvSpPr>
          <p:cNvPr id="117" name="TextBox 14"/>
          <p:cNvSpPr txBox="1"/>
          <p:nvPr/>
        </p:nvSpPr>
        <p:spPr>
          <a:xfrm>
            <a:off x="11384280" y="6441313"/>
            <a:ext cx="457200" cy="184150"/>
          </a:xfrm>
          <a:prstGeom prst="rect">
            <a:avLst/>
          </a:prstGeom>
          <a:noFill/>
        </p:spPr>
        <p:txBody>
          <a:bodyPr wrap="square" lIns="45720" tIns="9144" rIns="45720" bIns="9144" anchor="ctr">
            <a:spAutoFit/>
          </a:bodyPr>
          <a:lstStyle/>
          <a:p>
            <a:pPr algn="r">
              <a:spcAft>
                <a:spcPts val="0"/>
              </a:spcAft>
            </a:pPr>
            <a:r>
              <a:rPr lang="zh-CN" sz="1100" b="0">
                <a:solidFill>
                  <a:srgbClr val="666666">
                    <a:alpha val="100000"/>
                  </a:srgbClr>
                </a:solidFill>
                <a:latin typeface="华文中宋"/>
                <a:ea typeface="华文中宋"/>
                <a:cs typeface="华文中宋"/>
              </a:rPr>
              <a:t>16</a:t>
            </a:r>
            <a:endParaRPr/>
          </a:p>
        </p:txBody>
      </p:sp>
      <p:sp>
        <p:nvSpPr>
          <p:cNvPr id="118" name="TextBox 15"/>
          <p:cNvSpPr txBox="1"/>
          <p:nvPr/>
        </p:nvSpPr>
        <p:spPr>
          <a:xfrm>
            <a:off x="612648" y="1418336"/>
            <a:ext cx="10972800" cy="260350"/>
          </a:xfrm>
          <a:prstGeom prst="rect">
            <a:avLst/>
          </a:prstGeom>
          <a:noFill/>
        </p:spPr>
        <p:txBody>
          <a:bodyPr wrap="square" lIns="45720" tIns="9144" rIns="45720" bIns="9144" anchor="ctr">
            <a:spAutoFit/>
          </a:bodyPr>
          <a:lstStyle/>
          <a:p>
            <a:pPr algn="l">
              <a:spcAft>
                <a:spcPts val="0"/>
              </a:spcAft>
            </a:pPr>
            <a:r>
              <a:rPr lang="zh-CN" sz="1600" b="0">
                <a:solidFill>
                  <a:srgbClr val="666666">
                    <a:alpha val="100000"/>
                  </a:srgbClr>
                </a:solidFill>
                <a:latin typeface="华文中宋"/>
                <a:ea typeface="华文中宋"/>
                <a:cs typeface="华文中宋"/>
              </a:rPr>
              <a:t>改进方案</a:t>
            </a:r>
            <a:endParaRPr/>
          </a:p>
        </p:txBody>
      </p:sp>
      <p:sp>
        <p:nvSpPr>
          <p:cNvPr id="119" name="文本框 118"/>
          <p:cNvSpPr txBox="1"/>
          <p:nvPr/>
        </p:nvSpPr>
        <p:spPr>
          <a:xfrm>
            <a:off x="609904" y="1882415"/>
            <a:ext cx="7092950" cy="368300"/>
          </a:xfrm>
          <a:prstGeom prst="rect">
            <a:avLst/>
          </a:prstGeom>
          <a:ln w="6350">
            <a:prstDash val="solid"/>
          </a:ln>
        </p:spPr>
        <p:txBody>
          <a:bodyPr wrap="none">
            <a:spAutoFit/>
          </a:bodyPr>
          <a:lstStyle/>
          <a:p>
            <a:pPr marL="285750" indent="-285750">
              <a:buFont typeface="Wingdings" charset="2"/>
              <a:buChar char="Ø"/>
            </a:pPr>
            <a:r>
              <a:rPr lang="zh-CN" b="1">
                <a:latin typeface="Microsoft YaHei"/>
                <a:ea typeface="Microsoft YaHei"/>
                <a:cs typeface="+mn-cs"/>
              </a:rPr>
              <a:t>改进一：用函数名指定特殊断点，摆脱对本地源码文件路径的依赖</a:t>
            </a:r>
            <a:endParaRPr/>
          </a:p>
        </p:txBody>
      </p:sp>
      <p:sp>
        <p:nvSpPr>
          <p:cNvPr id="120" name="TextBox 15"/>
          <p:cNvSpPr txBox="1"/>
          <p:nvPr/>
        </p:nvSpPr>
        <p:spPr>
          <a:xfrm>
            <a:off x="783349" y="2317819"/>
            <a:ext cx="10972800" cy="260350"/>
          </a:xfrm>
          <a:prstGeom prst="rect">
            <a:avLst/>
          </a:prstGeom>
          <a:noFill/>
        </p:spPr>
        <p:txBody>
          <a:bodyPr wrap="square" lIns="45720" tIns="9144" rIns="45720" bIns="9144" anchor="ctr">
            <a:spAutoFit/>
          </a:bodyPr>
          <a:lstStyle/>
          <a:p>
            <a:pPr algn="l">
              <a:spcAft>
                <a:spcPts val="0"/>
              </a:spcAft>
            </a:pPr>
            <a:r>
              <a:rPr lang="en-US" sz="1600" b="0">
                <a:solidFill>
                  <a:srgbClr val="666666">
                    <a:alpha val="100000"/>
                  </a:srgbClr>
                </a:solidFill>
                <a:latin typeface="华文中宋"/>
                <a:ea typeface="华文中宋"/>
                <a:cs typeface="华文中宋"/>
              </a:rPr>
              <a:t>GDB </a:t>
            </a:r>
            <a:r>
              <a:rPr lang="zh-CN" sz="1600" b="0">
                <a:solidFill>
                  <a:srgbClr val="666666">
                    <a:alpha val="100000"/>
                  </a:srgbClr>
                </a:solidFill>
                <a:latin typeface="华文中宋"/>
                <a:ea typeface="华文中宋"/>
                <a:cs typeface="华文中宋"/>
              </a:rPr>
              <a:t>本身具备通过符号表查找函数地址的能力，实现用函数名指定特殊断点，只要目标函数被链接到了</a:t>
            </a:r>
            <a:r>
              <a:rPr lang="en-US" sz="1600" b="0">
                <a:solidFill>
                  <a:srgbClr val="666666">
                    <a:alpha val="100000"/>
                  </a:srgbClr>
                </a:solidFill>
                <a:latin typeface="华文中宋"/>
                <a:ea typeface="华文中宋"/>
                <a:cs typeface="华文中宋"/>
              </a:rPr>
              <a:t> ELF </a:t>
            </a:r>
            <a:r>
              <a:rPr lang="zh-CN" sz="1600" b="0">
                <a:solidFill>
                  <a:srgbClr val="666666">
                    <a:alpha val="100000"/>
                  </a:srgbClr>
                </a:solidFill>
                <a:latin typeface="华文中宋"/>
                <a:ea typeface="华文中宋"/>
                <a:cs typeface="华文中宋"/>
              </a:rPr>
              <a:t>中就能定位</a:t>
            </a:r>
            <a:endParaRPr/>
          </a:p>
        </p:txBody>
      </p:sp>
      <p:sp>
        <p:nvSpPr>
          <p:cNvPr id="121" name="文本框 120"/>
          <p:cNvSpPr txBox="1"/>
          <p:nvPr/>
        </p:nvSpPr>
        <p:spPr>
          <a:xfrm>
            <a:off x="612648" y="2841625"/>
            <a:ext cx="8197850" cy="368300"/>
          </a:xfrm>
          <a:prstGeom prst="rect">
            <a:avLst/>
          </a:prstGeom>
          <a:ln w="6350">
            <a:prstDash val="solid"/>
          </a:ln>
        </p:spPr>
        <p:txBody>
          <a:bodyPr wrap="none">
            <a:spAutoFit/>
          </a:bodyPr>
          <a:lstStyle/>
          <a:p>
            <a:pPr marL="285750" indent="-285750">
              <a:buFont typeface="Wingdings" charset="2"/>
              <a:buChar char="Ø"/>
            </a:pPr>
            <a:r>
              <a:rPr lang="zh-CN" b="1">
                <a:latin typeface="Microsoft YaHei"/>
                <a:ea typeface="Microsoft YaHei"/>
                <a:cs typeface="+mn-cs"/>
              </a:rPr>
              <a:t>改进二：放弃硬编码解析字段路径，改为依赖</a:t>
            </a:r>
            <a:r>
              <a:rPr lang="en-US" b="1">
                <a:latin typeface="Microsoft YaHei"/>
                <a:ea typeface="Microsoft YaHei"/>
                <a:cs typeface="+mn-cs"/>
              </a:rPr>
              <a:t> GDB </a:t>
            </a:r>
            <a:r>
              <a:rPr lang="zh-CN" b="1">
                <a:latin typeface="Microsoft YaHei"/>
                <a:ea typeface="Microsoft YaHei"/>
                <a:cs typeface="+mn-cs"/>
              </a:rPr>
              <a:t>提供的稳定接口读取变量</a:t>
            </a:r>
            <a:endParaRPr/>
          </a:p>
        </p:txBody>
      </p:sp>
      <p:sp>
        <p:nvSpPr>
          <p:cNvPr id="122" name="TextBox 15"/>
          <p:cNvSpPr txBox="1"/>
          <p:nvPr/>
        </p:nvSpPr>
        <p:spPr>
          <a:xfrm>
            <a:off x="783349" y="3217302"/>
            <a:ext cx="10972800" cy="2235200"/>
          </a:xfrm>
          <a:prstGeom prst="rect">
            <a:avLst/>
          </a:prstGeom>
          <a:noFill/>
        </p:spPr>
        <p:txBody>
          <a:bodyPr wrap="square" lIns="45720" tIns="9144" rIns="45720" bIns="9144" anchor="ctr">
            <a:spAutoFit/>
          </a:bodyPr>
          <a:lstStyle/>
          <a:p>
            <a:pPr algn="l">
              <a:lnSpc>
                <a:spcPct val="130000"/>
              </a:lnSpc>
              <a:spcAft>
                <a:spcPts val="0"/>
              </a:spcAft>
            </a:pPr>
            <a:r>
              <a:rPr lang="zh-CN" sz="1600" b="0">
                <a:solidFill>
                  <a:srgbClr val="666666">
                    <a:alpha val="100000"/>
                  </a:srgbClr>
                </a:solidFill>
                <a:latin typeface="华文中宋"/>
                <a:ea typeface="华文中宋"/>
                <a:cs typeface="华文中宋"/>
              </a:rPr>
              <a:t>具体方案分三步：</a:t>
            </a:r>
            <a:endParaRPr/>
          </a:p>
          <a:p>
            <a:pPr marL="342900" indent="-342900" algn="l">
              <a:lnSpc>
                <a:spcPct val="130000"/>
              </a:lnSpc>
              <a:spcAft>
                <a:spcPts val="0"/>
              </a:spcAft>
              <a:buAutoNum type="arabicPeriod"/>
            </a:pPr>
            <a:r>
              <a:rPr lang="zh-CN" sz="1600" b="1">
                <a:solidFill>
                  <a:srgbClr val="666666">
                    <a:alpha val="100000"/>
                  </a:srgbClr>
                </a:solidFill>
                <a:latin typeface="华文中宋"/>
                <a:ea typeface="华文中宋"/>
                <a:cs typeface="华文中宋"/>
              </a:rPr>
              <a:t>通过</a:t>
            </a:r>
            <a:r>
              <a:rPr lang="en-US" sz="1600" b="1">
                <a:solidFill>
                  <a:srgbClr val="666666">
                    <a:alpha val="100000"/>
                  </a:srgbClr>
                </a:solidFill>
                <a:latin typeface="华文中宋"/>
                <a:ea typeface="华文中宋"/>
                <a:cs typeface="华文中宋"/>
              </a:rPr>
              <a:t> GDB </a:t>
            </a:r>
            <a:r>
              <a:rPr lang="zh-CN" sz="1600" b="1">
                <a:solidFill>
                  <a:srgbClr val="666666">
                    <a:alpha val="100000"/>
                  </a:srgbClr>
                </a:solidFill>
                <a:latin typeface="华文中宋"/>
                <a:ea typeface="华文中宋"/>
                <a:cs typeface="华文中宋"/>
              </a:rPr>
              <a:t>的</a:t>
            </a:r>
            <a:r>
              <a:rPr lang="en-US" sz="1600" b="1">
                <a:solidFill>
                  <a:srgbClr val="666666">
                    <a:alpha val="100000"/>
                  </a:srgbClr>
                </a:solidFill>
                <a:latin typeface="华文中宋"/>
                <a:ea typeface="华文中宋"/>
                <a:cs typeface="华文中宋"/>
              </a:rPr>
              <a:t> p &lt; </a:t>
            </a:r>
            <a:r>
              <a:rPr lang="zh-CN" sz="1600" b="1">
                <a:solidFill>
                  <a:srgbClr val="666666">
                    <a:alpha val="100000"/>
                  </a:srgbClr>
                </a:solidFill>
                <a:latin typeface="华文中宋"/>
                <a:ea typeface="华文中宋"/>
                <a:cs typeface="华文中宋"/>
              </a:rPr>
              <a:t>变量名</a:t>
            </a:r>
            <a:r>
              <a:rPr lang="en-US" sz="1600" b="1">
                <a:solidFill>
                  <a:srgbClr val="666666">
                    <a:alpha val="100000"/>
                  </a:srgbClr>
                </a:solidFill>
                <a:latin typeface="华文中宋"/>
                <a:ea typeface="华文中宋"/>
                <a:cs typeface="华文中宋"/>
              </a:rPr>
              <a:t> &gt; </a:t>
            </a:r>
            <a:r>
              <a:rPr lang="zh-CN" sz="1600" b="1">
                <a:solidFill>
                  <a:srgbClr val="666666">
                    <a:alpha val="100000"/>
                  </a:srgbClr>
                </a:solidFill>
                <a:latin typeface="华文中宋"/>
                <a:ea typeface="华文中宋"/>
                <a:cs typeface="华文中宋"/>
              </a:rPr>
              <a:t>获取格式化的变量输出</a:t>
            </a:r>
            <a:endParaRPr/>
          </a:p>
          <a:p>
            <a:pPr marL="342900" indent="-342900" algn="l">
              <a:lnSpc>
                <a:spcPct val="130000"/>
              </a:lnSpc>
              <a:spcAft>
                <a:spcPts val="0"/>
              </a:spcAft>
              <a:buAutoNum type="arabicPeriod"/>
            </a:pPr>
            <a:r>
              <a:rPr lang="zh-CN" sz="1600" b="1">
                <a:solidFill>
                  <a:srgbClr val="666666">
                    <a:alpha val="100000"/>
                  </a:srgbClr>
                </a:solidFill>
                <a:latin typeface="华文中宋"/>
                <a:ea typeface="华文中宋"/>
                <a:cs typeface="华文中宋"/>
              </a:rPr>
              <a:t>在传输协议层自建控制台输出捕获机制：
</a:t>
            </a:r>
            <a:r>
              <a:rPr lang="en-US" sz="1600" b="0">
                <a:solidFill>
                  <a:srgbClr val="666666">
                    <a:alpha val="100000"/>
                  </a:srgbClr>
                </a:solidFill>
                <a:latin typeface="华文中宋"/>
                <a:ea typeface="华文中宋"/>
                <a:cs typeface="华文中宋"/>
              </a:rPr>
              <a:t>GDB</a:t>
            </a:r>
            <a:r>
              <a:rPr lang="zh-CN" sz="1600" b="0">
                <a:solidFill>
                  <a:srgbClr val="666666">
                    <a:alpha val="100000"/>
                  </a:srgbClr>
                </a:solidFill>
                <a:latin typeface="华文中宋"/>
                <a:ea typeface="华文中宋"/>
                <a:cs typeface="华文中宋"/>
              </a:rPr>
              <a:t>虽然未提供直接获取命令结果的接口，且无法直接判断控制台某行输出属于哪条命令；
但是</a:t>
            </a:r>
            <a:r>
              <a:rPr lang="en-US" sz="1600" b="0">
                <a:solidFill>
                  <a:srgbClr val="666666">
                    <a:alpha val="100000"/>
                  </a:srgbClr>
                </a:solidFill>
                <a:latin typeface="华文中宋"/>
                <a:ea typeface="华文中宋"/>
                <a:cs typeface="华文中宋"/>
              </a:rPr>
              <a:t> GDB </a:t>
            </a:r>
            <a:r>
              <a:rPr lang="zh-CN" sz="1600" b="0">
                <a:solidFill>
                  <a:srgbClr val="666666">
                    <a:alpha val="100000"/>
                  </a:srgbClr>
                </a:solidFill>
                <a:latin typeface="华文中宋"/>
                <a:ea typeface="华文中宋"/>
                <a:cs typeface="华文中宋"/>
              </a:rPr>
              <a:t>的每一条命令结果输出后都会有以</a:t>
            </a:r>
            <a:r>
              <a:rPr lang="en-US" sz="1600" b="0">
                <a:solidFill>
                  <a:srgbClr val="666666">
                    <a:alpha val="100000"/>
                  </a:srgbClr>
                </a:solidFill>
                <a:latin typeface="华文中宋"/>
                <a:ea typeface="华文中宋"/>
                <a:cs typeface="华文中宋"/>
              </a:rPr>
              <a:t> ^done </a:t>
            </a:r>
            <a:r>
              <a:rPr lang="zh-CN" sz="1600" b="0">
                <a:solidFill>
                  <a:srgbClr val="666666">
                    <a:alpha val="100000"/>
                  </a:srgbClr>
                </a:solidFill>
                <a:latin typeface="华文中宋"/>
                <a:ea typeface="华文中宋"/>
                <a:cs typeface="华文中宋"/>
              </a:rPr>
              <a:t>或</a:t>
            </a:r>
            <a:r>
              <a:rPr lang="en-US" sz="1600" b="0">
                <a:solidFill>
                  <a:srgbClr val="666666">
                    <a:alpha val="100000"/>
                  </a:srgbClr>
                </a:solidFill>
                <a:latin typeface="华文中宋"/>
                <a:ea typeface="华文中宋"/>
                <a:cs typeface="华文中宋"/>
              </a:rPr>
              <a:t> ^error </a:t>
            </a:r>
            <a:r>
              <a:rPr lang="zh-CN" sz="1600" b="0">
                <a:solidFill>
                  <a:srgbClr val="666666">
                    <a:alpha val="100000"/>
                  </a:srgbClr>
                </a:solidFill>
                <a:latin typeface="华文中宋"/>
                <a:ea typeface="华文中宋"/>
                <a:cs typeface="华文中宋"/>
              </a:rPr>
              <a:t>开头的响应，标志着该命令的处理结束；
</a:t>
            </a:r>
            <a:r>
              <a:rPr lang="zh-CN" sz="1600" b="1">
                <a:solidFill>
                  <a:srgbClr val="C00000">
                    <a:alpha val="100000"/>
                  </a:srgbClr>
                </a:solidFill>
                <a:latin typeface="华文中宋"/>
                <a:ea typeface="华文中宋"/>
                <a:cs typeface="华文中宋"/>
              </a:rPr>
              <a:t>我们基于这一观察，实现了控制台输出捕获机制</a:t>
            </a:r>
            <a:endParaRPr/>
          </a:p>
          <a:p>
            <a:pPr marL="342900" indent="-342900" algn="l">
              <a:lnSpc>
                <a:spcPct val="130000"/>
              </a:lnSpc>
              <a:spcAft>
                <a:spcPts val="0"/>
              </a:spcAft>
              <a:buAutoNum type="arabicPeriod"/>
            </a:pPr>
            <a:r>
              <a:rPr lang="zh-CN" sz="1600" b="1">
                <a:solidFill>
                  <a:srgbClr val="666666">
                    <a:alpha val="100000"/>
                  </a:srgbClr>
                </a:solidFill>
                <a:latin typeface="华文中宋"/>
                <a:ea typeface="华文中宋"/>
                <a:cs typeface="华文中宋"/>
              </a:rPr>
              <a:t>从输出中提取地址和长度，直接读取目标内存</a:t>
            </a:r>
            <a:endParaRPr/>
          </a:p>
        </p:txBody>
      </p:sp>
      <p:sp>
        <p:nvSpPr>
          <p:cNvPr id="123" name="文本框 122"/>
          <p:cNvSpPr txBox="1"/>
          <p:nvPr/>
        </p:nvSpPr>
        <p:spPr>
          <a:xfrm>
            <a:off x="612648" y="5628264"/>
            <a:ext cx="6178550" cy="368300"/>
          </a:xfrm>
          <a:prstGeom prst="rect">
            <a:avLst/>
          </a:prstGeom>
          <a:ln w="6350">
            <a:prstDash val="solid"/>
          </a:ln>
        </p:spPr>
        <p:txBody>
          <a:bodyPr wrap="none">
            <a:spAutoFit/>
          </a:bodyPr>
          <a:lstStyle/>
          <a:p>
            <a:pPr marL="285750" indent="-285750">
              <a:buFont typeface="Wingdings" charset="2"/>
              <a:buChar char="Ø"/>
            </a:pPr>
            <a:r>
              <a:rPr lang="zh-CN" b="1">
                <a:latin typeface="Microsoft YaHei"/>
                <a:ea typeface="Microsoft YaHei"/>
                <a:cs typeface="+mn-cs"/>
              </a:rPr>
              <a:t>改进三：进程组管理从静态预配置到运行时动态自动注入</a:t>
            </a:r>
            <a:endParaRPr/>
          </a:p>
        </p:txBody>
      </p:sp>
      <p:sp>
        <p:nvSpPr>
          <p:cNvPr id="124" name="TextBox 15"/>
          <p:cNvSpPr txBox="1"/>
          <p:nvPr/>
        </p:nvSpPr>
        <p:spPr>
          <a:xfrm>
            <a:off x="783349" y="6158738"/>
            <a:ext cx="10972800" cy="260350"/>
          </a:xfrm>
          <a:prstGeom prst="rect">
            <a:avLst/>
          </a:prstGeom>
          <a:noFill/>
        </p:spPr>
        <p:txBody>
          <a:bodyPr wrap="square" lIns="45720" tIns="9144" rIns="45720" bIns="9144" anchor="ctr">
            <a:spAutoFit/>
          </a:bodyPr>
          <a:lstStyle/>
          <a:p>
            <a:pPr algn="l">
              <a:spcAft>
                <a:spcPts val="0"/>
              </a:spcAft>
            </a:pPr>
            <a:r>
              <a:rPr lang="zh-CN" sz="1600" b="0">
                <a:solidFill>
                  <a:srgbClr val="666666">
                    <a:alpha val="100000"/>
                  </a:srgbClr>
                </a:solidFill>
                <a:latin typeface="华文中宋"/>
                <a:ea typeface="华文中宋"/>
                <a:cs typeface="华文中宋"/>
              </a:rPr>
              <a:t>针对动态创建的进程组实现各类断点的自动注入</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测试验证：</a:t>
            </a:r>
            <a:r>
              <a:rPr lang="zh-CN" sz="2400" b="1">
                <a:solidFill>
                  <a:srgbClr val="052E68">
                    <a:alpha val="100000"/>
                  </a:srgbClr>
                </a:solidFill>
                <a:latin typeface="思源宋体 CN Heavy"/>
                <a:ea typeface="思源宋体 CN Heavy"/>
                <a:cs typeface="+mn-cs"/>
              </a:rPr>
              <a:t>状态机单元测试与集成测试</a:t>
            </a:r>
            <a:endParaRPr/>
          </a:p>
        </p:txBody>
      </p:sp>
      <p:sp>
        <p:nvSpPr>
          <p:cNvPr id="127" name="TextBox 7"/>
          <p:cNvSpPr txBox="1"/>
          <p:nvPr/>
        </p:nvSpPr>
        <p:spPr>
          <a:xfrm>
            <a:off x="609904" y="1378000"/>
            <a:ext cx="10972800" cy="419100"/>
          </a:xfrm>
          <a:prstGeom prst="rect">
            <a:avLst/>
          </a:prstGeom>
          <a:noFill/>
        </p:spPr>
        <p:txBody>
          <a:bodyPr wrap="square">
            <a:spAutoFit/>
          </a:bodyPr>
          <a:lstStyle/>
          <a:p>
            <a:pPr algn="l">
              <a:lnSpc>
                <a:spcPct val="135000"/>
              </a:lnSpc>
              <a:spcAft>
                <a:spcPts val="200"/>
              </a:spcAft>
            </a:pPr>
            <a:r>
              <a:rPr lang="zh-CN" sz="1600" b="0">
                <a:solidFill>
                  <a:srgbClr val="666666">
                    <a:alpha val="100000"/>
                  </a:srgbClr>
                </a:solidFill>
                <a:latin typeface="华文中宋"/>
                <a:ea typeface="华文中宋"/>
                <a:cs typeface="+mn-cs"/>
              </a:rPr>
              <a:t>通过自动化测试验证调试器状态机核心逻辑和完整调试流程的正确性</a:t>
            </a:r>
            <a:endParaRPr/>
          </a:p>
        </p:txBody>
      </p:sp>
      <p:sp>
        <p:nvSpPr>
          <p:cNvPr id="128" name="Rectangle 8"/>
          <p:cNvSpPr/>
          <p:nvPr/>
        </p:nvSpPr>
        <p:spPr>
          <a:xfrm>
            <a:off x="609904" y="1871522"/>
            <a:ext cx="10735056" cy="454756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1"/>
          <p:cNvSpPr txBox="1"/>
          <p:nvPr/>
        </p:nvSpPr>
        <p:spPr>
          <a:xfrm>
            <a:off x="11384280" y="6419088"/>
            <a:ext cx="457200" cy="228600"/>
          </a:xfrm>
          <a:prstGeom prst="rect">
            <a:avLst/>
          </a:prstGeom>
          <a:noFill/>
        </p:spPr>
        <p:txBody>
          <a:bodyPr wrap="square" lIns="109728" tIns="54864" rIns="109728" bIns="36576" anchor="ctr">
            <a:spAutoFit/>
          </a:bodyPr>
          <a:lstStyle/>
          <a:p>
            <a:pPr algn="r">
              <a:spcAft>
                <a:spcPts val="0"/>
              </a:spcAft>
            </a:pPr>
            <a:r>
              <a:rPr sz="1100" b="0">
                <a:solidFill>
                  <a:srgbClr val="666666"/>
                </a:solidFill>
                <a:latin typeface="华文中宋"/>
              </a:rPr>
              <a:t>17</a:t>
            </a:r>
            <a:endParaRPr/>
          </a:p>
        </p:txBody>
      </p:sp>
      <p:sp>
        <p:nvSpPr>
          <p:cNvPr id="130" name="文本框 129"/>
          <p:cNvSpPr txBox="1"/>
          <p:nvPr/>
        </p:nvSpPr>
        <p:spPr>
          <a:xfrm>
            <a:off x="778560" y="1912974"/>
            <a:ext cx="10566400" cy="4159250"/>
          </a:xfrm>
          <a:prstGeom prst="rect">
            <a:avLst/>
          </a:prstGeom>
          <a:ln w="12700">
            <a:prstDash val="solid"/>
          </a:ln>
        </p:spPr>
        <p:txBody>
          <a:bodyPr wrap="square">
            <a:spAutoFit/>
          </a:bodyPr>
          <a:lstStyle/>
          <a:p>
            <a:pPr marL="0" lvl="0" algn="l" defTabSz="914400" hangingPunct="1">
              <a:lnSpc>
                <a:spcPct val="150000"/>
              </a:lnSpc>
              <a:defRPr sz="1800">
                <a:solidFill>
                  <a:schemeClr val="tx1">
                    <a:alpha val="100000"/>
                  </a:schemeClr>
                </a:solidFill>
                <a:latin typeface="Roboto"/>
                <a:ea typeface="HarmonyOS Sans SC"/>
                <a:cs typeface="+mn-cs"/>
              </a:defRPr>
            </a:pPr>
            <a:r>
              <a:rPr lang="zh-CN" sz="1800">
                <a:solidFill>
                  <a:schemeClr val="tx1">
                    <a:alpha val="100000"/>
                  </a:schemeClr>
                </a:solidFill>
                <a:latin typeface="Microsoft YaHei"/>
                <a:ea typeface="Microsoft YaHei"/>
                <a:cs typeface="+mn-cs"/>
              </a:rPr>
              <a:t>通过</a:t>
            </a:r>
            <a:r>
              <a:rPr lang="en-US" sz="1800" b="1">
                <a:solidFill>
                  <a:srgbClr val="C00000">
                    <a:alpha val="100000"/>
                  </a:srgbClr>
                </a:solidFill>
                <a:latin typeface="Microsoft YaHei"/>
                <a:ea typeface="Microsoft YaHei"/>
                <a:cs typeface="+mn-cs"/>
              </a:rPr>
              <a:t>37</a:t>
            </a:r>
            <a:r>
              <a:rPr lang="zh-CN" sz="1800" b="1">
                <a:solidFill>
                  <a:srgbClr val="C00000">
                    <a:alpha val="100000"/>
                  </a:srgbClr>
                </a:solidFill>
                <a:latin typeface="Microsoft YaHei"/>
                <a:ea typeface="Microsoft YaHei"/>
                <a:cs typeface="+mn-cs"/>
              </a:rPr>
              <a:t>个</a:t>
            </a:r>
            <a:r>
              <a:rPr lang="en-US" sz="1800" b="1">
                <a:solidFill>
                  <a:srgbClr val="C00000">
                    <a:alpha val="100000"/>
                  </a:srgbClr>
                </a:solidFill>
                <a:latin typeface="Microsoft YaHei"/>
                <a:ea typeface="Microsoft YaHei"/>
                <a:cs typeface="+mn-cs"/>
              </a:rPr>
              <a:t>OSStateMachine </a:t>
            </a:r>
            <a:r>
              <a:rPr lang="zh-CN" sz="1800" b="1">
                <a:solidFill>
                  <a:srgbClr val="C00000">
                    <a:alpha val="100000"/>
                  </a:srgbClr>
                </a:solidFill>
                <a:latin typeface="Microsoft YaHei"/>
                <a:ea typeface="Microsoft YaHei"/>
                <a:cs typeface="+mn-cs"/>
              </a:rPr>
              <a:t>单元测试</a:t>
            </a:r>
            <a:r>
              <a:rPr lang="zh-CN" sz="1800">
                <a:solidFill>
                  <a:schemeClr val="tx1">
                    <a:alpha val="100000"/>
                  </a:schemeClr>
                </a:solidFill>
                <a:latin typeface="Microsoft YaHei"/>
                <a:ea typeface="Microsoft YaHei"/>
                <a:cs typeface="+mn-cs"/>
              </a:rPr>
              <a:t>与</a:t>
            </a:r>
            <a:r>
              <a:rPr lang="en-US" sz="1800" b="1">
                <a:solidFill>
                  <a:srgbClr val="C00000">
                    <a:alpha val="100000"/>
                  </a:srgbClr>
                </a:solidFill>
                <a:latin typeface="Microsoft YaHei"/>
                <a:ea typeface="Microsoft YaHei"/>
                <a:cs typeface="+mn-cs"/>
              </a:rPr>
              <a:t>4</a:t>
            </a:r>
            <a:r>
              <a:rPr lang="zh-CN" sz="1800" b="1">
                <a:solidFill>
                  <a:srgbClr val="C00000">
                    <a:alpha val="100000"/>
                  </a:srgbClr>
                </a:solidFill>
                <a:latin typeface="Microsoft YaHei"/>
                <a:ea typeface="Microsoft YaHei"/>
                <a:cs typeface="+mn-cs"/>
              </a:rPr>
              <a:t>个</a:t>
            </a:r>
            <a:r>
              <a:rPr lang="en-US" sz="1800" b="1">
                <a:solidFill>
                  <a:srgbClr val="C00000">
                    <a:alpha val="100000"/>
                  </a:srgbClr>
                </a:solidFill>
                <a:latin typeface="Microsoft YaHei"/>
                <a:ea typeface="Microsoft YaHei"/>
                <a:cs typeface="+mn-cs"/>
              </a:rPr>
              <a:t>MockMI2 </a:t>
            </a:r>
            <a:r>
              <a:rPr lang="zh-CN" sz="1800" b="1">
                <a:solidFill>
                  <a:srgbClr val="C00000">
                    <a:alpha val="100000"/>
                  </a:srgbClr>
                </a:solidFill>
                <a:latin typeface="Microsoft YaHei"/>
                <a:ea typeface="Microsoft YaHei"/>
                <a:cs typeface="+mn-cs"/>
              </a:rPr>
              <a:t>集成测试</a:t>
            </a:r>
            <a:r>
              <a:rPr lang="zh-CN" sz="1800">
                <a:solidFill>
                  <a:schemeClr val="tx1">
                    <a:alpha val="100000"/>
                  </a:schemeClr>
                </a:solidFill>
                <a:latin typeface="Microsoft YaHei"/>
                <a:ea typeface="Microsoft YaHei"/>
                <a:cs typeface="+mn-cs"/>
              </a:rPr>
              <a:t>快速检验调试器跨特权级调试能力</a:t>
            </a:r>
            <a:endParaRPr sz="1800">
              <a:solidFill>
                <a:schemeClr val="tx1">
                  <a:alpha val="100000"/>
                </a:schemeClr>
              </a:solidFill>
              <a:latin typeface="Roboto"/>
              <a:ea typeface="HarmonyOS Sans SC"/>
              <a:cs typeface="+mn-cs"/>
            </a:endParaRPr>
          </a:p>
          <a:p>
            <a:pPr marL="285750" lvl="0" indent="-285750" algn="l" defTabSz="914400" hangingPunct="1">
              <a:lnSpc>
                <a:spcPct val="150000"/>
              </a:lnSpc>
              <a:buFont typeface="Wingdings" charset="2"/>
              <a:buChar char="Ø"/>
              <a:defRPr sz="1800">
                <a:solidFill>
                  <a:schemeClr val="tx1">
                    <a:alpha val="100000"/>
                  </a:schemeClr>
                </a:solidFill>
                <a:latin typeface="Roboto"/>
                <a:ea typeface="HarmonyOS Sans SC"/>
                <a:cs typeface="+mn-cs"/>
              </a:defRPr>
            </a:pPr>
            <a:r>
              <a:rPr lang="zh-CN" sz="1600" b="1">
                <a:solidFill>
                  <a:schemeClr val="tx1">
                    <a:alpha val="100000"/>
                  </a:schemeClr>
                </a:solidFill>
                <a:latin typeface="Microsoft YaHei"/>
                <a:ea typeface="Microsoft YaHei"/>
                <a:cs typeface="+mn-cs"/>
              </a:rPr>
              <a:t>单元测试覆盖</a:t>
            </a:r>
            <a:r>
              <a:rPr lang="en-US" sz="1600" b="1">
                <a:solidFill>
                  <a:schemeClr val="tx1">
                    <a:alpha val="100000"/>
                  </a:schemeClr>
                </a:solidFill>
                <a:latin typeface="Microsoft YaHei"/>
                <a:ea typeface="Microsoft YaHei"/>
                <a:cs typeface="+mn-cs"/>
              </a:rPr>
              <a:t> </a:t>
            </a:r>
            <a:r>
              <a:rPr lang="zh-CN" sz="1600" b="1">
                <a:solidFill>
                  <a:schemeClr val="tx1">
                    <a:alpha val="100000"/>
                  </a:schemeClr>
                </a:solidFill>
                <a:latin typeface="Microsoft YaHei"/>
                <a:ea typeface="Microsoft YaHei"/>
                <a:cs typeface="+mn-cs"/>
              </a:rPr>
              <a:t>四个状态机</a:t>
            </a:r>
            <a:r>
              <a:rPr lang="en-US" sz="1600" b="1">
                <a:solidFill>
                  <a:schemeClr val="tx1">
                    <a:alpha val="100000"/>
                  </a:schemeClr>
                </a:solidFill>
                <a:latin typeface="Microsoft YaHei"/>
                <a:ea typeface="Microsoft YaHei"/>
                <a:cs typeface="+mn-cs"/>
              </a:rPr>
              <a:t> </a:t>
            </a:r>
            <a:r>
              <a:rPr lang="zh-CN" sz="1600" b="1">
                <a:solidFill>
                  <a:schemeClr val="tx1">
                    <a:alpha val="100000"/>
                  </a:schemeClr>
                </a:solidFill>
                <a:latin typeface="Microsoft YaHei"/>
                <a:ea typeface="Microsoft YaHei"/>
                <a:cs typeface="+mn-cs"/>
              </a:rPr>
              <a:t>的所有合法状态转换路径和边界条件：
</a:t>
            </a:r>
            <a:r>
              <a:rPr lang="zh-CN" sz="1400" b="0" i="0" u="none" strike="noStrike">
                <a:solidFill>
                  <a:srgbClr val="666666">
                    <a:alpha val="100000"/>
                  </a:srgbClr>
                </a:solidFill>
                <a:latin typeface="华文中宋"/>
                <a:ea typeface="华文中宋"/>
                <a:cs typeface="+mn-cs"/>
              </a:rPr>
              <a:t>1. 正常转换路径：kernel → kernel_single_step_to_user → user → user_single_step_to_kernel → kernel；
2. PC 快速路径：当状态机在 user 态、PC 已位于内核空间且栈帧函数名匹配 user→kernel边界断点时，直接触发状态切换，跳过逐指令单步；
3. 异常路径：断点组未就绪、符号文件加载失败、GDB 断点编号异步返回超时等异常场景下的状态机行为；</a:t>
            </a:r>
            <a:endParaRPr sz="1800">
              <a:solidFill>
                <a:schemeClr val="tx1">
                  <a:alpha val="100000"/>
                </a:schemeClr>
              </a:solidFill>
              <a:latin typeface="Roboto"/>
              <a:ea typeface="HarmonyOS Sans SC"/>
              <a:cs typeface="+mn-cs"/>
            </a:endParaRPr>
          </a:p>
          <a:p>
            <a:pPr marL="285750" lvl="0" indent="-285750" algn="l" defTabSz="914400" hangingPunct="1">
              <a:lnSpc>
                <a:spcPct val="150000"/>
              </a:lnSpc>
              <a:buFont typeface="Wingdings" charset="2"/>
              <a:buChar char="Ø"/>
              <a:defRPr sz="1800">
                <a:solidFill>
                  <a:schemeClr val="tx1">
                    <a:alpha val="100000"/>
                  </a:schemeClr>
                </a:solidFill>
                <a:latin typeface="Roboto"/>
                <a:ea typeface="HarmonyOS Sans SC"/>
                <a:cs typeface="+mn-cs"/>
              </a:defRPr>
            </a:pPr>
            <a:r>
              <a:rPr lang="zh-CN" sz="1600" b="1">
                <a:solidFill>
                  <a:schemeClr val="tx1">
                    <a:alpha val="100000"/>
                  </a:schemeClr>
                </a:solidFill>
                <a:latin typeface="Microsoft YaHei"/>
                <a:ea typeface="Microsoft YaHei"/>
                <a:cs typeface="+mn-cs"/>
              </a:rPr>
              <a:t>通过</a:t>
            </a:r>
            <a:r>
              <a:rPr lang="en-US" sz="1600" b="1">
                <a:solidFill>
                  <a:schemeClr val="tx1">
                    <a:alpha val="100000"/>
                  </a:schemeClr>
                </a:solidFill>
                <a:latin typeface="Microsoft YaHei"/>
                <a:ea typeface="Microsoft YaHei"/>
                <a:cs typeface="+mn-cs"/>
              </a:rPr>
              <a:t> MockMI2 </a:t>
            </a:r>
            <a:r>
              <a:rPr lang="zh-CN" sz="1600" b="1">
                <a:solidFill>
                  <a:schemeClr val="tx1">
                    <a:alpha val="100000"/>
                  </a:schemeClr>
                </a:solidFill>
                <a:latin typeface="Microsoft YaHei"/>
                <a:ea typeface="Microsoft YaHei"/>
                <a:cs typeface="+mn-cs"/>
              </a:rPr>
              <a:t>模拟</a:t>
            </a:r>
            <a:r>
              <a:rPr lang="en-US" sz="1600" b="1">
                <a:solidFill>
                  <a:schemeClr val="tx1">
                    <a:alpha val="100000"/>
                  </a:schemeClr>
                </a:solidFill>
                <a:latin typeface="Microsoft YaHei"/>
                <a:ea typeface="Microsoft YaHei"/>
                <a:cs typeface="+mn-cs"/>
              </a:rPr>
              <a:t> GDB </a:t>
            </a:r>
            <a:r>
              <a:rPr lang="zh-CN" sz="1600" b="1">
                <a:solidFill>
                  <a:schemeClr val="tx1">
                    <a:alpha val="100000"/>
                  </a:schemeClr>
                </a:solidFill>
                <a:latin typeface="Microsoft YaHei"/>
                <a:ea typeface="Microsoft YaHei"/>
                <a:cs typeface="+mn-cs"/>
              </a:rPr>
              <a:t>后端，提供可控的寄存器值、栈帧信息和断点编号，在无需真实</a:t>
            </a:r>
            <a:r>
              <a:rPr lang="en-US" sz="1600" b="1">
                <a:solidFill>
                  <a:schemeClr val="tx1">
                    <a:alpha val="100000"/>
                  </a:schemeClr>
                </a:solidFill>
                <a:latin typeface="Microsoft YaHei"/>
                <a:ea typeface="Microsoft YaHei"/>
                <a:cs typeface="+mn-cs"/>
              </a:rPr>
              <a:t> QEMU </a:t>
            </a:r>
            <a:r>
              <a:rPr lang="zh-CN" sz="1600" b="1">
                <a:solidFill>
                  <a:schemeClr val="tx1">
                    <a:alpha val="100000"/>
                  </a:schemeClr>
                </a:solidFill>
                <a:latin typeface="Microsoft YaHei"/>
                <a:ea typeface="Microsoft YaHei"/>
                <a:cs typeface="+mn-cs"/>
              </a:rPr>
              <a:t>环境的情况下验证四个集成测试场景：
</a:t>
            </a:r>
            <a:r>
              <a:rPr lang="zh-CN" sz="1400" b="0" i="0" u="none" strike="noStrike">
                <a:solidFill>
                  <a:srgbClr val="666666">
                    <a:alpha val="100000"/>
                  </a:srgbClr>
                </a:solidFill>
                <a:latin typeface="华文中宋"/>
                <a:ea typeface="华文中宋"/>
                <a:cs typeface="+mn-cs"/>
              </a:rPr>
              <a:t>1. 内核启动 → 首次进入用户态；
2. Hook 断点动态进程发现；
3. 用户态 → 内核态的 PC 快速路径；
4. 多次特权级切换的完整性</a:t>
            </a:r>
            <a:endParaRPr sz="1800">
              <a:solidFill>
                <a:schemeClr val="tx1">
                  <a:alpha val="100000"/>
                </a:schemeClr>
              </a:solidFill>
              <a:latin typeface="Roboto"/>
              <a:ea typeface="HarmonyOS Sans SC"/>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测试验证：embassy </a:t>
            </a:r>
            <a:r>
              <a:rPr lang="zh-CN" sz="2400" b="1">
                <a:solidFill>
                  <a:srgbClr val="052E68">
                    <a:alpha val="100000"/>
                  </a:srgbClr>
                </a:solidFill>
                <a:latin typeface="思源宋体 CN Heavy"/>
                <a:ea typeface="思源宋体 CN Heavy"/>
                <a:cs typeface="+mn-cs"/>
              </a:rPr>
              <a:t>嵌入式异步框架</a:t>
            </a:r>
            <a:endParaRPr/>
          </a:p>
        </p:txBody>
      </p:sp>
      <p:sp>
        <p:nvSpPr>
          <p:cNvPr id="133" name="TextBox 7"/>
          <p:cNvSpPr txBox="1"/>
          <p:nvPr/>
        </p:nvSpPr>
        <p:spPr>
          <a:xfrm>
            <a:off x="609904" y="1378000"/>
            <a:ext cx="10972800" cy="419100"/>
          </a:xfrm>
          <a:prstGeom prst="rect">
            <a:avLst/>
          </a:prstGeom>
          <a:noFill/>
        </p:spPr>
        <p:txBody>
          <a:bodyPr wrap="square" anchor="ctr">
            <a:spAutoFit/>
          </a:bodyPr>
          <a:lstStyle/>
          <a:p>
            <a:pPr algn="l">
              <a:lnSpc>
                <a:spcPct val="135000"/>
              </a:lnSpc>
              <a:spcAft>
                <a:spcPts val="200"/>
              </a:spcAft>
            </a:pPr>
            <a:r>
              <a:rPr sz="1600" b="0">
                <a:solidFill>
                  <a:srgbClr val="666666">
                    <a:alpha val="100000"/>
                  </a:srgbClr>
                </a:solidFill>
                <a:latin typeface="华文中宋"/>
                <a:ea typeface="华文中宋"/>
                <a:cs typeface="+mn-cs"/>
              </a:rPr>
              <a:t>验证异步跟踪运行时无关性</a:t>
            </a:r>
            <a:endParaRPr/>
          </a:p>
        </p:txBody>
      </p:sp>
      <p:sp>
        <p:nvSpPr>
          <p:cNvPr id="134" name="Rectangle 8"/>
          <p:cNvSpPr/>
          <p:nvPr/>
        </p:nvSpPr>
        <p:spPr>
          <a:xfrm>
            <a:off x="621792" y="1755648"/>
            <a:ext cx="10735056" cy="245821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9"/>
          <p:cNvSpPr txBox="1"/>
          <p:nvPr/>
        </p:nvSpPr>
        <p:spPr>
          <a:xfrm>
            <a:off x="731520" y="1743710"/>
            <a:ext cx="10515600" cy="2470150"/>
          </a:xfrm>
          <a:prstGeom prst="rect">
            <a:avLst/>
          </a:prstGeom>
          <a:noFill/>
        </p:spPr>
        <p:txBody>
          <a:bodyPr wrap="square">
            <a:spAutoFit/>
          </a:bodyPr>
          <a:lstStyle/>
          <a:p>
            <a:pPr marL="0" lvl="0" algn="l" defTabSz="914400" hangingPunct="1">
              <a:lnSpc>
                <a:spcPct val="140000"/>
              </a:lnSpc>
              <a:spcAft>
                <a:spcPts val="400"/>
              </a:spcAft>
              <a:defRPr sz="1800">
                <a:solidFill>
                  <a:schemeClr val="tx1">
                    <a:alpha val="100000"/>
                  </a:schemeClr>
                </a:solidFill>
                <a:latin typeface="Roboto"/>
                <a:ea typeface="HarmonyOS Sans SC"/>
                <a:cs typeface="+mn-cs"/>
              </a:defRPr>
            </a:pPr>
            <a:r>
              <a:rPr sz="1800" b="1">
                <a:solidFill>
                  <a:srgbClr val="2C2C2C">
                    <a:alpha val="100000"/>
                  </a:srgbClr>
                </a:solidFill>
                <a:latin typeface="Microsoft YaHei"/>
                <a:ea typeface="Microsoft YaHei"/>
                <a:cs typeface="+mn-cs"/>
              </a:rPr>
              <a:t>embassy</a:t>
            </a:r>
            <a:r>
              <a:rPr lang="zh-CN" sz="1800" b="1">
                <a:solidFill>
                  <a:srgbClr val="2C2C2C">
                    <a:alpha val="100000"/>
                  </a:srgbClr>
                </a:solidFill>
                <a:latin typeface="Microsoft YaHei"/>
                <a:ea typeface="Microsoft YaHei"/>
                <a:cs typeface="+mn-cs"/>
              </a:rPr>
              <a:t>异步框架</a:t>
            </a:r>
            <a:r>
              <a:rPr sz="1800" b="1">
                <a:solidFill>
                  <a:srgbClr val="2C2C2C">
                    <a:alpha val="100000"/>
                  </a:srgbClr>
                </a:solidFill>
                <a:latin typeface="Microsoft YaHei"/>
                <a:ea typeface="Microsoft YaHei"/>
                <a:cs typeface="+mn-cs"/>
              </a:rPr>
              <a:t>：</a:t>
            </a:r>
            <a:r>
              <a:rPr sz="1800" b="0">
                <a:solidFill>
                  <a:srgbClr val="2C2C2C">
                    <a:alpha val="100000"/>
                  </a:srgbClr>
                </a:solidFill>
                <a:latin typeface="Microsoft YaHei"/>
                <a:ea typeface="Microsoft YaHei"/>
                <a:cs typeface="+mn-cs"/>
              </a:rPr>
              <a:t>使用自定义</a:t>
            </a:r>
            <a:r>
              <a:rPr lang="zh-CN" sz="1800" b="0">
                <a:solidFill>
                  <a:srgbClr val="2C2C2C">
                    <a:alpha val="100000"/>
                  </a:srgbClr>
                </a:solidFill>
                <a:latin typeface="Microsoft YaHei"/>
                <a:ea typeface="Microsoft YaHei"/>
                <a:cs typeface="+mn-cs"/>
              </a:rPr>
              <a:t>异步调度器</a:t>
            </a:r>
            <a:r>
              <a:rPr sz="1800" b="0">
                <a:solidFill>
                  <a:srgbClr val="2C2C2C">
                    <a:alpha val="100000"/>
                  </a:srgbClr>
                </a:solidFill>
                <a:latin typeface="Microsoft YaHei"/>
                <a:ea typeface="Microsoft YaHei"/>
                <a:cs typeface="+mn-cs"/>
              </a:rPr>
              <a:t>，不依赖 Tokio</a:t>
            </a:r>
            <a:r>
              <a:rPr lang="zh-CN" sz="1800" b="0">
                <a:solidFill>
                  <a:srgbClr val="2C2C2C">
                    <a:alpha val="100000"/>
                  </a:srgbClr>
                </a:solidFill>
                <a:latin typeface="Microsoft YaHei"/>
                <a:ea typeface="Microsoft YaHei"/>
                <a:cs typeface="+mn-cs"/>
              </a:rPr>
              <a:t>等运行时</a:t>
            </a:r>
            <a:r>
              <a:rPr sz="1800" b="0">
                <a:solidFill>
                  <a:srgbClr val="2C2C2C">
                    <a:alpha val="100000"/>
                  </a:srgbClr>
                </a:solidFill>
                <a:latin typeface="Microsoft YaHei"/>
                <a:ea typeface="Microsoft YaHei"/>
                <a:cs typeface="+mn-cs"/>
              </a:rPr>
              <a:t>。</a:t>
            </a:r>
            <a:r>
              <a:rPr lang="zh-CN" sz="1800" b="1">
                <a:solidFill>
                  <a:srgbClr val="C00000">
                    <a:alpha val="100000"/>
                  </a:srgbClr>
                </a:solidFill>
                <a:latin typeface="Microsoft YaHei"/>
                <a:ea typeface="Microsoft YaHei"/>
                <a:cs typeface="+mn-cs"/>
              </a:rPr>
              <a:t>通过调试器</a:t>
            </a:r>
            <a:r>
              <a:rPr sz="1800" b="1">
                <a:solidFill>
                  <a:srgbClr val="C00000">
                    <a:alpha val="100000"/>
                  </a:srgbClr>
                </a:solidFill>
                <a:latin typeface="Microsoft YaHei"/>
                <a:ea typeface="Microsoft YaHei"/>
                <a:cs typeface="+mn-cs"/>
              </a:rPr>
              <a:t>在 embassy 上正常工作</a:t>
            </a:r>
            <a:r>
              <a:rPr lang="zh-CN" sz="1800" b="1">
                <a:solidFill>
                  <a:srgbClr val="C00000">
                    <a:alpha val="100000"/>
                  </a:srgbClr>
                </a:solidFill>
                <a:latin typeface="Microsoft YaHei"/>
                <a:ea typeface="Microsoft YaHei"/>
                <a:cs typeface="+mn-cs"/>
              </a:rPr>
              <a:t>验证异步跟踪</a:t>
            </a:r>
            <a:r>
              <a:rPr sz="1800" b="1">
                <a:solidFill>
                  <a:srgbClr val="C00000">
                    <a:alpha val="100000"/>
                  </a:srgbClr>
                </a:solidFill>
                <a:latin typeface="Microsoft YaHei"/>
                <a:ea typeface="Microsoft YaHei"/>
                <a:cs typeface="+mn-cs"/>
              </a:rPr>
              <a:t>不绑定特定异步运行时</a:t>
            </a:r>
            <a:endParaRPr/>
          </a:p>
          <a:p>
            <a:pPr marL="0" lvl="0" algn="l" defTabSz="914400" hangingPunct="1">
              <a:lnSpc>
                <a:spcPct val="140000"/>
              </a:lnSpc>
              <a:spcAft>
                <a:spcPts val="400"/>
              </a:spcAft>
              <a:defRPr sz="1800">
                <a:solidFill>
                  <a:schemeClr val="tx1">
                    <a:alpha val="100000"/>
                  </a:schemeClr>
                </a:solidFill>
                <a:latin typeface="Roboto"/>
                <a:ea typeface="HarmonyOS Sans SC"/>
                <a:cs typeface="+mn-cs"/>
              </a:defRPr>
            </a:pPr>
            <a:r>
              <a:rPr sz="1800" b="0">
                <a:solidFill>
                  <a:srgbClr val="2C2C2C">
                    <a:alpha val="100000"/>
                  </a:srgbClr>
                </a:solidFill>
                <a:latin typeface="Microsoft YaHei"/>
                <a:ea typeface="Microsoft YaHei"/>
                <a:cs typeface="+mn-cs"/>
              </a:rPr>
              <a:t>验证结果：</a:t>
            </a:r>
            <a:endParaRPr sz="1800">
              <a:solidFill>
                <a:schemeClr val="tx1">
                  <a:alpha val="100000"/>
                </a:schemeClr>
              </a:solidFill>
              <a:latin typeface="Roboto"/>
              <a:ea typeface="HarmonyOS Sans SC"/>
              <a:cs typeface="+mn-cs"/>
            </a:endParaRPr>
          </a:p>
          <a:p>
            <a:pPr marL="285750" lvl="0" indent="-285750" algn="l" defTabSz="914400" hangingPunct="1">
              <a:lnSpc>
                <a:spcPct val="140000"/>
              </a:lnSpc>
              <a:spcAft>
                <a:spcPts val="400"/>
              </a:spcAft>
              <a:buFont typeface="Wingdings" charset="2"/>
              <a:buChar char="Ø"/>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mn-cs"/>
              </a:rPr>
              <a:t>三层嵌套等待链│main_task → run_task → timer::poll│__awaitee 字段按需发现了全部依赖关系；</a:t>
            </a:r>
            <a:endParaRPr sz="1800">
              <a:solidFill>
                <a:schemeClr val="tx1">
                  <a:alpha val="100000"/>
                </a:schemeClr>
              </a:solidFill>
              <a:latin typeface="Roboto"/>
              <a:ea typeface="HarmonyOS Sans SC"/>
              <a:cs typeface="+mn-cs"/>
            </a:endParaRPr>
          </a:p>
          <a:p>
            <a:pPr marL="285750" lvl="0" indent="-285750" algn="l" defTabSz="914400" hangingPunct="1">
              <a:lnSpc>
                <a:spcPct val="140000"/>
              </a:lnSpc>
              <a:spcAft>
                <a:spcPts val="400"/>
              </a:spcAft>
              <a:buFont typeface="Wingdings" charset="2"/>
              <a:buChar char="Ø"/>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mn-cs"/>
              </a:rPr>
              <a:t>不同 poll 次数│calls=1 / 3 / 3│外层单次 poll，内层多次 poll，符合计时器驱动的执行特征；</a:t>
            </a:r>
            <a:endParaRPr sz="1800">
              <a:solidFill>
                <a:schemeClr val="tx1">
                  <a:alpha val="100000"/>
                </a:schemeClr>
              </a:solidFill>
              <a:latin typeface="Roboto"/>
              <a:ea typeface="HarmonyOS Sans SC"/>
              <a:cs typeface="+mn-cs"/>
            </a:endParaRPr>
          </a:p>
          <a:p>
            <a:pPr marL="285750" lvl="0" indent="-285750" algn="l" defTabSz="914400" hangingPunct="1">
              <a:lnSpc>
                <a:spcPct val="140000"/>
              </a:lnSpc>
              <a:spcAft>
                <a:spcPts val="400"/>
              </a:spcAft>
              <a:buFont typeface="Wingdings" charset="2"/>
              <a:buChar char="Ø"/>
              <a:defRPr sz="1800">
                <a:solidFill>
                  <a:schemeClr val="tx1">
                    <a:alpha val="100000"/>
                  </a:schemeClr>
                </a:solidFill>
                <a:latin typeface="Roboto"/>
                <a:ea typeface="HarmonyOS Sans SC"/>
                <a:cs typeface="+mn-cs"/>
              </a:defRPr>
            </a:pPr>
            <a:r>
              <a:rPr lang="zh-CN" sz="1600" b="0" i="0" u="none" strike="noStrike">
                <a:solidFill>
                  <a:srgbClr val="666666">
                    <a:alpha val="100000"/>
                  </a:srgbClr>
                </a:solidFill>
                <a:latin typeface="华文中宋"/>
                <a:ea typeface="华文中宋"/>
                <a:cs typeface="+mn-cs"/>
              </a:rPr>
              <a:t>实例级状态区分 │ active=no / yes / yes │ 内层任务已完成，外层仍在等待；</a:t>
            </a:r>
            <a:endParaRPr/>
          </a:p>
        </p:txBody>
      </p:sp>
      <p:sp>
        <p:nvSpPr>
          <p:cNvPr id="136" name="TextBox 11"/>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sz="1100" b="0">
                <a:solidFill>
                  <a:srgbClr val="666666">
                    <a:alpha val="100000"/>
                  </a:srgbClr>
                </a:solidFill>
                <a:latin typeface="华文中宋"/>
                <a:ea typeface="HarmonyOS Sans SC"/>
                <a:cs typeface="+mn-cs"/>
              </a:rPr>
              <a:t>18</a:t>
            </a:r>
            <a:endParaRPr/>
          </a:p>
        </p:txBody>
      </p:sp>
      <p:pic>
        <p:nvPicPr>
          <p:cNvPr id="137" name="Picture 12" descr="embassy异步函数执行图.png"/>
          <p:cNvPicPr>
            <a:picLocks noChangeAspect="1"/>
          </p:cNvPicPr>
          <p:nvPr/>
        </p:nvPicPr>
        <p:blipFill>
          <a:blip r:embed="rId2"/>
          <a:srcRect b="9897"/>
          <a:stretch>
            <a:fillRect/>
          </a:stretch>
        </p:blipFill>
        <p:spPr>
          <a:xfrm>
            <a:off x="609904" y="4298950"/>
            <a:ext cx="5486095" cy="2446877"/>
          </a:xfrm>
          <a:prstGeom prst="rect">
            <a:avLst/>
          </a:prstGeom>
        </p:spPr>
      </p:pic>
      <p:sp>
        <p:nvSpPr>
          <p:cNvPr id="138" name="TextBox 13"/>
          <p:cNvSpPr txBox="1"/>
          <p:nvPr/>
        </p:nvSpPr>
        <p:spPr>
          <a:xfrm>
            <a:off x="6417469" y="4298950"/>
            <a:ext cx="4483100" cy="298450"/>
          </a:xfrm>
          <a:prstGeom prst="rect">
            <a:avLst/>
          </a:prstGeom>
          <a:noFill/>
        </p:spPr>
        <p:txBody>
          <a:bodyPr wrap="square" lIns="109728" tIns="54864" rIns="109728" bIns="36576" anchor="ctr">
            <a:spAutoFit/>
          </a:bodyPr>
          <a:lstStyle/>
          <a:p>
            <a:pPr marL="0" lvl="0" algn="l" defTabSz="914400" hangingPunct="1">
              <a:lnSpc>
                <a:spcPct val="100000"/>
              </a:lnSpc>
              <a:spcAft>
                <a:spcPts val="0"/>
              </a:spcAft>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latin typeface="华文中宋"/>
                <a:ea typeface="华文中宋"/>
                <a:cs typeface="+mn-cs"/>
              </a:rPr>
              <a:t>调试演示视频：</a:t>
            </a:r>
            <a:endParaRPr sz="1800">
              <a:solidFill>
                <a:schemeClr val="tx1">
                  <a:alpha val="100000"/>
                </a:schemeClr>
              </a:solidFill>
              <a:latin typeface="Roboto"/>
              <a:ea typeface="HarmonyOS Sans SC"/>
              <a:cs typeface="+mn-cs"/>
            </a:endParaRPr>
          </a:p>
        </p:txBody>
      </p:sp>
      <p:sp>
        <p:nvSpPr>
          <p:cNvPr id="139" name="Rounded Rectangle 14">
            <a:hlinkClick r:id="rId3"/>
          </p:cNvPr>
          <p:cNvSpPr/>
          <p:nvPr/>
        </p:nvSpPr>
        <p:spPr>
          <a:xfrm>
            <a:off x="6585109" y="4733843"/>
            <a:ext cx="3041808" cy="530352"/>
          </a:xfrm>
          <a:prstGeom prst="roundRect">
            <a:avLst/>
          </a:prstGeom>
          <a:solidFill>
            <a:srgbClr val="052E68">
              <a:alpha val="100000"/>
            </a:srgbClr>
          </a:solidFill>
          <a:ln w="1524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vert="horz" wrap="square" lIns="109728" tIns="54864" rIns="109728" bIns="36576" rtlCol="0" anchor="ctr"/>
          <a:lstStyle/>
          <a:p>
            <a:pPr marL="0" lvl="0" indent="0" algn="l" defTabSz="914400" hangingPunct="1">
              <a:lnSpc>
                <a:spcPct val="100000"/>
              </a:lnSpc>
              <a:spcAft>
                <a:spcPts val="0"/>
              </a:spcAft>
              <a:defRPr sz="1800">
                <a:solidFill>
                  <a:schemeClr val="lt1">
                    <a:alpha val="100000"/>
                  </a:schemeClr>
                </a:solidFill>
                <a:latin typeface="Roboto"/>
                <a:ea typeface="HarmonyOS Sans SC"/>
                <a:cs typeface="+mn-cs"/>
              </a:defRPr>
            </a:pPr>
            <a:r>
              <a:rPr lang="zh-CN" sz="1500" b="1" i="0" u="none" strike="noStrike">
                <a:solidFill>
                  <a:srgbClr val="FFFFFF">
                    <a:alpha val="100000"/>
                  </a:srgbClr>
                </a:solidFill>
                <a:latin typeface="华文中宋"/>
                <a:ea typeface="HarmonyOS Sans SC"/>
                <a:cs typeface="+mn-cs"/>
              </a:rPr>
              <a:t>点击查看：embassy 调试演示</a:t>
            </a:r>
            <a:endParaRPr sz="1500" b="1">
              <a:solidFill>
                <a:srgbClr val="FFFFFF">
                  <a:alpha val="100000"/>
                </a:srgbClr>
              </a:solidFill>
              <a:latin typeface="华文中宋"/>
              <a:ea typeface="HarmonyOS Sans SC"/>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测试验证：</a:t>
            </a:r>
            <a:r>
              <a:rPr lang="zh-CN" sz="2400" b="1">
                <a:solidFill>
                  <a:srgbClr val="052E68">
                    <a:alpha val="100000"/>
                  </a:srgbClr>
                </a:solidFill>
                <a:latin typeface="思源宋体 CN Heavy"/>
                <a:ea typeface="思源宋体 CN Heavy"/>
                <a:cs typeface="+mn-cs"/>
              </a:rPr>
              <a:t>组件化</a:t>
            </a:r>
            <a:r>
              <a:rPr lang="en-US" sz="2400" b="1">
                <a:solidFill>
                  <a:srgbClr val="052E68">
                    <a:alpha val="100000"/>
                  </a:srgbClr>
                </a:solidFill>
                <a:latin typeface="思源宋体 CN Heavy"/>
                <a:ea typeface="思源宋体 CN Heavy"/>
                <a:cs typeface="+mn-cs"/>
              </a:rPr>
              <a:t>OS </a:t>
            </a:r>
            <a:r>
              <a:rPr sz="2400" b="1">
                <a:solidFill>
                  <a:srgbClr val="052E68">
                    <a:alpha val="100000"/>
                  </a:srgbClr>
                </a:solidFill>
                <a:latin typeface="思源宋体 CN Heavy"/>
                <a:ea typeface="思源宋体 CN Heavy"/>
                <a:cs typeface="+mn-cs"/>
              </a:rPr>
              <a:t>StarryOS</a:t>
            </a:r>
            <a:endParaRPr/>
          </a:p>
        </p:txBody>
      </p:sp>
      <p:sp>
        <p:nvSpPr>
          <p:cNvPr id="142" name="TextBox 7"/>
          <p:cNvSpPr txBox="1"/>
          <p:nvPr/>
        </p:nvSpPr>
        <p:spPr>
          <a:xfrm>
            <a:off x="609904" y="1378000"/>
            <a:ext cx="10972800" cy="419100"/>
          </a:xfrm>
          <a:prstGeom prst="rect">
            <a:avLst/>
          </a:prstGeom>
          <a:noFill/>
        </p:spPr>
        <p:txBody>
          <a:bodyPr wrap="square">
            <a:spAutoFit/>
          </a:bodyPr>
          <a:lstStyle/>
          <a:p>
            <a:pPr algn="l">
              <a:lnSpc>
                <a:spcPct val="135000"/>
              </a:lnSpc>
              <a:spcAft>
                <a:spcPts val="200"/>
              </a:spcAft>
            </a:pPr>
            <a:r>
              <a:rPr sz="1600" b="0">
                <a:solidFill>
                  <a:srgbClr val="666666">
                    <a:alpha val="100000"/>
                  </a:srgbClr>
                </a:solidFill>
                <a:latin typeface="华文中宋"/>
                <a:ea typeface="华文中宋"/>
                <a:cs typeface="+mn-cs"/>
              </a:rPr>
              <a:t>验证组件化 OS </a:t>
            </a:r>
            <a:r>
              <a:rPr lang="zh-CN" sz="1600" b="0">
                <a:solidFill>
                  <a:srgbClr val="666666">
                    <a:alpha val="100000"/>
                  </a:srgbClr>
                </a:solidFill>
                <a:latin typeface="华文中宋"/>
                <a:ea typeface="华文中宋"/>
                <a:cs typeface="+mn-cs"/>
              </a:rPr>
              <a:t>跨特权级</a:t>
            </a:r>
            <a:r>
              <a:rPr sz="1600" b="0">
                <a:solidFill>
                  <a:srgbClr val="666666">
                    <a:alpha val="100000"/>
                  </a:srgbClr>
                </a:solidFill>
                <a:latin typeface="华文中宋"/>
                <a:ea typeface="华文中宋"/>
                <a:cs typeface="+mn-cs"/>
              </a:rPr>
              <a:t>调试</a:t>
            </a:r>
            <a:r>
              <a:rPr lang="zh-CN" sz="1600" b="0">
                <a:solidFill>
                  <a:srgbClr val="666666">
                    <a:alpha val="100000"/>
                  </a:srgbClr>
                </a:solidFill>
                <a:latin typeface="华文中宋"/>
                <a:ea typeface="华文中宋"/>
                <a:cs typeface="+mn-cs"/>
              </a:rPr>
              <a:t>能力</a:t>
            </a:r>
            <a:endParaRPr/>
          </a:p>
        </p:txBody>
      </p:sp>
      <p:sp>
        <p:nvSpPr>
          <p:cNvPr id="143" name="Rectangle 8"/>
          <p:cNvSpPr/>
          <p:nvPr/>
        </p:nvSpPr>
        <p:spPr>
          <a:xfrm>
            <a:off x="621792" y="1792224"/>
            <a:ext cx="10735056" cy="176606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9"/>
          <p:cNvSpPr txBox="1"/>
          <p:nvPr/>
        </p:nvSpPr>
        <p:spPr>
          <a:xfrm>
            <a:off x="731520" y="1828800"/>
            <a:ext cx="10515600" cy="1676400"/>
          </a:xfrm>
          <a:prstGeom prst="rect">
            <a:avLst/>
          </a:prstGeom>
          <a:noFill/>
        </p:spPr>
        <p:txBody>
          <a:bodyPr wrap="square">
            <a:spAutoFit/>
          </a:bodyPr>
          <a:lstStyle/>
          <a:p>
            <a:pPr algn="l">
              <a:lnSpc>
                <a:spcPct val="140000"/>
              </a:lnSpc>
              <a:spcAft>
                <a:spcPts val="400"/>
              </a:spcAft>
            </a:pPr>
            <a:r>
              <a:rPr sz="1800" b="1">
                <a:solidFill>
                  <a:srgbClr val="2C2C2C">
                    <a:alpha val="100000"/>
                  </a:srgbClr>
                </a:solidFill>
                <a:latin typeface="Microsoft YaHei"/>
                <a:ea typeface="Microsoft YaHei"/>
                <a:cs typeface="+mn-cs"/>
              </a:rPr>
              <a:t>StarryOS </a:t>
            </a:r>
            <a:r>
              <a:rPr lang="zh-CN" sz="1800" b="1">
                <a:solidFill>
                  <a:srgbClr val="2C2C2C">
                    <a:alpha val="100000"/>
                  </a:srgbClr>
                </a:solidFill>
                <a:latin typeface="Microsoft YaHei"/>
                <a:ea typeface="Microsoft YaHei"/>
                <a:cs typeface="+mn-cs"/>
              </a:rPr>
              <a:t>：</a:t>
            </a:r>
            <a:r>
              <a:rPr sz="1800" b="0">
                <a:solidFill>
                  <a:srgbClr val="2C2C2C">
                    <a:alpha val="100000"/>
                  </a:srgbClr>
                </a:solidFill>
                <a:latin typeface="Microsoft YaHei"/>
                <a:ea typeface="Microsoft YaHei"/>
                <a:cs typeface="+mn-cs"/>
              </a:rPr>
              <a:t>基于 ArceOS 框架的组件化 Rust OS，其源码组织、系统调用路径、进程模型与</a:t>
            </a:r>
            <a:r>
              <a:rPr lang="en-US" sz="1800" b="0">
                <a:solidFill>
                  <a:srgbClr val="2C2C2C">
                    <a:alpha val="100000"/>
                  </a:srgbClr>
                </a:solidFill>
                <a:latin typeface="Microsoft YaHei"/>
                <a:ea typeface="Microsoft YaHei"/>
                <a:cs typeface="+mn-cs"/>
              </a:rPr>
              <a:t>rCore </a:t>
            </a:r>
            <a:r>
              <a:rPr sz="1800" b="0">
                <a:solidFill>
                  <a:srgbClr val="2C2C2C">
                    <a:alpha val="100000"/>
                  </a:srgbClr>
                </a:solidFill>
                <a:latin typeface="Microsoft YaHei"/>
                <a:ea typeface="Microsoft YaHei"/>
                <a:cs typeface="+mn-cs"/>
              </a:rPr>
              <a:t>存在根本差异。</a:t>
            </a:r>
            <a:endParaRPr/>
          </a:p>
          <a:p>
            <a:pPr algn="l">
              <a:lnSpc>
                <a:spcPct val="140000"/>
              </a:lnSpc>
              <a:spcAft>
                <a:spcPts val="400"/>
              </a:spcAft>
            </a:pPr>
            <a:r>
              <a:rPr sz="1800" b="1">
                <a:solidFill>
                  <a:srgbClr val="2C2C2C">
                    <a:alpha val="100000"/>
                  </a:srgbClr>
                </a:solidFill>
                <a:latin typeface="Microsoft YaHei"/>
                <a:ea typeface="Microsoft YaHei"/>
                <a:cs typeface="+mn-cs"/>
              </a:rPr>
              <a:t>验证</a:t>
            </a:r>
            <a:r>
              <a:rPr lang="zh-CN" sz="1800" b="1">
                <a:solidFill>
                  <a:srgbClr val="2C2C2C">
                    <a:alpha val="100000"/>
                  </a:srgbClr>
                </a:solidFill>
                <a:latin typeface="Microsoft YaHei"/>
                <a:ea typeface="Microsoft YaHei"/>
                <a:cs typeface="+mn-cs"/>
              </a:rPr>
              <a:t>过程</a:t>
            </a:r>
            <a:r>
              <a:rPr sz="1800" b="1">
                <a:solidFill>
                  <a:srgbClr val="2C2C2C">
                    <a:alpha val="100000"/>
                  </a:srgbClr>
                </a:solidFill>
                <a:latin typeface="Microsoft YaHei"/>
                <a:ea typeface="Microsoft YaHei"/>
                <a:cs typeface="+mn-cs"/>
              </a:rPr>
              <a:t>：</a:t>
            </a:r>
            <a:r>
              <a:rPr sz="1800" b="0">
                <a:solidFill>
                  <a:srgbClr val="2C2C2C">
                    <a:alpha val="100000"/>
                  </a:srgbClr>
                </a:solidFill>
                <a:latin typeface="Microsoft YaHei"/>
                <a:ea typeface="Microsoft YaHei"/>
                <a:cs typeface="+mn-cs"/>
              </a:rPr>
              <a:t>内核启动后 kernel→user 切换、Hook 断点在 execve 处命中创建进程组、</a:t>
            </a:r>
            <a:r>
              <a:rPr lang="zh-CN" sz="1800" b="0">
                <a:solidFill>
                  <a:srgbClr val="2C2C2C">
                    <a:alpha val="100000"/>
                  </a:srgbClr>
                </a:solidFill>
                <a:latin typeface="Microsoft YaHei"/>
                <a:ea typeface="Microsoft YaHei"/>
                <a:cs typeface="+mn-cs"/>
              </a:rPr>
              <a:t>调试器状态机切换</a:t>
            </a:r>
            <a:r>
              <a:rPr sz="1800" b="0">
                <a:solidFill>
                  <a:srgbClr val="2C2C2C">
                    <a:alpha val="100000"/>
                  </a:srgbClr>
                </a:solidFill>
                <a:latin typeface="Microsoft YaHei"/>
                <a:ea typeface="Microsoft YaHei"/>
                <a:cs typeface="+mn-cs"/>
              </a:rPr>
              <a:t>、多次切换符号文件正确卸载加载。</a:t>
            </a:r>
            <a:endParaRPr/>
          </a:p>
        </p:txBody>
      </p:sp>
      <p:sp>
        <p:nvSpPr>
          <p:cNvPr id="145" name="TextBox 11"/>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sz="1100" b="0">
                <a:solidFill>
                  <a:srgbClr val="666666">
                    <a:alpha val="100000"/>
                  </a:srgbClr>
                </a:solidFill>
                <a:latin typeface="华文中宋"/>
                <a:ea typeface="HarmonyOS Sans SC"/>
                <a:cs typeface="+mn-cs"/>
              </a:rPr>
              <a:t>19</a:t>
            </a:r>
            <a:endParaRPr/>
          </a:p>
        </p:txBody>
      </p:sp>
      <p:sp>
        <p:nvSpPr>
          <p:cNvPr id="146" name="Rounded Rectangle 13">
            <a:hlinkClick r:id="rId3"/>
          </p:cNvPr>
          <p:cNvSpPr/>
          <p:nvPr/>
        </p:nvSpPr>
        <p:spPr>
          <a:xfrm>
            <a:off x="8459830" y="4396489"/>
            <a:ext cx="3246120" cy="594360"/>
          </a:xfrm>
          <a:prstGeom prst="roundRect">
            <a:avLst/>
          </a:prstGeom>
          <a:solidFill>
            <a:srgbClr val="052E68">
              <a:alpha val="100000"/>
            </a:srgbClr>
          </a:solidFill>
          <a:ln w="15240">
            <a:solidFill>
              <a:srgbClr val="052E68">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wrap="square" lIns="109728" tIns="54864" rIns="109728" bIns="36576" rtlCol="0" anchor="ctr"/>
          <a:lstStyle/>
          <a:p>
            <a:pPr algn="l">
              <a:spcAft>
                <a:spcPts val="0"/>
              </a:spcAft>
            </a:pPr>
            <a:r>
              <a:rPr sz="1500" b="1">
                <a:solidFill>
                  <a:srgbClr val="FFFFFF">
                    <a:alpha val="100000"/>
                  </a:srgbClr>
                </a:solidFill>
                <a:latin typeface="华文中宋"/>
                <a:ea typeface="HarmonyOS Sans SC"/>
                <a:cs typeface="+mn-cs"/>
              </a:rPr>
              <a:t>点击查看：StarryOS 调试演示</a:t>
            </a:r>
            <a:endParaRPr/>
          </a:p>
        </p:txBody>
      </p:sp>
      <p:pic>
        <p:nvPicPr>
          <p:cNvPr id="147" name="图片 146"/>
          <p:cNvPicPr>
            <a:picLocks noChangeAspect="1"/>
          </p:cNvPicPr>
          <p:nvPr/>
        </p:nvPicPr>
        <p:blipFill>
          <a:blip r:embed="rId4">
            <a:alphaModFix/>
            <a:extLst>
              <a:ext uri="">
                <a14:imgProps xmlns:mc="http://schemas.openxmlformats.org/markup-compatibility/2006" xmlns:a14="http://schemas.microsoft.com/office/drawing/2010/main" xmlns="">
                  <a14:imgLayer>
                    <a14:imgEffect>
                      <a14:brightnessContrast bright="0" contrast="0"/>
                      <a14:colorTemperature colorTemp="6500"/>
                      <a14:saturation sat="100000"/>
                      <a14:sharpenSoften amount="0"/>
                    </a14:imgEffect>
                  </a14:imgLayer>
                </a14:imgProps>
              </a:ext>
            </a:extLst>
          </a:blip>
          <a:srcRect/>
          <a:stretch>
            <a:fillRect/>
          </a:stretch>
        </p:blipFill>
        <p:spPr>
          <a:xfrm>
            <a:off x="621792" y="6198356"/>
            <a:ext cx="6286788" cy="603649"/>
          </a:xfrm>
          <a:prstGeom prst="rect">
            <a:avLst/>
          </a:prstGeom>
          <a:ln/>
        </p:spPr>
      </p:pic>
      <p:pic>
        <p:nvPicPr>
          <p:cNvPr id="148" name="图片 147"/>
          <p:cNvPicPr>
            <a:picLocks noChangeAspect="1"/>
          </p:cNvPicPr>
          <p:nvPr/>
        </p:nvPicPr>
        <p:blipFill>
          <a:blip r:embed="rId5">
            <a:alphaModFix/>
            <a:extLst>
              <a:ext uri="">
                <a14:imgProps xmlns:mc="http://schemas.openxmlformats.org/markup-compatibility/2006" xmlns:a14="http://schemas.microsoft.com/office/drawing/2010/main" xmlns="">
                  <a14:imgLayer>
                    <a14:imgEffect>
                      <a14:brightnessContrast bright="0" contrast="0"/>
                      <a14:colorTemperature colorTemp="6500"/>
                      <a14:saturation sat="100000"/>
                      <a14:sharpenSoften amount="0"/>
                    </a14:imgEffect>
                  </a14:imgLayer>
                </a14:imgProps>
              </a:ext>
            </a:extLst>
          </a:blip>
          <a:srcRect/>
          <a:stretch>
            <a:fillRect/>
          </a:stretch>
        </p:blipFill>
        <p:spPr>
          <a:xfrm>
            <a:off x="640080" y="4028794"/>
            <a:ext cx="7550891" cy="586412"/>
          </a:xfrm>
          <a:prstGeom prst="rect">
            <a:avLst/>
          </a:prstGeom>
          <a:ln/>
        </p:spPr>
      </p:pic>
      <p:pic>
        <p:nvPicPr>
          <p:cNvPr id="149" name="图片 148"/>
          <p:cNvPicPr>
            <a:picLocks noChangeAspect="1"/>
          </p:cNvPicPr>
          <p:nvPr/>
        </p:nvPicPr>
        <p:blipFill>
          <a:blip r:embed="rId6">
            <a:alphaModFix/>
            <a:extLst>
              <a:ext uri="">
                <a14:imgProps xmlns:mc="http://schemas.openxmlformats.org/markup-compatibility/2006" xmlns:a14="http://schemas.microsoft.com/office/drawing/2010/main" xmlns="">
                  <a14:imgLayer>
                    <a14:imgEffect>
                      <a14:brightnessContrast bright="0" contrast="0"/>
                      <a14:colorTemperature colorTemp="6500"/>
                      <a14:saturation sat="100000"/>
                      <a14:sharpenSoften amount="0"/>
                    </a14:imgEffect>
                  </a14:imgLayer>
                </a14:imgProps>
              </a:ext>
            </a:extLst>
          </a:blip>
          <a:srcRect/>
          <a:stretch>
            <a:fillRect/>
          </a:stretch>
        </p:blipFill>
        <p:spPr>
          <a:xfrm>
            <a:off x="640080" y="5093941"/>
            <a:ext cx="5114933" cy="625679"/>
          </a:xfrm>
          <a:prstGeom prst="rect">
            <a:avLst/>
          </a:prstGeom>
          <a:ln/>
        </p:spPr>
      </p:pic>
      <p:sp>
        <p:nvSpPr>
          <p:cNvPr id="150" name="TextBox 7"/>
          <p:cNvSpPr txBox="1"/>
          <p:nvPr/>
        </p:nvSpPr>
        <p:spPr>
          <a:xfrm>
            <a:off x="640080" y="3598926"/>
            <a:ext cx="10972800" cy="381000"/>
          </a:xfrm>
          <a:prstGeom prst="rect">
            <a:avLst/>
          </a:prstGeom>
          <a:noFill/>
          <a:ln/>
        </p:spPr>
        <p:txBody>
          <a:bodyPr wrap="square">
            <a:spAutoFit/>
          </a:bodyPr>
          <a:lstStyle/>
          <a:p>
            <a:pPr algn="l">
              <a:lnSpc>
                <a:spcPct val="135000"/>
              </a:lnSpc>
              <a:spcAft>
                <a:spcPts val="200"/>
              </a:spcAft>
            </a:pPr>
            <a:r>
              <a:rPr lang="en-US" sz="1400" b="1">
                <a:solidFill>
                  <a:srgbClr val="666666">
                    <a:alpha val="100000"/>
                  </a:srgbClr>
                </a:solidFill>
                <a:latin typeface="华文中宋"/>
                <a:ea typeface="华文中宋"/>
                <a:cs typeface="+mn-cs"/>
              </a:rPr>
              <a:t>1. </a:t>
            </a:r>
            <a:r>
              <a:rPr lang="zh-CN" sz="1400" b="1">
                <a:solidFill>
                  <a:srgbClr val="666666">
                    <a:alpha val="100000"/>
                  </a:srgbClr>
                </a:solidFill>
                <a:latin typeface="华文中宋"/>
                <a:ea typeface="华文中宋"/>
                <a:cs typeface="+mn-cs"/>
              </a:rPr>
              <a:t>内核态符号表自动加载成功：</a:t>
            </a:r>
            <a:endParaRPr/>
          </a:p>
        </p:txBody>
      </p:sp>
      <p:sp>
        <p:nvSpPr>
          <p:cNvPr id="151" name="TextBox 7"/>
          <p:cNvSpPr txBox="1"/>
          <p:nvPr/>
        </p:nvSpPr>
        <p:spPr>
          <a:xfrm>
            <a:off x="640080" y="4664074"/>
            <a:ext cx="10972800" cy="381000"/>
          </a:xfrm>
          <a:prstGeom prst="rect">
            <a:avLst/>
          </a:prstGeom>
          <a:noFill/>
          <a:ln/>
        </p:spPr>
        <p:txBody>
          <a:bodyPr wrap="square">
            <a:spAutoFit/>
          </a:bodyPr>
          <a:lstStyle/>
          <a:p>
            <a:pPr algn="l">
              <a:lnSpc>
                <a:spcPct val="135000"/>
              </a:lnSpc>
              <a:spcAft>
                <a:spcPts val="200"/>
              </a:spcAft>
            </a:pPr>
            <a:r>
              <a:rPr lang="en-US" sz="1400" b="1">
                <a:solidFill>
                  <a:srgbClr val="666666">
                    <a:alpha val="100000"/>
                  </a:srgbClr>
                </a:solidFill>
                <a:latin typeface="华文中宋"/>
                <a:ea typeface="华文中宋"/>
                <a:cs typeface="+mn-cs"/>
              </a:rPr>
              <a:t>2. </a:t>
            </a:r>
            <a:r>
              <a:rPr lang="zh-CN" sz="1400" b="1">
                <a:solidFill>
                  <a:srgbClr val="666666">
                    <a:alpha val="100000"/>
                  </a:srgbClr>
                </a:solidFill>
                <a:latin typeface="华文中宋"/>
                <a:ea typeface="华文中宋"/>
                <a:cs typeface="+mn-cs"/>
              </a:rPr>
              <a:t>下一断点组解析成功（此处下一断点组为用户态程序）：</a:t>
            </a:r>
            <a:endParaRPr/>
          </a:p>
        </p:txBody>
      </p:sp>
      <p:sp>
        <p:nvSpPr>
          <p:cNvPr id="152" name="TextBox 7"/>
          <p:cNvSpPr txBox="1"/>
          <p:nvPr/>
        </p:nvSpPr>
        <p:spPr>
          <a:xfrm>
            <a:off x="621792" y="5768488"/>
            <a:ext cx="10972800" cy="381000"/>
          </a:xfrm>
          <a:prstGeom prst="rect">
            <a:avLst/>
          </a:prstGeom>
          <a:noFill/>
          <a:ln/>
        </p:spPr>
        <p:txBody>
          <a:bodyPr wrap="square">
            <a:spAutoFit/>
          </a:bodyPr>
          <a:lstStyle/>
          <a:p>
            <a:pPr algn="l">
              <a:lnSpc>
                <a:spcPct val="135000"/>
              </a:lnSpc>
              <a:spcAft>
                <a:spcPts val="200"/>
              </a:spcAft>
            </a:pPr>
            <a:r>
              <a:rPr lang="en-US" sz="1400" b="1">
                <a:solidFill>
                  <a:srgbClr val="666666">
                    <a:alpha val="100000"/>
                  </a:srgbClr>
                </a:solidFill>
                <a:latin typeface="华文中宋"/>
                <a:ea typeface="华文中宋"/>
                <a:cs typeface="+mn-cs"/>
              </a:rPr>
              <a:t>3. </a:t>
            </a:r>
            <a:r>
              <a:rPr lang="zh-CN" sz="1400" b="1">
                <a:solidFill>
                  <a:srgbClr val="666666">
                    <a:alpha val="100000"/>
                  </a:srgbClr>
                </a:solidFill>
                <a:latin typeface="华文中宋"/>
                <a:ea typeface="华文中宋"/>
                <a:cs typeface="+mn-cs"/>
              </a:rPr>
              <a:t>用户态程序符号表加载成功：</a:t>
            </a:r>
            <a:endParaRPr/>
          </a:p>
        </p:txBody>
      </p:sp>
      <p:sp>
        <p:nvSpPr>
          <p:cNvPr id="153" name="TextBox 7"/>
          <p:cNvSpPr txBox="1"/>
          <p:nvPr/>
        </p:nvSpPr>
        <p:spPr>
          <a:xfrm>
            <a:off x="8459830" y="3979926"/>
            <a:ext cx="5118100" cy="381000"/>
          </a:xfrm>
          <a:prstGeom prst="rect">
            <a:avLst/>
          </a:prstGeom>
          <a:noFill/>
          <a:ln/>
        </p:spPr>
        <p:txBody>
          <a:bodyPr wrap="square">
            <a:spAutoFit/>
          </a:bodyPr>
          <a:lstStyle/>
          <a:p>
            <a:pPr algn="l">
              <a:lnSpc>
                <a:spcPct val="135000"/>
              </a:lnSpc>
              <a:spcAft>
                <a:spcPts val="200"/>
              </a:spcAft>
            </a:pPr>
            <a:r>
              <a:rPr lang="en-US" sz="1400" b="1">
                <a:solidFill>
                  <a:srgbClr val="666666">
                    <a:alpha val="100000"/>
                  </a:srgbClr>
                </a:solidFill>
                <a:latin typeface="华文中宋"/>
                <a:ea typeface="华文中宋"/>
                <a:cs typeface="+mn-cs"/>
              </a:rPr>
              <a:t>4. </a:t>
            </a:r>
            <a:r>
              <a:rPr lang="zh-CN" sz="1400" b="1">
                <a:solidFill>
                  <a:srgbClr val="666666">
                    <a:alpha val="100000"/>
                  </a:srgbClr>
                </a:solidFill>
                <a:latin typeface="华文中宋"/>
                <a:ea typeface="华文中宋"/>
                <a:cs typeface="+mn-cs"/>
              </a:rPr>
              <a:t>更详细的调试过程请查看演示视频：</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测试验证：</a:t>
            </a:r>
            <a:r>
              <a:rPr lang="zh-CN" sz="2400" b="1">
                <a:solidFill>
                  <a:srgbClr val="052E68">
                    <a:alpha val="100000"/>
                  </a:srgbClr>
                </a:solidFill>
                <a:latin typeface="思源宋体 CN Heavy"/>
                <a:ea typeface="思源宋体 CN Heavy"/>
                <a:cs typeface="+mn-cs"/>
              </a:rPr>
              <a:t>异步</a:t>
            </a:r>
            <a:r>
              <a:rPr lang="en-US" sz="2400" b="1">
                <a:solidFill>
                  <a:srgbClr val="052E68">
                    <a:alpha val="100000"/>
                  </a:srgbClr>
                </a:solidFill>
                <a:latin typeface="思源宋体 CN Heavy"/>
                <a:ea typeface="思源宋体 CN Heavy"/>
                <a:cs typeface="+mn-cs"/>
              </a:rPr>
              <a:t>OS A</a:t>
            </a:r>
            <a:r>
              <a:rPr sz="2400" b="1">
                <a:solidFill>
                  <a:srgbClr val="052E68">
                    <a:alpha val="100000"/>
                  </a:srgbClr>
                </a:solidFill>
                <a:latin typeface="思源宋体 CN Heavy"/>
                <a:ea typeface="思源宋体 CN Heavy"/>
                <a:cs typeface="+mn-cs"/>
              </a:rPr>
              <a:t>sync-os</a:t>
            </a:r>
            <a:endParaRPr/>
          </a:p>
        </p:txBody>
      </p:sp>
      <p:sp>
        <p:nvSpPr>
          <p:cNvPr id="156" name="TextBox 7"/>
          <p:cNvSpPr txBox="1"/>
          <p:nvPr/>
        </p:nvSpPr>
        <p:spPr>
          <a:xfrm>
            <a:off x="609904" y="1378000"/>
            <a:ext cx="10972800" cy="419100"/>
          </a:xfrm>
          <a:prstGeom prst="rect">
            <a:avLst/>
          </a:prstGeom>
          <a:noFill/>
        </p:spPr>
        <p:txBody>
          <a:bodyPr wrap="square">
            <a:spAutoFit/>
          </a:bodyPr>
          <a:lstStyle/>
          <a:p>
            <a:pPr algn="l">
              <a:lnSpc>
                <a:spcPct val="135000"/>
              </a:lnSpc>
              <a:spcAft>
                <a:spcPts val="200"/>
              </a:spcAft>
            </a:pPr>
            <a:r>
              <a:rPr sz="1600" b="0">
                <a:solidFill>
                  <a:srgbClr val="666666">
                    <a:alpha val="100000"/>
                  </a:srgbClr>
                </a:solidFill>
                <a:latin typeface="华文中宋"/>
                <a:ea typeface="华文中宋"/>
                <a:cs typeface="+mn-cs"/>
              </a:rPr>
              <a:t>验证</a:t>
            </a:r>
            <a:r>
              <a:rPr lang="zh-CN" sz="1600" b="0">
                <a:solidFill>
                  <a:srgbClr val="666666">
                    <a:alpha val="100000"/>
                  </a:srgbClr>
                </a:solidFill>
                <a:latin typeface="华文中宋"/>
                <a:ea typeface="华文中宋"/>
                <a:cs typeface="+mn-cs"/>
              </a:rPr>
              <a:t>跨特权级的异步跟踪能力</a:t>
            </a:r>
            <a:endParaRPr/>
          </a:p>
        </p:txBody>
      </p:sp>
      <p:sp>
        <p:nvSpPr>
          <p:cNvPr id="157" name="Rectangle 8"/>
          <p:cNvSpPr/>
          <p:nvPr/>
        </p:nvSpPr>
        <p:spPr>
          <a:xfrm>
            <a:off x="728776" y="2230771"/>
            <a:ext cx="10735056" cy="2729706"/>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9"/>
          <p:cNvSpPr txBox="1"/>
          <p:nvPr/>
        </p:nvSpPr>
        <p:spPr>
          <a:xfrm>
            <a:off x="838504" y="2303923"/>
            <a:ext cx="10515600" cy="1295400"/>
          </a:xfrm>
          <a:prstGeom prst="rect">
            <a:avLst/>
          </a:prstGeom>
          <a:noFill/>
        </p:spPr>
        <p:txBody>
          <a:bodyPr wrap="square">
            <a:spAutoFit/>
          </a:bodyPr>
          <a:lstStyle/>
          <a:p>
            <a:pPr marL="285750" indent="-285750" algn="l">
              <a:lnSpc>
                <a:spcPct val="140000"/>
              </a:lnSpc>
              <a:spcAft>
                <a:spcPts val="400"/>
              </a:spcAft>
              <a:buFont typeface="Wingdings" charset="2"/>
              <a:buChar char="Ø"/>
            </a:pPr>
            <a:r>
              <a:rPr lang="en-US" sz="1800" b="1">
                <a:solidFill>
                  <a:srgbClr val="2C2C2C">
                    <a:alpha val="100000"/>
                  </a:srgbClr>
                </a:solidFill>
                <a:latin typeface="Microsoft YaHei"/>
                <a:ea typeface="Microsoft YaHei"/>
                <a:cs typeface="+mn-cs"/>
              </a:rPr>
              <a:t>A</a:t>
            </a:r>
            <a:r>
              <a:rPr sz="1800" b="1">
                <a:solidFill>
                  <a:srgbClr val="2C2C2C">
                    <a:alpha val="100000"/>
                  </a:srgbClr>
                </a:solidFill>
                <a:latin typeface="Microsoft YaHei"/>
                <a:ea typeface="Microsoft YaHei"/>
                <a:cs typeface="+mn-cs"/>
              </a:rPr>
              <a:t>sync-os</a:t>
            </a:r>
            <a:r>
              <a:rPr lang="zh-CN" sz="1800" b="1">
                <a:solidFill>
                  <a:srgbClr val="2C2C2C">
                    <a:alpha val="100000"/>
                  </a:srgbClr>
                </a:solidFill>
                <a:latin typeface="Microsoft YaHei"/>
                <a:ea typeface="Microsoft YaHei"/>
                <a:cs typeface="+mn-cs"/>
              </a:rPr>
              <a:t>：</a:t>
            </a:r>
            <a:r>
              <a:rPr sz="1800" b="0">
                <a:solidFill>
                  <a:srgbClr val="2C2C2C">
                    <a:alpha val="100000"/>
                  </a:srgbClr>
                </a:solidFill>
                <a:latin typeface="Microsoft YaHei"/>
                <a:ea typeface="Microsoft YaHei"/>
                <a:cs typeface="+mn-cs"/>
              </a:rPr>
              <a:t> 含异步运行时的 Rust </a:t>
            </a:r>
            <a:r>
              <a:rPr lang="zh-CN" sz="1800" b="0">
                <a:solidFill>
                  <a:srgbClr val="2C2C2C">
                    <a:alpha val="100000"/>
                  </a:srgbClr>
                </a:solidFill>
                <a:latin typeface="Microsoft YaHei"/>
                <a:ea typeface="Microsoft YaHei"/>
                <a:cs typeface="+mn-cs"/>
              </a:rPr>
              <a:t>组件化</a:t>
            </a:r>
            <a:r>
              <a:rPr sz="1800" b="0">
                <a:solidFill>
                  <a:srgbClr val="2C2C2C">
                    <a:alpha val="100000"/>
                  </a:srgbClr>
                </a:solidFill>
                <a:latin typeface="Microsoft YaHei"/>
                <a:ea typeface="Microsoft YaHei"/>
                <a:cs typeface="+mn-cs"/>
              </a:rPr>
              <a:t>操作系统，同时涉及特权级切换和异步任务调度。</a:t>
            </a:r>
            <a:endParaRPr/>
          </a:p>
          <a:p>
            <a:pPr marL="285750" indent="-285750" algn="l">
              <a:lnSpc>
                <a:spcPct val="140000"/>
              </a:lnSpc>
              <a:spcAft>
                <a:spcPts val="400"/>
              </a:spcAft>
              <a:buFont typeface="Wingdings" charset="2"/>
              <a:buChar char="Ø"/>
            </a:pPr>
            <a:r>
              <a:rPr lang="zh-CN" sz="1800" b="1">
                <a:solidFill>
                  <a:srgbClr val="2C2C2C">
                    <a:alpha val="100000"/>
                  </a:srgbClr>
                </a:solidFill>
                <a:latin typeface="Microsoft YaHei"/>
                <a:ea typeface="Microsoft YaHei"/>
                <a:cs typeface="+mn-cs"/>
              </a:rPr>
              <a:t>测试目标：</a:t>
            </a:r>
            <a:r>
              <a:rPr lang="en-US" sz="1800" b="0">
                <a:solidFill>
                  <a:srgbClr val="2C2C2C">
                    <a:alpha val="100000"/>
                  </a:srgbClr>
                </a:solidFill>
                <a:latin typeface="Microsoft YaHei"/>
                <a:ea typeface="Microsoft YaHei"/>
                <a:cs typeface="+mn-cs"/>
              </a:rPr>
              <a:t>pipetest —— Async-os </a:t>
            </a:r>
            <a:r>
              <a:rPr lang="zh-CN" sz="1800" b="0">
                <a:solidFill>
                  <a:srgbClr val="2C2C2C">
                    <a:alpha val="100000"/>
                  </a:srgbClr>
                </a:solidFill>
                <a:latin typeface="Microsoft YaHei"/>
                <a:ea typeface="Microsoft YaHei"/>
                <a:cs typeface="+mn-cs"/>
              </a:rPr>
              <a:t>自带的管道读写测试程序，覆盖</a:t>
            </a:r>
            <a:r>
              <a:rPr lang="zh-CN" sz="1800" b="1">
                <a:solidFill>
                  <a:srgbClr val="C00000">
                    <a:alpha val="100000"/>
                  </a:srgbClr>
                </a:solidFill>
                <a:latin typeface="Microsoft YaHei"/>
                <a:ea typeface="Microsoft YaHei"/>
                <a:cs typeface="+mn-cs"/>
              </a:rPr>
              <a:t>用户态协程、异步系统调用、特权级切换</a:t>
            </a:r>
            <a:r>
              <a:rPr lang="zh-CN" sz="1800" b="0">
                <a:solidFill>
                  <a:srgbClr val="2C2C2C">
                    <a:alpha val="100000"/>
                  </a:srgbClr>
                </a:solidFill>
                <a:latin typeface="Microsoft YaHei"/>
                <a:ea typeface="Microsoft YaHei"/>
                <a:cs typeface="+mn-cs"/>
              </a:rPr>
              <a:t>。</a:t>
            </a:r>
            <a:endParaRPr/>
          </a:p>
        </p:txBody>
      </p:sp>
      <p:sp>
        <p:nvSpPr>
          <p:cNvPr id="159" name="TextBox 11"/>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lang="en-US" sz="1100" b="0">
                <a:solidFill>
                  <a:srgbClr val="666666">
                    <a:alpha val="100000"/>
                  </a:srgbClr>
                </a:solidFill>
                <a:latin typeface="华文中宋"/>
                <a:ea typeface="HarmonyOS Sans SC"/>
                <a:cs typeface="+mn-cs"/>
              </a:rPr>
              <a:t>20</a:t>
            </a:r>
            <a:endParaRPr/>
          </a:p>
        </p:txBody>
      </p:sp>
      <p:sp>
        <p:nvSpPr>
          <p:cNvPr id="160" name="文本框 159"/>
          <p:cNvSpPr txBox="1"/>
          <p:nvPr/>
        </p:nvSpPr>
        <p:spPr>
          <a:xfrm>
            <a:off x="1184496" y="3546098"/>
            <a:ext cx="9804400" cy="1327150"/>
          </a:xfrm>
          <a:prstGeom prst="rect">
            <a:avLst/>
          </a:prstGeom>
          <a:ln w="6350">
            <a:prstDash val="solid"/>
          </a:ln>
        </p:spPr>
        <p:txBody>
          <a:bodyPr wrap="square">
            <a:spAutoFit/>
          </a:bodyPr>
          <a:lstStyle/>
          <a:p>
            <a:pPr marL="285750" lvl="0" indent="-285750" algn="l" defTabSz="914400" hangingPunct="1">
              <a:lnSpc>
                <a:spcPct val="150000"/>
              </a:lnSpc>
              <a:buFont typeface="Arial" charset="0"/>
              <a:buChar char="•"/>
              <a:defRPr sz="1800">
                <a:solidFill>
                  <a:schemeClr val="tx1">
                    <a:alpha val="100000"/>
                  </a:schemeClr>
                </a:solidFill>
                <a:latin typeface="Roboto"/>
                <a:ea typeface="HarmonyOS Sans SC"/>
                <a:cs typeface="+mn-cs"/>
              </a:defRPr>
            </a:pPr>
            <a:r>
              <a:rPr lang="zh-CN" sz="1800" b="1" i="0" u="none" strike="noStrike">
                <a:solidFill>
                  <a:srgbClr val="666666">
                    <a:alpha val="100000"/>
                  </a:srgbClr>
                </a:solidFill>
                <a:latin typeface="华文中宋"/>
                <a:ea typeface="华文中宋"/>
                <a:cs typeface="+mn-cs"/>
              </a:rPr>
              <a:t>pipe_test 创建两个异步任务：reader（读管道）、writer（写管道）</a:t>
            </a:r>
            <a:endParaRPr sz="1800">
              <a:solidFill>
                <a:schemeClr val="tx1">
                  <a:alpha val="100000"/>
                </a:schemeClr>
              </a:solidFill>
              <a:latin typeface="Roboto"/>
              <a:ea typeface="HarmonyOS Sans SC"/>
              <a:cs typeface="+mn-cs"/>
            </a:endParaRPr>
          </a:p>
          <a:p>
            <a:pPr marL="285750" lvl="0" indent="-285750" algn="l" defTabSz="914400" hangingPunct="1">
              <a:lnSpc>
                <a:spcPct val="150000"/>
              </a:lnSpc>
              <a:buFont typeface="Arial" charset="0"/>
              <a:buChar char="•"/>
              <a:defRPr sz="1800">
                <a:solidFill>
                  <a:schemeClr val="tx1">
                    <a:alpha val="100000"/>
                  </a:schemeClr>
                </a:solidFill>
                <a:latin typeface="Roboto"/>
                <a:ea typeface="HarmonyOS Sans SC"/>
                <a:cs typeface="+mn-cs"/>
              </a:defRPr>
            </a:pPr>
            <a:r>
              <a:rPr lang="zh-CN" sz="1800" b="1" i="0" u="none" strike="noStrike">
                <a:solidFill>
                  <a:srgbClr val="666666">
                    <a:alpha val="100000"/>
                  </a:srgbClr>
                </a:solidFill>
                <a:latin typeface="华文中宋"/>
                <a:ea typeface="华文中宋"/>
                <a:cs typeface="+mn-cs"/>
              </a:rPr>
              <a:t>四个断点打在两个 spawn 点（即 </a:t>
            </a:r>
            <a:r>
              <a:rPr lang="zh-CN" sz="1800" b="1" i="0" u="none" strike="noStrike">
                <a:solidFill>
                  <a:srgbClr val="C00000">
                    <a:alpha val="100000"/>
                  </a:srgbClr>
                </a:solidFill>
                <a:latin typeface="华文中宋"/>
                <a:ea typeface="华文中宋"/>
                <a:cs typeface="+mn-cs"/>
              </a:rPr>
              <a:t>创建异步任务的入口</a:t>
            </a:r>
            <a:r>
              <a:rPr lang="zh-CN" sz="1800" b="1" i="0" u="none" strike="noStrike">
                <a:solidFill>
                  <a:srgbClr val="666666">
                    <a:alpha val="100000"/>
                  </a:srgbClr>
                </a:solidFill>
                <a:latin typeface="华文中宋"/>
                <a:ea typeface="华文中宋"/>
                <a:cs typeface="+mn-cs"/>
              </a:rPr>
              <a:t>）和两个协程入口（即</a:t>
            </a:r>
            <a:r>
              <a:rPr lang="en-US" sz="1800" b="1" i="0" u="none" strike="noStrike">
                <a:solidFill>
                  <a:srgbClr val="666666">
                    <a:alpha val="100000"/>
                  </a:srgbClr>
                </a:solidFill>
                <a:latin typeface="华文中宋"/>
                <a:ea typeface="华文中宋"/>
                <a:cs typeface="+mn-cs"/>
              </a:rPr>
              <a:t> </a:t>
            </a:r>
            <a:r>
              <a:rPr lang="zh-CN" sz="1800" b="1" i="0" u="none" strike="noStrike">
                <a:solidFill>
                  <a:srgbClr val="C00000">
                    <a:alpha val="100000"/>
                  </a:srgbClr>
                </a:solidFill>
                <a:latin typeface="华文中宋"/>
                <a:ea typeface="华文中宋"/>
                <a:cs typeface="+mn-cs"/>
              </a:rPr>
              <a:t>运行异步任务的入口</a:t>
            </a:r>
            <a:r>
              <a:rPr lang="zh-CN" sz="1800" b="1" i="0" u="none" strike="noStrike">
                <a:solidFill>
                  <a:srgbClr val="666666">
                    <a:alpha val="100000"/>
                  </a:srgbClr>
                </a:solidFill>
                <a:latin typeface="华文中宋"/>
                <a:ea typeface="华文中宋"/>
                <a:cs typeface="+mn-cs"/>
              </a:rPr>
              <a:t>），观察不同执行阶段的树形态</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TextBox 6"/>
          <p:cNvSpPr txBox="1"/>
          <p:nvPr/>
        </p:nvSpPr>
        <p:spPr>
          <a:xfrm>
            <a:off x="609904" y="786384"/>
            <a:ext cx="10972800" cy="584200"/>
          </a:xfrm>
          <a:prstGeom prst="rect">
            <a:avLst/>
          </a:prstGeom>
          <a:noFill/>
        </p:spPr>
        <p:txBody>
          <a:bodyPr wrap="square">
            <a:spAutoFit/>
          </a:bodyPr>
          <a:lstStyle/>
          <a:p>
            <a:pPr algn="l">
              <a:lnSpc>
                <a:spcPct val="135000"/>
              </a:lnSpc>
              <a:spcAft>
                <a:spcPts val="200"/>
              </a:spcAft>
            </a:pPr>
            <a:r>
              <a:rPr sz="2400" b="1">
                <a:solidFill>
                  <a:srgbClr val="052E68">
                    <a:alpha val="100000"/>
                  </a:srgbClr>
                </a:solidFill>
                <a:latin typeface="思源宋体 CN Heavy"/>
                <a:ea typeface="思源宋体 CN Heavy"/>
                <a:cs typeface="+mn-cs"/>
              </a:rPr>
              <a:t>测试验证：</a:t>
            </a:r>
            <a:r>
              <a:rPr lang="zh-CN" sz="2400" b="1">
                <a:solidFill>
                  <a:srgbClr val="052E68">
                    <a:alpha val="100000"/>
                  </a:srgbClr>
                </a:solidFill>
                <a:latin typeface="思源宋体 CN Heavy"/>
                <a:ea typeface="思源宋体 CN Heavy"/>
                <a:cs typeface="+mn-cs"/>
              </a:rPr>
              <a:t>异步</a:t>
            </a:r>
            <a:r>
              <a:rPr lang="en-US" sz="2400" b="1">
                <a:solidFill>
                  <a:srgbClr val="052E68">
                    <a:alpha val="100000"/>
                  </a:srgbClr>
                </a:solidFill>
                <a:latin typeface="思源宋体 CN Heavy"/>
                <a:ea typeface="思源宋体 CN Heavy"/>
                <a:cs typeface="+mn-cs"/>
              </a:rPr>
              <a:t>OS A</a:t>
            </a:r>
            <a:r>
              <a:rPr sz="2400" b="1">
                <a:solidFill>
                  <a:srgbClr val="052E68">
                    <a:alpha val="100000"/>
                  </a:srgbClr>
                </a:solidFill>
                <a:latin typeface="思源宋体 CN Heavy"/>
                <a:ea typeface="思源宋体 CN Heavy"/>
                <a:cs typeface="+mn-cs"/>
              </a:rPr>
              <a:t>sync-os</a:t>
            </a:r>
            <a:endParaRPr/>
          </a:p>
        </p:txBody>
      </p:sp>
      <p:sp>
        <p:nvSpPr>
          <p:cNvPr id="163" name="TextBox 11"/>
          <p:cNvSpPr txBox="1"/>
          <p:nvPr/>
        </p:nvSpPr>
        <p:spPr>
          <a:xfrm>
            <a:off x="11384280" y="6406388"/>
            <a:ext cx="457200" cy="254000"/>
          </a:xfrm>
          <a:prstGeom prst="rect">
            <a:avLst/>
          </a:prstGeom>
          <a:noFill/>
        </p:spPr>
        <p:txBody>
          <a:bodyPr wrap="square" lIns="109728" tIns="54864" rIns="109728" bIns="36576" anchor="ctr">
            <a:spAutoFit/>
          </a:bodyPr>
          <a:lstStyle/>
          <a:p>
            <a:pPr algn="r">
              <a:spcAft>
                <a:spcPts val="0"/>
              </a:spcAft>
            </a:pPr>
            <a:r>
              <a:rPr lang="en-US" sz="1100" b="0">
                <a:solidFill>
                  <a:srgbClr val="666666">
                    <a:alpha val="100000"/>
                  </a:srgbClr>
                </a:solidFill>
                <a:latin typeface="华文中宋"/>
                <a:ea typeface="HarmonyOS Sans SC"/>
                <a:cs typeface="+mn-cs"/>
              </a:rPr>
              <a:t>21</a:t>
            </a:r>
            <a:endParaRPr/>
          </a:p>
        </p:txBody>
      </p:sp>
      <p:pic>
        <p:nvPicPr>
          <p:cNvPr id="164" name="图片 163"/>
          <p:cNvPicPr>
            <a:picLocks noChangeAspect="1"/>
          </p:cNvPicPr>
          <p:nvPr/>
        </p:nvPicPr>
        <p:blipFill>
          <a:blip r:embed="rId2"/>
          <a:srcRect t="10145" r="21187" b="1732"/>
          <a:stretch>
            <a:fillRect/>
          </a:stretch>
        </p:blipFill>
        <p:spPr>
          <a:xfrm>
            <a:off x="472731" y="1370584"/>
            <a:ext cx="8269142" cy="5385900"/>
          </a:xfrm>
          <a:prstGeom prst="rect">
            <a:avLst/>
          </a:prstGeom>
        </p:spPr>
      </p:pic>
      <p:sp>
        <p:nvSpPr>
          <p:cNvPr id="165" name="矩形 164"/>
          <p:cNvSpPr/>
          <p:nvPr/>
        </p:nvSpPr>
        <p:spPr>
          <a:xfrm>
            <a:off x="585420" y="1628994"/>
            <a:ext cx="7992250" cy="237561"/>
          </a:xfrm>
          <a:prstGeom prst="rect">
            <a:avLst/>
          </a:prstGeom>
          <a:noFill/>
          <a:ln w="12700">
            <a:solidFill>
              <a:srgbClr val="FF0000">
                <a:alpha val="100000"/>
              </a:srgbClr>
            </a:solidFill>
            <a:prstDash val="sysDash"/>
            <a:miter lim="800000"/>
          </a:ln>
        </p:spPr>
        <p:txBody>
          <a:bodyPr anchor="ctr"/>
          <a:lstStyle/>
          <a:p>
            <a:pPr algn="ctr"/>
            <a:endParaRPr/>
          </a:p>
        </p:txBody>
      </p:sp>
      <p:sp>
        <p:nvSpPr>
          <p:cNvPr id="166" name="文本框 165"/>
          <p:cNvSpPr txBox="1"/>
          <p:nvPr/>
        </p:nvSpPr>
        <p:spPr>
          <a:xfrm>
            <a:off x="3472754" y="1595374"/>
            <a:ext cx="5759450" cy="304800"/>
          </a:xfrm>
          <a:prstGeom prst="rect">
            <a:avLst/>
          </a:prstGeom>
          <a:ln w="6350">
            <a:prstDash val="solid"/>
          </a:ln>
        </p:spPr>
        <p:txBody>
          <a:bodyPr wrap="none">
            <a:spAutoFit/>
          </a:bodyPr>
          <a:lstStyle/>
          <a:p>
            <a:pPr marL="0" lvl="0" algn="l" defTabSz="914400" hangingPunct="1">
              <a:lnSpc>
                <a:spcPct val="100000"/>
              </a:lnSpc>
              <a:defRPr sz="1800">
                <a:solidFill>
                  <a:schemeClr val="tx1">
                    <a:alpha val="100000"/>
                  </a:schemeClr>
                </a:solidFill>
                <a:latin typeface="Roboto"/>
                <a:ea typeface="HarmonyOS Sans SC"/>
                <a:cs typeface="+mn-cs"/>
              </a:defRPr>
            </a:pPr>
            <a:r>
              <a:rPr lang="zh-CN" sz="1400" b="1" i="0" u="none" strike="noStrike">
                <a:solidFill>
                  <a:srgbClr val="666666">
                    <a:alpha val="100000"/>
                  </a:srgbClr>
                </a:solidFill>
                <a:highlight>
                  <a:srgbClr val="FFFF00">
                    <a:alpha val="100000"/>
                  </a:srgbClr>
                </a:highlight>
                <a:latin typeface="华文中宋"/>
                <a:ea typeface="华文中宋"/>
                <a:cs typeface="+mn-cs"/>
              </a:rPr>
              <a:t>1. 树根：内核协程 user_task_top（CID:1, Poll:87）——反复驱动用户任务</a:t>
            </a:r>
            <a:endParaRPr sz="1800">
              <a:solidFill>
                <a:schemeClr val="tx1">
                  <a:alpha val="100000"/>
                </a:schemeClr>
              </a:solidFill>
              <a:latin typeface="Roboto"/>
              <a:ea typeface="HarmonyOS Sans SC"/>
              <a:cs typeface="+mn-cs"/>
            </a:endParaRPr>
          </a:p>
        </p:txBody>
      </p:sp>
      <p:sp>
        <p:nvSpPr>
          <p:cNvPr id="167" name="矩形 166"/>
          <p:cNvSpPr/>
          <p:nvPr/>
        </p:nvSpPr>
        <p:spPr>
          <a:xfrm>
            <a:off x="3349131" y="4063534"/>
            <a:ext cx="4664568" cy="1059906"/>
          </a:xfrm>
          <a:prstGeom prst="rect">
            <a:avLst/>
          </a:prstGeom>
          <a:noFill/>
          <a:ln w="12700">
            <a:solidFill>
              <a:srgbClr val="FF0000">
                <a:alpha val="100000"/>
              </a:srgbClr>
            </a:solidFill>
            <a:prstDash val="sysDash"/>
            <a:miter lim="800000"/>
          </a:ln>
        </p:spPr>
        <p:txBody>
          <a:bodyPr anchor="ctr"/>
          <a:lstStyle/>
          <a:p>
            <a:pPr algn="ctr"/>
            <a:endParaRPr/>
          </a:p>
        </p:txBody>
      </p:sp>
      <p:sp>
        <p:nvSpPr>
          <p:cNvPr id="168" name="矩形 167"/>
          <p:cNvSpPr/>
          <p:nvPr/>
        </p:nvSpPr>
        <p:spPr>
          <a:xfrm>
            <a:off x="3349131" y="5123440"/>
            <a:ext cx="4664567" cy="720531"/>
          </a:xfrm>
          <a:prstGeom prst="rect">
            <a:avLst/>
          </a:prstGeom>
          <a:noFill/>
          <a:ln w="12700">
            <a:solidFill>
              <a:srgbClr val="FF0000">
                <a:alpha val="100000"/>
              </a:srgbClr>
            </a:solidFill>
            <a:prstDash val="sysDash"/>
            <a:miter lim="800000"/>
          </a:ln>
        </p:spPr>
        <p:txBody>
          <a:bodyPr anchor="ctr"/>
          <a:lstStyle/>
          <a:p>
            <a:pPr algn="ctr"/>
            <a:endParaRPr/>
          </a:p>
        </p:txBody>
      </p:sp>
      <p:sp>
        <p:nvSpPr>
          <p:cNvPr id="169" name="文本框 168"/>
          <p:cNvSpPr txBox="1"/>
          <p:nvPr/>
        </p:nvSpPr>
        <p:spPr>
          <a:xfrm>
            <a:off x="8013699" y="4441087"/>
            <a:ext cx="3111500" cy="304800"/>
          </a:xfrm>
          <a:prstGeom prst="rect">
            <a:avLst/>
          </a:prstGeom>
          <a:ln w="6350">
            <a:prstDash val="solid"/>
          </a:ln>
        </p:spPr>
        <p:txBody>
          <a:bodyPr wrap="none">
            <a:spAutoFit/>
          </a:bodyPr>
          <a:lstStyle/>
          <a:p>
            <a:pPr marL="0" lvl="0" algn="l" defTabSz="914400" hangingPunct="1">
              <a:lnSpc>
                <a:spcPct val="100000"/>
              </a:lnSpc>
              <a:defRPr sz="1800">
                <a:solidFill>
                  <a:schemeClr val="tx1">
                    <a:alpha val="100000"/>
                  </a:schemeClr>
                </a:solidFill>
                <a:latin typeface="Roboto"/>
                <a:ea typeface="HarmonyOS Sans SC"/>
                <a:cs typeface="+mn-cs"/>
              </a:defRPr>
            </a:pPr>
            <a:r>
              <a:rPr lang="en-US" sz="1400" b="1" i="0" u="none" strike="noStrike">
                <a:solidFill>
                  <a:srgbClr val="666666">
                    <a:alpha val="100000"/>
                  </a:srgbClr>
                </a:solidFill>
                <a:highlight>
                  <a:srgbClr val="FFFF00">
                    <a:alpha val="100000"/>
                  </a:srgbClr>
                </a:highlight>
                <a:latin typeface="华文中宋"/>
                <a:ea typeface="华文中宋"/>
                <a:cs typeface="+mn-cs"/>
              </a:rPr>
              <a:t>2</a:t>
            </a:r>
            <a:r>
              <a:rPr lang="zh-CN" sz="1400" b="1" i="0" u="none" strike="noStrike">
                <a:solidFill>
                  <a:srgbClr val="666666">
                    <a:alpha val="100000"/>
                  </a:srgbClr>
                </a:solidFill>
                <a:highlight>
                  <a:srgbClr val="FFFF00">
                    <a:alpha val="100000"/>
                  </a:srgbClr>
                </a:highlight>
                <a:latin typeface="华文中宋"/>
                <a:ea typeface="华文中宋"/>
                <a:cs typeface="+mn-cs"/>
              </a:rPr>
              <a:t>. spawn reader 创建的任务包装</a:t>
            </a:r>
            <a:r>
              <a:rPr lang="en-US" sz="1400" b="1" i="0" u="none" strike="noStrike">
                <a:solidFill>
                  <a:srgbClr val="666666">
                    <a:alpha val="100000"/>
                  </a:srgbClr>
                </a:solidFill>
                <a:highlight>
                  <a:srgbClr val="FFFF00">
                    <a:alpha val="100000"/>
                  </a:srgbClr>
                </a:highlight>
                <a:latin typeface="华文中宋"/>
                <a:ea typeface="华文中宋"/>
                <a:cs typeface="+mn-cs"/>
              </a:rPr>
              <a:t> + </a:t>
            </a:r>
            <a:r>
              <a:rPr lang="zh-CN" sz="1400" b="1" i="0" u="none" strike="noStrike">
                <a:solidFill>
                  <a:srgbClr val="666666">
                    <a:alpha val="100000"/>
                  </a:srgbClr>
                </a:solidFill>
                <a:highlight>
                  <a:srgbClr val="FFFF00">
                    <a:alpha val="100000"/>
                  </a:srgbClr>
                </a:highlight>
                <a:latin typeface="华文中宋"/>
                <a:ea typeface="华文中宋"/>
                <a:cs typeface="+mn-cs"/>
              </a:rPr>
              <a:t>协程</a:t>
            </a:r>
            <a:endParaRPr/>
          </a:p>
        </p:txBody>
      </p:sp>
      <p:sp>
        <p:nvSpPr>
          <p:cNvPr id="170" name="文本框 169"/>
          <p:cNvSpPr txBox="1"/>
          <p:nvPr/>
        </p:nvSpPr>
        <p:spPr>
          <a:xfrm>
            <a:off x="8013699" y="5294497"/>
            <a:ext cx="2171700" cy="304800"/>
          </a:xfrm>
          <a:prstGeom prst="rect">
            <a:avLst/>
          </a:prstGeom>
          <a:ln w="6350">
            <a:prstDash val="solid"/>
          </a:ln>
        </p:spPr>
        <p:txBody>
          <a:bodyPr wrap="none">
            <a:spAutoFit/>
          </a:bodyPr>
          <a:lstStyle/>
          <a:p>
            <a:pPr marL="0" lvl="0" algn="l" defTabSz="914400" hangingPunct="1">
              <a:lnSpc>
                <a:spcPct val="100000"/>
              </a:lnSpc>
              <a:defRPr sz="1800">
                <a:solidFill>
                  <a:schemeClr val="tx1">
                    <a:alpha val="100000"/>
                  </a:schemeClr>
                </a:solidFill>
                <a:latin typeface="Roboto"/>
                <a:ea typeface="HarmonyOS Sans SC"/>
                <a:cs typeface="+mn-cs"/>
              </a:defRPr>
            </a:pPr>
            <a:r>
              <a:rPr lang="en-US" sz="1400" b="1" i="0" u="none" strike="noStrike">
                <a:solidFill>
                  <a:srgbClr val="666666">
                    <a:alpha val="100000"/>
                  </a:srgbClr>
                </a:solidFill>
                <a:highlight>
                  <a:srgbClr val="FFFF00">
                    <a:alpha val="100000"/>
                  </a:srgbClr>
                </a:highlight>
                <a:latin typeface="华文中宋"/>
                <a:ea typeface="华文中宋"/>
                <a:cs typeface="+mn-cs"/>
              </a:rPr>
              <a:t>3</a:t>
            </a:r>
            <a:r>
              <a:rPr lang="zh-CN" sz="1400" b="1" i="0" u="none" strike="noStrike">
                <a:solidFill>
                  <a:srgbClr val="666666">
                    <a:alpha val="100000"/>
                  </a:srgbClr>
                </a:solidFill>
                <a:highlight>
                  <a:srgbClr val="FFFF00">
                    <a:alpha val="100000"/>
                  </a:srgbClr>
                </a:highlight>
                <a:latin typeface="华文中宋"/>
                <a:ea typeface="华文中宋"/>
                <a:cs typeface="+mn-cs"/>
              </a:rPr>
              <a:t>. spawn writer 创建的任务</a:t>
            </a:r>
            <a:endParaRPr/>
          </a:p>
        </p:txBody>
      </p:sp>
      <p:sp>
        <p:nvSpPr>
          <p:cNvPr id="171" name="矩形 170"/>
          <p:cNvSpPr/>
          <p:nvPr/>
        </p:nvSpPr>
        <p:spPr>
          <a:xfrm>
            <a:off x="597204" y="6122508"/>
            <a:ext cx="7992250" cy="584199"/>
          </a:xfrm>
          <a:prstGeom prst="rect">
            <a:avLst/>
          </a:prstGeom>
          <a:noFill/>
          <a:ln w="12700">
            <a:solidFill>
              <a:srgbClr val="FF0000">
                <a:alpha val="100000"/>
              </a:srgbClr>
            </a:solidFill>
            <a:prstDash val="sysDash"/>
            <a:miter lim="800000"/>
          </a:ln>
        </p:spPr>
        <p:txBody>
          <a:bodyPr anchor="ctr"/>
          <a:lstStyle/>
          <a:p>
            <a:pPr algn="ctr"/>
            <a:endParaRPr/>
          </a:p>
        </p:txBody>
      </p:sp>
      <p:sp>
        <p:nvSpPr>
          <p:cNvPr id="172" name="文本框 171"/>
          <p:cNvSpPr txBox="1"/>
          <p:nvPr/>
        </p:nvSpPr>
        <p:spPr>
          <a:xfrm>
            <a:off x="3922532" y="6262208"/>
            <a:ext cx="7842250" cy="304800"/>
          </a:xfrm>
          <a:prstGeom prst="rect">
            <a:avLst/>
          </a:prstGeom>
          <a:ln w="6350">
            <a:prstDash val="solid"/>
          </a:ln>
        </p:spPr>
        <p:txBody>
          <a:bodyPr wrap="none">
            <a:spAutoFit/>
          </a:bodyPr>
          <a:lstStyle/>
          <a:p>
            <a:pPr marL="0" lvl="0" algn="l" defTabSz="914400" hangingPunct="1">
              <a:lnSpc>
                <a:spcPct val="100000"/>
              </a:lnSpc>
              <a:defRPr sz="1800">
                <a:solidFill>
                  <a:schemeClr val="tx1">
                    <a:alpha val="100000"/>
                  </a:schemeClr>
                </a:solidFill>
                <a:latin typeface="Roboto"/>
                <a:ea typeface="HarmonyOS Sans SC"/>
                <a:cs typeface="+mn-cs"/>
              </a:defRPr>
            </a:pPr>
            <a:r>
              <a:rPr lang="en-US" sz="1400" b="1" i="0" u="none" strike="noStrike">
                <a:solidFill>
                  <a:srgbClr val="666666">
                    <a:alpha val="100000"/>
                  </a:srgbClr>
                </a:solidFill>
                <a:highlight>
                  <a:srgbClr val="FFFF00">
                    <a:alpha val="100000"/>
                  </a:srgbClr>
                </a:highlight>
                <a:latin typeface="华文中宋"/>
                <a:ea typeface="华文中宋"/>
                <a:cs typeface="+mn-cs"/>
              </a:rPr>
              <a:t>4</a:t>
            </a:r>
            <a:r>
              <a:rPr lang="zh-CN" sz="1400" b="1" i="0" u="none" strike="noStrike">
                <a:solidFill>
                  <a:srgbClr val="666666">
                    <a:alpha val="100000"/>
                  </a:srgbClr>
                </a:solidFill>
                <a:highlight>
                  <a:srgbClr val="FFFF00">
                    <a:alpha val="100000"/>
                  </a:srgbClr>
                </a:highlight>
                <a:latin typeface="华文中宋"/>
                <a:ea typeface="华文中宋"/>
                <a:cs typeface="+mn-cs"/>
              </a:rPr>
              <a:t>. 实例级追踪：外层</a:t>
            </a:r>
            <a:r>
              <a:rPr lang="en-US" sz="1400" b="1" i="0" u="none" strike="noStrike">
                <a:solidFill>
                  <a:srgbClr val="666666">
                    <a:alpha val="100000"/>
                  </a:srgbClr>
                </a:solidFill>
                <a:highlight>
                  <a:srgbClr val="FFFF00">
                    <a:alpha val="100000"/>
                  </a:srgbClr>
                </a:highlight>
                <a:latin typeface="华文中宋"/>
                <a:ea typeface="华文中宋"/>
                <a:cs typeface="+mn-cs"/>
              </a:rPr>
              <a:t> async block </a:t>
            </a:r>
            <a:r>
              <a:rPr lang="zh-CN" sz="1400" b="1" i="0" u="none" strike="noStrike">
                <a:solidFill>
                  <a:srgbClr val="666666">
                    <a:alpha val="100000"/>
                  </a:srgbClr>
                </a:solidFill>
                <a:highlight>
                  <a:srgbClr val="FFFF00">
                    <a:alpha val="100000"/>
                  </a:srgbClr>
                </a:highlight>
                <a:latin typeface="华文中宋"/>
                <a:ea typeface="华文中宋"/>
                <a:cs typeface="+mn-cs"/>
              </a:rPr>
              <a:t>和内层</a:t>
            </a:r>
            <a:r>
              <a:rPr lang="en-US" sz="1400" b="1" i="0" u="none" strike="noStrike">
                <a:solidFill>
                  <a:srgbClr val="666666">
                    <a:alpha val="100000"/>
                  </a:srgbClr>
                </a:solidFill>
                <a:highlight>
                  <a:srgbClr val="FFFF00">
                    <a:alpha val="100000"/>
                  </a:srgbClr>
                </a:highlight>
                <a:latin typeface="华文中宋"/>
                <a:ea typeface="华文中宋"/>
                <a:cs typeface="+mn-cs"/>
              </a:rPr>
              <a:t> reader </a:t>
            </a:r>
            <a:r>
              <a:rPr lang="zh-CN" sz="1400" b="1" i="0" u="none" strike="noStrike">
                <a:solidFill>
                  <a:srgbClr val="666666">
                    <a:alpha val="100000"/>
                  </a:srgbClr>
                </a:solidFill>
                <a:highlight>
                  <a:srgbClr val="FFFF00">
                    <a:alpha val="100000"/>
                  </a:srgbClr>
                </a:highlight>
                <a:latin typeface="华文中宋"/>
                <a:ea typeface="华文中宋"/>
                <a:cs typeface="+mn-cs"/>
              </a:rPr>
              <a:t>协程本体被识别为两个独立实例，各记各的</a:t>
            </a:r>
            <a:r>
              <a:rPr lang="en-US" sz="1400" b="1" i="0" u="none" strike="noStrike">
                <a:solidFill>
                  <a:srgbClr val="666666">
                    <a:alpha val="100000"/>
                  </a:srgbClr>
                </a:solidFill>
                <a:highlight>
                  <a:srgbClr val="FFFF00">
                    <a:alpha val="100000"/>
                  </a:srgbClr>
                </a:highlight>
                <a:latin typeface="华文中宋"/>
                <a:ea typeface="华文中宋"/>
                <a:cs typeface="+mn-cs"/>
              </a:rPr>
              <a:t> poll </a:t>
            </a:r>
            <a:r>
              <a:rPr lang="zh-CN" sz="1400" b="1" i="0" u="none" strike="noStrike">
                <a:solidFill>
                  <a:srgbClr val="666666">
                    <a:alpha val="100000"/>
                  </a:srgbClr>
                </a:solidFill>
                <a:highlight>
                  <a:srgbClr val="FFFF00">
                    <a:alpha val="100000"/>
                  </a:srgbClr>
                </a:highlight>
                <a:latin typeface="华文中宋"/>
                <a:ea typeface="华文中宋"/>
                <a:cs typeface="+mn-cs"/>
              </a:rPr>
              <a:t>次数</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age Title"/>
          <p:cNvSpPr>
            <a:spLocks noGrp="1"/>
          </p:cNvSpPr>
          <p:nvPr/>
        </p:nvSpPr>
        <p:spPr>
          <a:xfrm>
            <a:off x="609886" y="786384"/>
            <a:ext cx="10972800" cy="548640"/>
          </a:xfrm>
          <a:prstGeom prst="rect">
            <a:avLst/>
          </a:prstGeom>
          <a:noFill/>
          <a:ln w="0">
            <a:noFill/>
            <a:prstDash val="solid"/>
          </a:ln>
        </p:spPr>
        <p:txBody>
          <a:bodyPr anchor="ctr"/>
          <a:lstStyle/>
          <a:p>
            <a:pPr algn="l">
              <a:buNone/>
              <a:defRPr sz="2400" b="1">
                <a:solidFill>
                  <a:srgbClr val="052E68">
                    <a:alpha val="100000"/>
                  </a:srgbClr>
                </a:solidFill>
                <a:latin typeface="思源宋体 CN Heavy"/>
                <a:ea typeface="思源宋体 CN Heavy"/>
                <a:cs typeface="思源宋体 CN Heavy"/>
              </a:defRPr>
            </a:pPr>
            <a:r>
              <a:rPr lang="zh-CN"/>
              <a:t>补充</a:t>
            </a:r>
            <a:r>
              <a:t>：线上调试平台</a:t>
            </a:r>
            <a:r>
              <a:rPr lang="zh-CN"/>
              <a:t>尝试</a:t>
            </a:r>
            <a:endParaRPr/>
          </a:p>
        </p:txBody>
      </p:sp>
      <p:sp>
        <p:nvSpPr>
          <p:cNvPr id="175" name="Page Subtitle"/>
          <p:cNvSpPr>
            <a:spLocks noGrp="1"/>
          </p:cNvSpPr>
          <p:nvPr/>
        </p:nvSpPr>
        <p:spPr>
          <a:xfrm>
            <a:off x="609886" y="1377982"/>
            <a:ext cx="10972800" cy="355567"/>
          </a:xfrm>
          <a:prstGeom prst="rect">
            <a:avLst/>
          </a:prstGeom>
          <a:noFill/>
          <a:ln w="0">
            <a:noFill/>
            <a:prstDash val="solid"/>
          </a:ln>
        </p:spPr>
        <p:txBody>
          <a:bodyPr anchor="t"/>
          <a:lstStyle/>
          <a:p>
            <a:pPr algn="l">
              <a:buNone/>
              <a:defRPr sz="1600" b="0">
                <a:solidFill>
                  <a:srgbClr val="666666">
                    <a:alpha val="100000"/>
                  </a:srgbClr>
                </a:solidFill>
                <a:latin typeface="华文中宋"/>
                <a:ea typeface="华文中宋"/>
                <a:cs typeface="华文中宋"/>
              </a:defRPr>
            </a:pPr>
            <a:r>
              <a:t>真实开发板预约调度与远程调试探索</a:t>
            </a:r>
          </a:p>
          <a:p>
            <a:pPr algn="l">
              <a:buNone/>
              <a:defRPr sz="1400" b="0">
                <a:solidFill>
                  <a:srgbClr val="444444">
                    <a:alpha val="100000"/>
                  </a:srgbClr>
                </a:solidFill>
                <a:latin typeface="华文中宋"/>
                <a:ea typeface="华文中宋"/>
                <a:cs typeface="华文中宋"/>
              </a:defRPr>
            </a:pPr>
            <a:endParaRPr/>
          </a:p>
        </p:txBody>
      </p:sp>
      <p:sp>
        <p:nvSpPr>
          <p:cNvPr id="176" name="Page Number"/>
          <p:cNvSpPr>
            <a:spLocks noGrp="1"/>
          </p:cNvSpPr>
          <p:nvPr/>
        </p:nvSpPr>
        <p:spPr>
          <a:xfrm>
            <a:off x="11384280" y="6419088"/>
            <a:ext cx="457200" cy="228600"/>
          </a:xfrm>
          <a:prstGeom prst="rect">
            <a:avLst/>
          </a:prstGeom>
          <a:noFill/>
          <a:ln w="0">
            <a:noFill/>
            <a:prstDash val="solid"/>
          </a:ln>
        </p:spPr>
        <p:txBody>
          <a:bodyPr anchor="ctr"/>
          <a:lstStyle/>
          <a:p>
            <a:pPr algn="r">
              <a:buNone/>
              <a:defRPr sz="1100" b="0">
                <a:solidFill>
                  <a:srgbClr val="666666">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t>22</a:t>
            </a:r>
          </a:p>
        </p:txBody>
      </p:sp>
      <p:sp>
        <p:nvSpPr>
          <p:cNvPr id="177" name="Platform Diagram Frame"/>
          <p:cNvSpPr>
            <a:spLocks noGrp="1"/>
          </p:cNvSpPr>
          <p:nvPr/>
        </p:nvSpPr>
        <p:spPr>
          <a:xfrm>
            <a:off x="619125" y="1924050"/>
            <a:ext cx="7000875" cy="4076700"/>
          </a:xfrm>
          <a:prstGeom prst="roundRect">
            <a:avLst>
              <a:gd name="adj" fmla="val 1869"/>
            </a:avLst>
          </a:prstGeom>
          <a:solidFill>
            <a:srgbClr val="FFFFFF"/>
          </a:solidFill>
          <a:ln w="14288">
            <a:solidFill>
              <a:srgbClr val="D5DFEC"/>
            </a:solidFill>
            <a:prstDash val="solid"/>
          </a:ln>
        </p:spPr>
        <p:txBody>
          <a:bodyPr/>
          <a:lstStyle/>
          <a:p>
            <a:endParaRPr/>
          </a:p>
        </p:txBody>
      </p:sp>
      <p:pic>
        <p:nvPicPr>
          <p:cNvPr id="178" name="图片 17"/>
          <p:cNvPicPr>
            <a:picLocks noChangeAspect="1"/>
          </p:cNvPicPr>
          <p:nvPr/>
        </p:nvPicPr>
        <p:blipFill>
          <a:blip r:embed="rId3"/>
          <a:stretch>
            <a:fillRect/>
          </a:stretch>
        </p:blipFill>
        <p:spPr>
          <a:xfrm>
            <a:off x="733425" y="2485549"/>
            <a:ext cx="6772275" cy="2934653"/>
          </a:xfrm>
          <a:prstGeom prst="rect">
            <a:avLst/>
          </a:prstGeom>
        </p:spPr>
      </p:pic>
      <p:sp>
        <p:nvSpPr>
          <p:cNvPr id="179" name="Current Capability Card"/>
          <p:cNvSpPr>
            <a:spLocks noGrp="1"/>
          </p:cNvSpPr>
          <p:nvPr/>
        </p:nvSpPr>
        <p:spPr>
          <a:xfrm>
            <a:off x="7848600" y="1924050"/>
            <a:ext cx="3992879" cy="1790700"/>
          </a:xfrm>
          <a:prstGeom prst="roundRect">
            <a:avLst>
              <a:gd name="adj" fmla="val 4255"/>
            </a:avLst>
          </a:prstGeom>
          <a:solidFill>
            <a:srgbClr val="F3F6FA"/>
          </a:solidFill>
          <a:ln w="14288">
            <a:solidFill>
              <a:srgbClr val="D5DFEC"/>
            </a:solidFill>
            <a:prstDash val="solid"/>
          </a:ln>
        </p:spPr>
        <p:txBody>
          <a:bodyPr/>
          <a:lstStyle/>
          <a:p>
            <a:endParaRPr/>
          </a:p>
        </p:txBody>
      </p:sp>
      <p:sp>
        <p:nvSpPr>
          <p:cNvPr id="180" name="Current Capability Heading"/>
          <p:cNvSpPr>
            <a:spLocks noGrp="1"/>
          </p:cNvSpPr>
          <p:nvPr/>
        </p:nvSpPr>
        <p:spPr>
          <a:xfrm>
            <a:off x="8096250" y="2085975"/>
            <a:ext cx="3009900" cy="361950"/>
          </a:xfrm>
          <a:prstGeom prst="rect">
            <a:avLst/>
          </a:prstGeom>
          <a:noFill/>
          <a:ln w="0">
            <a:noFill/>
            <a:prstDash val="solid"/>
          </a:ln>
        </p:spPr>
        <p:txBody>
          <a:bodyPr anchor="ctr"/>
          <a:lstStyle/>
          <a:p>
            <a:pPr algn="ctr">
              <a:buNone/>
              <a:defRPr sz="1725" b="1">
                <a:solidFill>
                  <a:srgbClr val="052E68"/>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pPr>
            <a:r>
              <a:t>当前能力</a:t>
            </a:r>
          </a:p>
        </p:txBody>
      </p:sp>
      <p:sp>
        <p:nvSpPr>
          <p:cNvPr id="181" name="Current Capability Body"/>
          <p:cNvSpPr>
            <a:spLocks noGrp="1"/>
          </p:cNvSpPr>
          <p:nvPr/>
        </p:nvSpPr>
        <p:spPr>
          <a:xfrm>
            <a:off x="8096250" y="2495550"/>
            <a:ext cx="3486436" cy="1028700"/>
          </a:xfrm>
          <a:prstGeom prst="rect">
            <a:avLst/>
          </a:prstGeom>
          <a:noFill/>
          <a:ln w="0">
            <a:noFill/>
            <a:prstDash val="solid"/>
          </a:ln>
        </p:spPr>
        <p:txBody>
          <a:bodyPr anchor="t"/>
          <a:lstStyle/>
          <a:p>
            <a:pPr algn="l">
              <a:buNone/>
              <a:defRPr sz="124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真实 VisionFive 2 的预约、分配与释放</a:t>
            </a:r>
          </a:p>
          <a:p>
            <a:pPr algn="l">
              <a:buNone/>
              <a:defRPr sz="124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J-Link、OpenOCD、GDB 与串口链路已建立</a:t>
            </a:r>
          </a:p>
          <a:p>
            <a:pPr algn="l">
              <a:buNone/>
              <a:defRPr sz="124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预约结束后恢复处理器状态并释放设备</a:t>
            </a:r>
          </a:p>
        </p:txBody>
      </p:sp>
      <p:sp>
        <p:nvSpPr>
          <p:cNvPr id="182" name="Exploration Card"/>
          <p:cNvSpPr>
            <a:spLocks noGrp="1"/>
          </p:cNvSpPr>
          <p:nvPr/>
        </p:nvSpPr>
        <p:spPr>
          <a:xfrm>
            <a:off x="7848600" y="3905250"/>
            <a:ext cx="3992879" cy="2095500"/>
          </a:xfrm>
          <a:prstGeom prst="roundRect">
            <a:avLst>
              <a:gd name="adj" fmla="val 3636"/>
            </a:avLst>
          </a:prstGeom>
          <a:solidFill>
            <a:srgbClr val="F3F6FA"/>
          </a:solidFill>
          <a:ln w="14288">
            <a:solidFill>
              <a:srgbClr val="D5DFEC"/>
            </a:solidFill>
            <a:prstDash val="solid"/>
          </a:ln>
        </p:spPr>
        <p:txBody>
          <a:bodyPr/>
          <a:lstStyle/>
          <a:p>
            <a:endParaRPr/>
          </a:p>
        </p:txBody>
      </p:sp>
      <p:sp>
        <p:nvSpPr>
          <p:cNvPr id="183" name="Exploration Heading"/>
          <p:cNvSpPr>
            <a:spLocks noGrp="1"/>
          </p:cNvSpPr>
          <p:nvPr/>
        </p:nvSpPr>
        <p:spPr>
          <a:xfrm>
            <a:off x="8096250" y="4076700"/>
            <a:ext cx="3009900" cy="361950"/>
          </a:xfrm>
          <a:prstGeom prst="rect">
            <a:avLst/>
          </a:prstGeom>
          <a:noFill/>
          <a:ln w="0">
            <a:noFill/>
            <a:prstDash val="solid"/>
          </a:ln>
        </p:spPr>
        <p:txBody>
          <a:bodyPr anchor="ctr"/>
          <a:lstStyle/>
          <a:p>
            <a:pPr algn="ctr">
              <a:buNone/>
              <a:defRPr sz="1725" b="1">
                <a:solidFill>
                  <a:srgbClr val="052E68"/>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pPr>
            <a:r>
              <a:t>正在尝试</a:t>
            </a:r>
          </a:p>
        </p:txBody>
      </p:sp>
      <p:sp>
        <p:nvSpPr>
          <p:cNvPr id="184" name="Exploration Body"/>
          <p:cNvSpPr>
            <a:spLocks noGrp="1"/>
          </p:cNvSpPr>
          <p:nvPr/>
        </p:nvSpPr>
        <p:spPr>
          <a:xfrm>
            <a:off x="8096250" y="4495800"/>
            <a:ext cx="3516629" cy="1304925"/>
          </a:xfrm>
          <a:prstGeom prst="rect">
            <a:avLst/>
          </a:prstGeom>
          <a:noFill/>
          <a:ln w="0">
            <a:noFill/>
            <a:prstDash val="solid"/>
          </a:ln>
        </p:spPr>
        <p:txBody>
          <a:bodyPr anchor="t"/>
          <a:lstStyle/>
          <a:p>
            <a:pPr algn="l">
              <a:buNone/>
              <a:defRPr sz="120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将 OpenOCD 启停、GDB 连接信息和串口日志纳入平台调度</a:t>
            </a:r>
          </a:p>
          <a:p>
            <a:pPr algn="l">
              <a:buNone/>
              <a:defRPr sz="120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在平台上开展远程操作系统调试</a:t>
            </a:r>
          </a:p>
          <a:p>
            <a:pPr algn="l">
              <a:buNone/>
              <a:defRPr sz="1200" b="0">
                <a:solidFill>
                  <a:srgbClr val="555555">
                    <a:alpha val="100000"/>
                  </a:srgbClr>
                </a:solidFill>
                <a:latin typeface="华文中宋" panose="02010600040101010101" pitchFamily="2" charset="-122"/>
                <a:ea typeface="华文中宋" panose="02010600040101010101" pitchFamily="2" charset="-122"/>
                <a:cs typeface="华文中宋" panose="02010600040101010101" pitchFamily="2" charset="-122"/>
              </a:defRPr>
            </a:pPr>
            <a:r>
              <a:rPr sz="1400"/>
              <a:t>• 将 xv6 调试方法扩展到 StarryOS，并结合 code-debug 验证源码断点、单步与状态切换</a:t>
            </a:r>
          </a:p>
        </p:txBody>
      </p:sp>
      <p:sp>
        <p:nvSpPr>
          <p:cNvPr id="185" name="文本框 184"/>
          <p:cNvSpPr txBox="1"/>
          <p:nvPr/>
        </p:nvSpPr>
        <p:spPr>
          <a:xfrm>
            <a:off x="2124361" y="6172202"/>
            <a:ext cx="7943850" cy="355600"/>
          </a:xfrm>
          <a:prstGeom prst="rect">
            <a:avLst/>
          </a:prstGeom>
          <a:ln w="6350">
            <a:prstDash val="solid"/>
          </a:ln>
        </p:spPr>
        <p:txBody>
          <a:bodyPr wrap="none">
            <a:spAutoFit/>
          </a:bodyPr>
          <a:lstStyle/>
          <a:p>
            <a:pPr marL="0" lvl="0" algn="l" defTabSz="914400" hangingPunct="1">
              <a:lnSpc>
                <a:spcPct val="100000"/>
              </a:lnSpc>
              <a:defRPr sz="1800">
                <a:solidFill>
                  <a:schemeClr val="tx1">
                    <a:alpha val="100000"/>
                  </a:schemeClr>
                </a:solidFill>
                <a:latin typeface="Roboto"/>
                <a:ea typeface="HarmonyOS Sans SC"/>
                <a:cs typeface="+mn-cs"/>
              </a:defRPr>
            </a:pPr>
            <a:r>
              <a:rPr lang="zh-CN" sz="1725" b="1" i="0" u="none" strike="noStrike">
                <a:solidFill>
                  <a:srgbClr val="052E68">
                    <a:alpha val="100000"/>
                  </a:srgbClr>
                </a:solidFill>
                <a:latin typeface="思源宋体 CN Heavy"/>
                <a:ea typeface="思源宋体 CN Heavy"/>
                <a:cs typeface="思源宋体 CN Heavy"/>
              </a:rPr>
              <a:t>无需购买开发板，网页预约即可远程使用 VisionFive 2 完成操作系统源码级调试</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Box 6"/>
          <p:cNvSpPr txBox="1"/>
          <p:nvPr/>
        </p:nvSpPr>
        <p:spPr>
          <a:xfrm>
            <a:off x="609904" y="800354"/>
            <a:ext cx="10972800" cy="520700"/>
          </a:xfrm>
          <a:prstGeom prst="rect">
            <a:avLst/>
          </a:prstGeom>
          <a:noFill/>
        </p:spPr>
        <p:txBody>
          <a:bodyPr wrap="square" lIns="54864" tIns="18288" rIns="54864" bIns="18288" anchor="ctr">
            <a:spAutoFit/>
          </a:bodyPr>
          <a:lstStyle/>
          <a:p>
            <a:pPr algn="l">
              <a:lnSpc>
                <a:spcPct val="135000"/>
              </a:lnSpc>
              <a:spcAft>
                <a:spcPts val="0"/>
              </a:spcAft>
            </a:pPr>
            <a:r>
              <a:rPr lang="zh-CN" sz="2400" b="1">
                <a:solidFill>
                  <a:srgbClr val="052E68">
                    <a:alpha val="100000"/>
                  </a:srgbClr>
                </a:solidFill>
                <a:latin typeface="思源宋体 CN Heavy"/>
                <a:ea typeface="思源宋体 CN Heavy"/>
                <a:cs typeface="思源宋体 CN Heavy"/>
              </a:rPr>
              <a:t>参考说明：继承前序工作，核心机制自研</a:t>
            </a:r>
            <a:endParaRPr/>
          </a:p>
        </p:txBody>
      </p:sp>
      <p:sp>
        <p:nvSpPr>
          <p:cNvPr id="188" name="TextBox 9"/>
          <p:cNvSpPr txBox="1"/>
          <p:nvPr/>
        </p:nvSpPr>
        <p:spPr>
          <a:xfrm>
            <a:off x="11384280" y="6434963"/>
            <a:ext cx="457200" cy="196850"/>
          </a:xfrm>
          <a:prstGeom prst="rect">
            <a:avLst/>
          </a:prstGeom>
          <a:noFill/>
        </p:spPr>
        <p:txBody>
          <a:bodyPr wrap="square" lIns="54864" tIns="18288" rIns="54864" bIns="18288" anchor="ctr">
            <a:spAutoFit/>
          </a:bodyPr>
          <a:lstStyle/>
          <a:p>
            <a:pPr algn="r">
              <a:spcAft>
                <a:spcPts val="0"/>
              </a:spcAft>
            </a:pPr>
            <a:r>
              <a:rPr lang="zh-CN" sz="1100" b="0">
                <a:solidFill>
                  <a:srgbClr val="666666">
                    <a:alpha val="100000"/>
                  </a:srgbClr>
                </a:solidFill>
                <a:latin typeface="华文中宋"/>
                <a:ea typeface="华文中宋"/>
                <a:cs typeface="华文中宋"/>
              </a:rPr>
              <a:t>23</a:t>
            </a:r>
            <a:endParaRPr/>
          </a:p>
        </p:txBody>
      </p:sp>
      <p:sp>
        <p:nvSpPr>
          <p:cNvPr id="189" name="文本框 188"/>
          <p:cNvSpPr txBox="1"/>
          <p:nvPr/>
        </p:nvSpPr>
        <p:spPr>
          <a:xfrm>
            <a:off x="609904" y="1489491"/>
            <a:ext cx="1835150" cy="368300"/>
          </a:xfrm>
          <a:prstGeom prst="rect">
            <a:avLst/>
          </a:prstGeom>
          <a:ln w="6350">
            <a:prstDash val="solid"/>
          </a:ln>
        </p:spPr>
        <p:txBody>
          <a:bodyPr wrap="none">
            <a:spAutoFit/>
          </a:bodyPr>
          <a:lstStyle/>
          <a:p>
            <a:pPr marL="285750" indent="-285750">
              <a:buFont typeface="Wingdings" charset="2"/>
              <a:buChar char="Ø"/>
            </a:pPr>
            <a:r>
              <a:rPr lang="zh-CN" b="1"/>
              <a:t>调试器通信层</a:t>
            </a:r>
            <a:endParaRPr/>
          </a:p>
        </p:txBody>
      </p:sp>
      <p:sp>
        <p:nvSpPr>
          <p:cNvPr id="190" name="文本框 189"/>
          <p:cNvSpPr txBox="1"/>
          <p:nvPr/>
        </p:nvSpPr>
        <p:spPr>
          <a:xfrm>
            <a:off x="1027430" y="1938555"/>
            <a:ext cx="10814050" cy="368300"/>
          </a:xfrm>
          <a:prstGeom prst="rect">
            <a:avLst/>
          </a:prstGeom>
          <a:ln w="6350">
            <a:prstDash val="solid"/>
          </a:ln>
        </p:spPr>
        <p:txBody>
          <a:bodyPr wrap="none">
            <a:spAutoFit/>
          </a:bodyPr>
          <a:lstStyle/>
          <a:p>
            <a:r>
              <a:rPr lang="en-US"/>
              <a:t>GDB/MI2 </a:t>
            </a:r>
            <a:r>
              <a:rPr lang="zh-CN"/>
              <a:t>协议驱动模块移植自开源项目</a:t>
            </a:r>
            <a:r>
              <a:rPr lang="en-US"/>
              <a:t> code-debug</a:t>
            </a:r>
            <a:r>
              <a:rPr lang="zh-CN"/>
              <a:t>：</a:t>
            </a:r>
            <a:r>
              <a:rPr lang="en-US"/>
              <a:t>https://github.com/chenzhiy2001/code-debug</a:t>
            </a:r>
            <a:endParaRPr/>
          </a:p>
        </p:txBody>
      </p:sp>
      <p:sp>
        <p:nvSpPr>
          <p:cNvPr id="191" name="文本框 190"/>
          <p:cNvSpPr txBox="1"/>
          <p:nvPr/>
        </p:nvSpPr>
        <p:spPr>
          <a:xfrm>
            <a:off x="609904" y="2387619"/>
            <a:ext cx="3206750" cy="368300"/>
          </a:xfrm>
          <a:prstGeom prst="rect">
            <a:avLst/>
          </a:prstGeom>
          <a:ln w="6350">
            <a:prstDash val="solid"/>
          </a:ln>
        </p:spPr>
        <p:txBody>
          <a:bodyPr wrap="none">
            <a:spAutoFit/>
          </a:bodyPr>
          <a:lstStyle/>
          <a:p>
            <a:pPr marL="285750" indent="-285750">
              <a:buFont typeface="Wingdings" charset="2"/>
              <a:buChar char="Ø"/>
            </a:pPr>
            <a:r>
              <a:rPr lang="zh-CN" b="1"/>
              <a:t>断点组管理与跨特权级切换</a:t>
            </a:r>
            <a:endParaRPr/>
          </a:p>
        </p:txBody>
      </p:sp>
      <p:sp>
        <p:nvSpPr>
          <p:cNvPr id="192" name="文本框 191"/>
          <p:cNvSpPr txBox="1"/>
          <p:nvPr/>
        </p:nvSpPr>
        <p:spPr>
          <a:xfrm>
            <a:off x="1027430" y="2836683"/>
            <a:ext cx="5467350" cy="368300"/>
          </a:xfrm>
          <a:prstGeom prst="rect">
            <a:avLst/>
          </a:prstGeom>
          <a:ln w="6350">
            <a:prstDash val="solid"/>
          </a:ln>
        </p:spPr>
        <p:txBody>
          <a:bodyPr wrap="none">
            <a:spAutoFit/>
          </a:bodyPr>
          <a:lstStyle/>
          <a:p>
            <a:r>
              <a:rPr lang="zh-CN"/>
              <a:t>四状态机驱动的断点组管理机制继承自</a:t>
            </a:r>
            <a:r>
              <a:rPr lang="en-US"/>
              <a:t> code-debug</a:t>
            </a:r>
            <a:endParaRPr/>
          </a:p>
        </p:txBody>
      </p:sp>
      <p:sp>
        <p:nvSpPr>
          <p:cNvPr id="193" name="文本框 192"/>
          <p:cNvSpPr txBox="1"/>
          <p:nvPr/>
        </p:nvSpPr>
        <p:spPr>
          <a:xfrm>
            <a:off x="609904" y="3285747"/>
            <a:ext cx="2063750" cy="368300"/>
          </a:xfrm>
          <a:prstGeom prst="rect">
            <a:avLst/>
          </a:prstGeom>
          <a:ln w="6350">
            <a:prstDash val="solid"/>
          </a:ln>
        </p:spPr>
        <p:txBody>
          <a:bodyPr wrap="none">
            <a:spAutoFit/>
          </a:bodyPr>
          <a:lstStyle/>
          <a:p>
            <a:pPr marL="285750" indent="-285750">
              <a:buFont typeface="Wingdings" charset="2"/>
              <a:buChar char="Ø"/>
            </a:pPr>
            <a:r>
              <a:rPr lang="zh-CN" b="1"/>
              <a:t>异步执行流还原</a:t>
            </a:r>
            <a:endParaRPr/>
          </a:p>
        </p:txBody>
      </p:sp>
      <p:sp>
        <p:nvSpPr>
          <p:cNvPr id="194" name="文本框 193"/>
          <p:cNvSpPr txBox="1"/>
          <p:nvPr/>
        </p:nvSpPr>
        <p:spPr>
          <a:xfrm>
            <a:off x="1027430" y="3654047"/>
            <a:ext cx="10814050" cy="806450"/>
          </a:xfrm>
          <a:prstGeom prst="rect">
            <a:avLst/>
          </a:prstGeom>
          <a:ln w="6350">
            <a:prstDash val="solid"/>
          </a:ln>
        </p:spPr>
        <p:txBody>
          <a:bodyPr wrap="square">
            <a:spAutoFit/>
          </a:bodyPr>
          <a:lstStyle/>
          <a:p>
            <a:pPr>
              <a:lnSpc>
                <a:spcPct val="130000"/>
              </a:lnSpc>
            </a:pPr>
            <a:r>
              <a:rPr lang="en-US"/>
              <a:t>await edge </a:t>
            </a:r>
            <a:r>
              <a:rPr lang="zh-CN"/>
              <a:t>与</a:t>
            </a:r>
            <a:r>
              <a:rPr lang="en-US"/>
              <a:t> call edge </a:t>
            </a:r>
            <a:r>
              <a:rPr lang="zh-CN"/>
              <a:t>双关系恢复方法继承自团队前序工作</a:t>
            </a:r>
            <a:r>
              <a:rPr lang="en-US"/>
              <a:t> ARDB</a:t>
            </a:r>
            <a:r>
              <a:rPr lang="zh-CN"/>
              <a:t>：</a:t>
            </a:r>
            <a:r>
              <a:rPr lang="en-US"/>
              <a:t>https://
github.com/OSDebugger/code-debug_Asynchronous-trace</a:t>
            </a:r>
            <a:endParaRPr/>
          </a:p>
        </p:txBody>
      </p:sp>
      <p:sp>
        <p:nvSpPr>
          <p:cNvPr id="195" name="文本框 194"/>
          <p:cNvSpPr txBox="1"/>
          <p:nvPr/>
        </p:nvSpPr>
        <p:spPr>
          <a:xfrm>
            <a:off x="609904" y="4551145"/>
            <a:ext cx="3663950" cy="368300"/>
          </a:xfrm>
          <a:prstGeom prst="rect">
            <a:avLst/>
          </a:prstGeom>
          <a:ln w="6350">
            <a:prstDash val="solid"/>
          </a:ln>
        </p:spPr>
        <p:txBody>
          <a:bodyPr wrap="none">
            <a:spAutoFit/>
          </a:bodyPr>
          <a:lstStyle/>
          <a:p>
            <a:pPr marL="285750" indent="-285750">
              <a:buFont typeface="Wingdings" charset="2"/>
              <a:buChar char="Ø"/>
            </a:pPr>
            <a:r>
              <a:rPr lang="zh-CN" b="1"/>
              <a:t>详细参考说明可见仓库决赛文档</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淘宝店铺-想搞设计(校园PPT每学期更新)"/>
          <p:cNvPicPr>
            <a:picLocks noChangeAspect="1"/>
          </p:cNvPicPr>
          <p:nvPr/>
        </p:nvPicPr>
        <p:blipFill>
          <a:blip r:embed="rId2"/>
          <a:stretch>
            <a:fillRect/>
          </a:stretch>
        </p:blipFill>
        <p:spPr>
          <a:xfrm>
            <a:off x="0" y="1115238"/>
            <a:ext cx="12192000" cy="3978815"/>
          </a:xfrm>
          <a:prstGeom prst="rect">
            <a:avLst/>
          </a:prstGeom>
        </p:spPr>
      </p:pic>
      <p:sp>
        <p:nvSpPr>
          <p:cNvPr id="198" name="淘宝店铺-想搞设计(校园PPT每学期更新)"/>
          <p:cNvSpPr/>
          <p:nvPr/>
        </p:nvSpPr>
        <p:spPr>
          <a:xfrm>
            <a:off x="0" y="210370"/>
            <a:ext cx="12192000" cy="4883683"/>
          </a:xfrm>
          <a:prstGeom prst="rect">
            <a:avLst/>
          </a:prstGeom>
          <a:gradFill flip="none" rotWithShape="1">
            <a:gsLst>
              <a:gs pos="60000">
                <a:schemeClr val="bg1"/>
              </a:gs>
              <a:gs pos="100000">
                <a:schemeClr val="bg1">
                  <a:alpha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defRPr/>
            </a:pPr>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199" name="淘宝店铺-想搞设计(校园PPT每学期更新)"/>
          <p:cNvSpPr/>
          <p:nvPr/>
        </p:nvSpPr>
        <p:spPr>
          <a:xfrm>
            <a:off x="-60113" y="4937760"/>
            <a:ext cx="12312226" cy="1964669"/>
          </a:xfrm>
          <a:prstGeom prst="roundRect">
            <a:avLst>
              <a:gd name="adj" fmla="val 0"/>
            </a:avLst>
          </a:prstGeom>
          <a:gradFill>
            <a:gsLst>
              <a:gs pos="0">
                <a:schemeClr val="accent6"/>
              </a:gs>
              <a:gs pos="100000">
                <a:schemeClr val="accent6">
                  <a:lumMod val="90000"/>
                </a:schemeClr>
              </a:gs>
            </a:gsLst>
            <a:lin ang="5400000" scaled="1"/>
          </a:gradFill>
          <a:ln>
            <a:solidFill>
              <a:schemeClr val="bg1"/>
            </a:solidFill>
          </a:ln>
          <a:effectLst>
            <a:outerShdw blurRad="165100" dist="38100" dir="2700000" algn="tl" rotWithShape="0">
              <a:schemeClr val="accent6">
                <a:lumMod val="7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white"/>
              </a:solidFill>
              <a:latin typeface="微软雅黑" panose="020B0503020204020204" pitchFamily="34" charset="-122"/>
              <a:ea typeface="微软雅黑" panose="020B0503020204020204" pitchFamily="34" charset="-122"/>
              <a:cs typeface="Arial"/>
            </a:endParaRPr>
          </a:p>
        </p:txBody>
      </p:sp>
      <p:sp>
        <p:nvSpPr>
          <p:cNvPr id="200" name="淘宝店铺-想搞设计(校园PPT每学期更新)"/>
          <p:cNvSpPr txBox="1"/>
          <p:nvPr/>
        </p:nvSpPr>
        <p:spPr>
          <a:xfrm>
            <a:off x="1231780" y="1274584"/>
            <a:ext cx="9728441" cy="2740750"/>
          </a:xfrm>
          <a:prstGeom prst="rect">
            <a:avLst/>
          </a:prstGeom>
          <a:noFill/>
        </p:spPr>
        <p:txBody>
          <a:bodyPr wrap="square">
            <a:spAutoFit/>
          </a:bodyPr>
          <a:lstStyle/>
          <a:p>
            <a:pPr algn="ctr" defTabSz="894145" fontAlgn="ctr"/>
            <a:r>
              <a:rPr lang="zh-CN" altLang="en-US" sz="8605" dirty="0">
                <a:gradFill>
                  <a:gsLst>
                    <a:gs pos="0">
                      <a:srgbClr val="052E68"/>
                    </a:gs>
                    <a:gs pos="100000">
                      <a:srgbClr val="052E68">
                        <a:lumMod val="90000"/>
                        <a:lumOff val="10000"/>
                      </a:srgbClr>
                    </a:gs>
                  </a:gsLst>
                  <a:lin ang="5400000" scaled="1"/>
                </a:gradFill>
                <a:latin typeface="思源宋体 CN Heavy" panose="02020900000000000000" pitchFamily="18" charset="-122"/>
                <a:ea typeface="思源宋体 CN Heavy" panose="02020900000000000000" pitchFamily="18" charset="-122"/>
                <a:cs typeface="Times New Roman" panose="02020603050405020304" pitchFamily="18" charset="0"/>
              </a:rPr>
              <a:t>感谢各位老师</a:t>
            </a:r>
            <a:endParaRPr lang="en-US" altLang="zh-CN" sz="8605" dirty="0">
              <a:gradFill>
                <a:gsLst>
                  <a:gs pos="0">
                    <a:srgbClr val="052E68"/>
                  </a:gs>
                  <a:gs pos="100000">
                    <a:srgbClr val="052E68">
                      <a:lumMod val="90000"/>
                      <a:lumOff val="10000"/>
                    </a:srgbClr>
                  </a:gs>
                </a:gsLst>
                <a:lin ang="5400000" scaled="1"/>
              </a:gradFill>
              <a:latin typeface="思源宋体 CN Heavy" panose="02020900000000000000" pitchFamily="18" charset="-122"/>
              <a:ea typeface="思源宋体 CN Heavy" panose="02020900000000000000" pitchFamily="18" charset="-122"/>
              <a:cs typeface="Times New Roman" panose="02020603050405020304" pitchFamily="18" charset="0"/>
            </a:endParaRPr>
          </a:p>
          <a:p>
            <a:pPr algn="ctr" defTabSz="894145" fontAlgn="ctr"/>
            <a:r>
              <a:rPr lang="zh-CN" altLang="en-US" sz="8605" dirty="0">
                <a:gradFill>
                  <a:gsLst>
                    <a:gs pos="0">
                      <a:srgbClr val="052E68"/>
                    </a:gs>
                    <a:gs pos="100000">
                      <a:srgbClr val="052E68">
                        <a:lumMod val="90000"/>
                        <a:lumOff val="10000"/>
                      </a:srgbClr>
                    </a:gs>
                  </a:gsLst>
                  <a:lin ang="5400000" scaled="1"/>
                </a:gradFill>
                <a:latin typeface="思源宋体 CN Heavy" panose="02020900000000000000" pitchFamily="18" charset="-122"/>
                <a:ea typeface="思源宋体 CN Heavy" panose="02020900000000000000" pitchFamily="18" charset="-122"/>
                <a:cs typeface="Times New Roman" panose="02020603050405020304" pitchFamily="18" charset="0"/>
              </a:rPr>
              <a:t>敬请批评指正</a:t>
            </a:r>
            <a:endParaRPr lang="en-US" altLang="zh-CN" sz="8605" dirty="0">
              <a:gradFill>
                <a:gsLst>
                  <a:gs pos="0">
                    <a:srgbClr val="052E68"/>
                  </a:gs>
                  <a:gs pos="100000">
                    <a:srgbClr val="052E68">
                      <a:lumMod val="90000"/>
                      <a:lumOff val="10000"/>
                    </a:srgbClr>
                  </a:gs>
                </a:gsLst>
                <a:lin ang="5400000" scaled="1"/>
              </a:gradFill>
              <a:latin typeface="思源宋体 CN Heavy" panose="02020900000000000000" pitchFamily="18" charset="-122"/>
              <a:ea typeface="思源宋体 CN Heavy" panose="02020900000000000000" pitchFamily="18" charset="-122"/>
              <a:cs typeface="Times New Roman" panose="02020603050405020304" pitchFamily="18" charset="0"/>
            </a:endParaRPr>
          </a:p>
        </p:txBody>
      </p:sp>
      <p:pic>
        <p:nvPicPr>
          <p:cNvPr id="201" name="淘宝店铺-想搞设计(校园PPT每学期更新)"/>
          <p:cNvPicPr>
            <a:picLocks noChangeAspect="1"/>
          </p:cNvPicPr>
          <p:nvPr/>
        </p:nvPicPr>
        <p:blipFill>
          <a:blip r:embed="rId3">
            <a:alphaModFix amt="10000"/>
          </a:blip>
          <a:srcRect t="50000" b="28724"/>
          <a:stretch>
            <a:fillRect/>
          </a:stretch>
        </p:blipFill>
        <p:spPr>
          <a:xfrm>
            <a:off x="-255692" y="4937760"/>
            <a:ext cx="12312226" cy="1964669"/>
          </a:xfrm>
          <a:prstGeom prst="rect">
            <a:avLst/>
          </a:prstGeom>
        </p:spPr>
      </p:pic>
      <p:grpSp>
        <p:nvGrpSpPr>
          <p:cNvPr id="202" name="淘宝店铺-想搞设计(校园PPT每学期更新)"/>
          <p:cNvGrpSpPr/>
          <p:nvPr/>
        </p:nvGrpSpPr>
        <p:grpSpPr>
          <a:xfrm>
            <a:off x="451062" y="2492454"/>
            <a:ext cx="11352149" cy="556563"/>
            <a:chOff x="3534319" y="4160835"/>
            <a:chExt cx="5123363" cy="514187"/>
          </a:xfrm>
        </p:grpSpPr>
        <p:sp>
          <p:nvSpPr>
            <p:cNvPr id="203" name="淘宝店铺-想搞设计(校园PPT每学期更新)"/>
            <p:cNvSpPr txBox="1"/>
            <p:nvPr/>
          </p:nvSpPr>
          <p:spPr>
            <a:xfrm>
              <a:off x="4477278" y="4203468"/>
              <a:ext cx="3237444" cy="405189"/>
            </a:xfrm>
            <a:prstGeom prst="rect">
              <a:avLst/>
            </a:prstGeom>
            <a:noFill/>
          </p:spPr>
          <p:txBody>
            <a:bodyPr wrap="square">
              <a:spAutoFit/>
            </a:bodyPr>
            <a:lstStyle/>
            <a:p>
              <a:pPr algn="dist" defTabSz="894145">
                <a:lnSpc>
                  <a:spcPts val="2738"/>
                </a:lnSpc>
              </a:pPr>
              <a:endParaRPr lang="zh-CN" altLang="en-US" sz="2738" b="1" dirty="0">
                <a:gradFill>
                  <a:gsLst>
                    <a:gs pos="0">
                      <a:srgbClr val="052E68"/>
                    </a:gs>
                    <a:gs pos="100000">
                      <a:srgbClr val="052E68">
                        <a:lumMod val="90000"/>
                        <a:lumOff val="10000"/>
                      </a:srgbClr>
                    </a:gs>
                  </a:gsLst>
                  <a:lin ang="5400000" scaled="1"/>
                </a:gradFill>
                <a:latin typeface="微软雅黑" panose="020B0503020204020204" pitchFamily="34" charset="-122"/>
                <a:ea typeface="微软雅黑" panose="020B0503020204020204" pitchFamily="34" charset="-122"/>
                <a:cs typeface="Arial"/>
              </a:endParaRPr>
            </a:p>
          </p:txBody>
        </p:sp>
        <p:grpSp>
          <p:nvGrpSpPr>
            <p:cNvPr id="204" name="淘宝店铺-想搞设计(校园PPT每学期更新)"/>
            <p:cNvGrpSpPr/>
            <p:nvPr/>
          </p:nvGrpSpPr>
          <p:grpSpPr>
            <a:xfrm flipH="1">
              <a:off x="3534319" y="4160835"/>
              <a:ext cx="699494" cy="514187"/>
              <a:chOff x="7980705" y="3472450"/>
              <a:chExt cx="699494" cy="464314"/>
            </a:xfrm>
          </p:grpSpPr>
          <p:sp>
            <p:nvSpPr>
              <p:cNvPr id="205" name="淘宝店铺-想搞设计(校园PPT每学期更新)"/>
              <p:cNvSpPr/>
              <p:nvPr/>
            </p:nvSpPr>
            <p:spPr>
              <a:xfrm rot="19098178">
                <a:off x="8225347" y="3472450"/>
                <a:ext cx="454852" cy="464314"/>
              </a:xfrm>
              <a:prstGeom prst="halfFrame">
                <a:avLst>
                  <a:gd name="adj1" fmla="val 20777"/>
                  <a:gd name="adj2" fmla="val 21653"/>
                </a:avLst>
              </a:prstGeom>
              <a:gradFill>
                <a:gsLst>
                  <a:gs pos="0">
                    <a:schemeClr val="accent6"/>
                  </a:gs>
                  <a:gs pos="30000">
                    <a:schemeClr val="accent6">
                      <a:alpha val="0"/>
                    </a:schemeClr>
                  </a:gs>
                </a:gsLst>
                <a:lin ang="2700000" scaled="0"/>
              </a:gradFill>
              <a:ln>
                <a:gradFill>
                  <a:gsLst>
                    <a:gs pos="0">
                      <a:schemeClr val="accent6">
                        <a:lumMod val="5000"/>
                        <a:lumOff val="95000"/>
                      </a:schemeClr>
                    </a:gs>
                    <a:gs pos="45000">
                      <a:schemeClr val="bg1">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endParaRPr>
              </a:p>
            </p:txBody>
          </p:sp>
          <p:sp>
            <p:nvSpPr>
              <p:cNvPr id="206" name="淘宝店铺-想搞设计(校园PPT每学期更新)"/>
              <p:cNvSpPr/>
              <p:nvPr/>
            </p:nvSpPr>
            <p:spPr>
              <a:xfrm rot="19098178">
                <a:off x="7980705" y="3493444"/>
                <a:ext cx="389222" cy="397318"/>
              </a:xfrm>
              <a:prstGeom prst="halfFrame">
                <a:avLst>
                  <a:gd name="adj1" fmla="val 20777"/>
                  <a:gd name="adj2" fmla="val 21653"/>
                </a:avLst>
              </a:prstGeom>
              <a:gradFill>
                <a:gsLst>
                  <a:gs pos="0">
                    <a:schemeClr val="accent6"/>
                  </a:gs>
                  <a:gs pos="30000">
                    <a:schemeClr val="accent6">
                      <a:alpha val="0"/>
                    </a:schemeClr>
                  </a:gs>
                </a:gsLst>
                <a:lin ang="2700000" scaled="0"/>
              </a:gradFill>
              <a:ln>
                <a:gradFill>
                  <a:gsLst>
                    <a:gs pos="0">
                      <a:schemeClr val="accent6">
                        <a:lumMod val="5000"/>
                        <a:lumOff val="95000"/>
                      </a:schemeClr>
                    </a:gs>
                    <a:gs pos="45000">
                      <a:schemeClr val="bg1">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endParaRPr>
              </a:p>
            </p:txBody>
          </p:sp>
        </p:grpSp>
        <p:grpSp>
          <p:nvGrpSpPr>
            <p:cNvPr id="207" name="淘宝店铺-想搞设计(校园PPT每学期更新)"/>
            <p:cNvGrpSpPr/>
            <p:nvPr/>
          </p:nvGrpSpPr>
          <p:grpSpPr>
            <a:xfrm>
              <a:off x="7958188" y="4160835"/>
              <a:ext cx="699494" cy="514187"/>
              <a:chOff x="7980705" y="3472450"/>
              <a:chExt cx="699494" cy="464314"/>
            </a:xfrm>
          </p:grpSpPr>
          <p:sp>
            <p:nvSpPr>
              <p:cNvPr id="208" name="淘宝店铺-想搞设计(校园PPT每学期更新)"/>
              <p:cNvSpPr/>
              <p:nvPr/>
            </p:nvSpPr>
            <p:spPr>
              <a:xfrm rot="19098178">
                <a:off x="8225347" y="3472450"/>
                <a:ext cx="454852" cy="464314"/>
              </a:xfrm>
              <a:prstGeom prst="halfFrame">
                <a:avLst>
                  <a:gd name="adj1" fmla="val 20777"/>
                  <a:gd name="adj2" fmla="val 21653"/>
                </a:avLst>
              </a:prstGeom>
              <a:gradFill>
                <a:gsLst>
                  <a:gs pos="0">
                    <a:schemeClr val="accent6"/>
                  </a:gs>
                  <a:gs pos="30000">
                    <a:schemeClr val="accent6">
                      <a:alpha val="0"/>
                    </a:schemeClr>
                  </a:gs>
                </a:gsLst>
                <a:lin ang="2700000" scaled="0"/>
              </a:gradFill>
              <a:ln>
                <a:gradFill>
                  <a:gsLst>
                    <a:gs pos="0">
                      <a:schemeClr val="accent6">
                        <a:lumMod val="5000"/>
                        <a:lumOff val="95000"/>
                      </a:schemeClr>
                    </a:gs>
                    <a:gs pos="45000">
                      <a:schemeClr val="bg1">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endParaRPr>
              </a:p>
            </p:txBody>
          </p:sp>
          <p:sp>
            <p:nvSpPr>
              <p:cNvPr id="209" name="淘宝店铺-想搞设计(校园PPT每学期更新)"/>
              <p:cNvSpPr/>
              <p:nvPr/>
            </p:nvSpPr>
            <p:spPr>
              <a:xfrm rot="19098178">
                <a:off x="7980705" y="3493444"/>
                <a:ext cx="389222" cy="397318"/>
              </a:xfrm>
              <a:prstGeom prst="halfFrame">
                <a:avLst>
                  <a:gd name="adj1" fmla="val 20777"/>
                  <a:gd name="adj2" fmla="val 21653"/>
                </a:avLst>
              </a:prstGeom>
              <a:gradFill>
                <a:gsLst>
                  <a:gs pos="0">
                    <a:schemeClr val="accent6"/>
                  </a:gs>
                  <a:gs pos="30000">
                    <a:schemeClr val="accent6">
                      <a:alpha val="0"/>
                    </a:schemeClr>
                  </a:gs>
                </a:gsLst>
                <a:lin ang="2700000" scaled="0"/>
              </a:gradFill>
              <a:ln>
                <a:gradFill>
                  <a:gsLst>
                    <a:gs pos="0">
                      <a:schemeClr val="accent6">
                        <a:lumMod val="5000"/>
                        <a:lumOff val="95000"/>
                      </a:schemeClr>
                    </a:gs>
                    <a:gs pos="45000">
                      <a:schemeClr val="bg1">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4145"/>
                <a:endParaRPr lang="zh-CN" altLang="en-US" sz="176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endParaRPr>
              </a:p>
            </p:txBody>
          </p:sp>
        </p:grpSp>
      </p:grpSp>
      <p:grpSp>
        <p:nvGrpSpPr>
          <p:cNvPr id="210" name="淘宝店铺-想搞设计(校园PPT每学期更新)"/>
          <p:cNvGrpSpPr/>
          <p:nvPr/>
        </p:nvGrpSpPr>
        <p:grpSpPr>
          <a:xfrm>
            <a:off x="1785521" y="794406"/>
            <a:ext cx="8547565" cy="0"/>
            <a:chOff x="2781939" y="9501547"/>
            <a:chExt cx="8310254" cy="0"/>
          </a:xfrm>
          <a:solidFill>
            <a:schemeClr val="accent1"/>
          </a:solidFill>
        </p:grpSpPr>
        <p:cxnSp>
          <p:nvCxnSpPr>
            <p:cNvPr id="211" name="淘宝店铺-想搞设计(校园PPT每学期更新)"/>
            <p:cNvCxnSpPr/>
            <p:nvPr/>
          </p:nvCxnSpPr>
          <p:spPr>
            <a:xfrm flipH="1">
              <a:off x="2781939" y="9501547"/>
              <a:ext cx="2580640" cy="0"/>
            </a:xfrm>
            <a:prstGeom prst="line">
              <a:avLst/>
            </a:prstGeom>
            <a:grpFill/>
            <a:ln w="6350" cap="rnd" cmpd="sng">
              <a:gradFill>
                <a:gsLst>
                  <a:gs pos="0">
                    <a:schemeClr val="accent1">
                      <a:lumMod val="5000"/>
                      <a:lumOff val="95000"/>
                    </a:schemeClr>
                  </a:gs>
                  <a:gs pos="99000">
                    <a:schemeClr val="accent6"/>
                  </a:gs>
                </a:gsLst>
                <a:lin ang="10800000" scaled="0"/>
              </a:gradFill>
              <a:prstDash val="solid"/>
              <a:round/>
              <a:headEnd type="oval"/>
            </a:ln>
            <a:effectLst/>
          </p:spPr>
          <p:style>
            <a:lnRef idx="2">
              <a:schemeClr val="accent1"/>
            </a:lnRef>
            <a:fillRef idx="0">
              <a:schemeClr val="accent1"/>
            </a:fillRef>
            <a:effectRef idx="1">
              <a:schemeClr val="accent1"/>
            </a:effectRef>
            <a:fontRef idx="minor">
              <a:schemeClr val="tx1"/>
            </a:fontRef>
          </p:style>
        </p:cxnSp>
        <p:cxnSp>
          <p:nvCxnSpPr>
            <p:cNvPr id="212" name="淘宝店铺-想搞设计(校园PPT每学期更新)"/>
            <p:cNvCxnSpPr/>
            <p:nvPr/>
          </p:nvCxnSpPr>
          <p:spPr>
            <a:xfrm>
              <a:off x="8511553" y="9501547"/>
              <a:ext cx="2580640" cy="0"/>
            </a:xfrm>
            <a:prstGeom prst="line">
              <a:avLst/>
            </a:prstGeom>
            <a:grpFill/>
            <a:ln w="6350" cap="rnd" cmpd="sng">
              <a:gradFill>
                <a:gsLst>
                  <a:gs pos="0">
                    <a:schemeClr val="accent1">
                      <a:lumMod val="5000"/>
                      <a:lumOff val="95000"/>
                    </a:schemeClr>
                  </a:gs>
                  <a:gs pos="99000">
                    <a:schemeClr val="accent6"/>
                  </a:gs>
                </a:gsLst>
                <a:lin ang="10800000" scaled="0"/>
              </a:gradFill>
              <a:prstDash val="solid"/>
              <a:round/>
              <a:headEnd type="oval"/>
            </a:ln>
            <a:effectLst/>
          </p:spPr>
          <p:style>
            <a:lnRef idx="2">
              <a:schemeClr val="accent1"/>
            </a:lnRef>
            <a:fillRef idx="0">
              <a:schemeClr val="accent1"/>
            </a:fillRef>
            <a:effectRef idx="1">
              <a:schemeClr val="accent1"/>
            </a:effectRef>
            <a:fontRef idx="minor">
              <a:schemeClr val="tx1"/>
            </a:fontRef>
          </p:style>
        </p:cxnSp>
      </p:grpSp>
      <p:pic>
        <p:nvPicPr>
          <p:cNvPr id="213" name="淘宝店铺-想搞设计(校园PPT每学期更新)"/>
          <p:cNvPicPr/>
          <p:nvPr/>
        </p:nvPicPr>
        <p:blipFill>
          <a:blip r:embed="rId4"/>
          <a:stretch>
            <a:fillRect/>
          </a:stretch>
        </p:blipFill>
        <p:spPr>
          <a:xfrm>
            <a:off x="5029660" y="569288"/>
            <a:ext cx="2047049" cy="378421"/>
          </a:xfrm>
          <a:prstGeom prst="rect">
            <a:avLst/>
          </a:prstGeom>
        </p:spPr>
      </p:pic>
      <p:sp>
        <p:nvSpPr>
          <p:cNvPr id="214" name="TextBox 51"/>
          <p:cNvSpPr txBox="1"/>
          <p:nvPr/>
        </p:nvSpPr>
        <p:spPr>
          <a:xfrm>
            <a:off x="1634281" y="5491253"/>
            <a:ext cx="8940800" cy="367099"/>
          </a:xfrm>
          <a:prstGeom prst="rect">
            <a:avLst/>
          </a:prstGeom>
          <a:noFill/>
        </p:spPr>
        <p:txBody>
          <a:bodyPr wrap="square" lIns="44704" tIns="17881" rIns="44704" bIns="17881" anchor="t">
            <a:spAutoFit/>
          </a:bodyPr>
          <a:lstStyle/>
          <a:p>
            <a:pPr algn="ctr" defTabSz="894145"/>
            <a:r>
              <a:rPr sz="2151" dirty="0" err="1">
                <a:solidFill>
                  <a:prstClr val="white"/>
                </a:solidFill>
                <a:latin typeface="华文中宋" panose="02010600040101010101" pitchFamily="2" charset="-122"/>
                <a:ea typeface="华文中宋" panose="02010600040101010101" pitchFamily="2" charset="-122"/>
                <a:cs typeface="思源黑体 CN Medium"/>
              </a:rPr>
              <a:t>团队成员：曾小红</a:t>
            </a:r>
            <a:r>
              <a:rPr sz="2151" dirty="0">
                <a:solidFill>
                  <a:prstClr val="white"/>
                </a:solidFill>
                <a:latin typeface="华文中宋" panose="02010600040101010101" pitchFamily="2" charset="-122"/>
                <a:ea typeface="华文中宋" panose="02010600040101010101" pitchFamily="2" charset="-122"/>
                <a:cs typeface="思源黑体 CN Medium"/>
              </a:rPr>
              <a:t> · </a:t>
            </a:r>
            <a:r>
              <a:rPr sz="2151" dirty="0" err="1">
                <a:solidFill>
                  <a:prstClr val="white"/>
                </a:solidFill>
                <a:latin typeface="华文中宋" panose="02010600040101010101" pitchFamily="2" charset="-122"/>
                <a:ea typeface="华文中宋" panose="02010600040101010101" pitchFamily="2" charset="-122"/>
                <a:cs typeface="思源黑体 CN Medium"/>
              </a:rPr>
              <a:t>王浩铭</a:t>
            </a:r>
            <a:r>
              <a:rPr sz="2151" dirty="0">
                <a:solidFill>
                  <a:prstClr val="white"/>
                </a:solidFill>
                <a:latin typeface="华文中宋" panose="02010600040101010101" pitchFamily="2" charset="-122"/>
                <a:ea typeface="华文中宋" panose="02010600040101010101" pitchFamily="2" charset="-122"/>
                <a:cs typeface="思源黑体 CN Medium"/>
              </a:rPr>
              <a:t> · </a:t>
            </a:r>
            <a:r>
              <a:rPr lang="zh-CN" altLang="en-US" sz="2151" dirty="0">
                <a:solidFill>
                  <a:prstClr val="white"/>
                </a:solidFill>
                <a:latin typeface="华文中宋" panose="02010600040101010101" pitchFamily="2" charset="-122"/>
                <a:ea typeface="华文中宋" panose="02010600040101010101" pitchFamily="2" charset="-122"/>
                <a:cs typeface="思源黑体 CN Medium"/>
              </a:rPr>
              <a:t>武</a:t>
            </a:r>
            <a:r>
              <a:rPr sz="2151" dirty="0" err="1">
                <a:solidFill>
                  <a:prstClr val="white"/>
                </a:solidFill>
                <a:latin typeface="华文中宋" panose="02010600040101010101" pitchFamily="2" charset="-122"/>
                <a:ea typeface="华文中宋" panose="02010600040101010101" pitchFamily="2" charset="-122"/>
                <a:cs typeface="思源黑体 CN Medium"/>
              </a:rPr>
              <a:t>雪妍</a:t>
            </a:r>
            <a:r>
              <a:rPr sz="2151" dirty="0">
                <a:solidFill>
                  <a:prstClr val="white"/>
                </a:solidFill>
                <a:latin typeface="华文中宋" panose="02010600040101010101" pitchFamily="2" charset="-122"/>
                <a:ea typeface="华文中宋" panose="02010600040101010101" pitchFamily="2" charset="-122"/>
                <a:cs typeface="思源黑体 CN Medium"/>
              </a:rPr>
              <a:t>    </a:t>
            </a:r>
            <a:r>
              <a:rPr sz="2151" dirty="0" err="1">
                <a:solidFill>
                  <a:prstClr val="white"/>
                </a:solidFill>
                <a:latin typeface="华文中宋" panose="02010600040101010101" pitchFamily="2" charset="-122"/>
                <a:ea typeface="华文中宋" panose="02010600040101010101" pitchFamily="2" charset="-122"/>
                <a:cs typeface="思源黑体 CN Medium"/>
              </a:rPr>
              <a:t>指导教师：吴竞邦</a:t>
            </a:r>
            <a:endParaRPr sz="2151" dirty="0">
              <a:solidFill>
                <a:prstClr val="white"/>
              </a:solidFill>
              <a:latin typeface="华文中宋" panose="02010600040101010101" pitchFamily="2" charset="-122"/>
              <a:ea typeface="华文中宋" panose="02010600040101010101" pitchFamily="2" charset="-122"/>
              <a:cs typeface="思源黑体 CN Medium"/>
            </a:endParaRPr>
          </a:p>
        </p:txBody>
      </p:sp>
      <p:sp>
        <p:nvSpPr>
          <p:cNvPr id="215" name="TextBox 52"/>
          <p:cNvSpPr txBox="1"/>
          <p:nvPr/>
        </p:nvSpPr>
        <p:spPr>
          <a:xfrm>
            <a:off x="1582783" y="6119571"/>
            <a:ext cx="8940800" cy="323850"/>
          </a:xfrm>
          <a:prstGeom prst="rect">
            <a:avLst/>
          </a:prstGeom>
          <a:noFill/>
        </p:spPr>
        <p:txBody>
          <a:bodyPr wrap="square" lIns="44704" tIns="17881" rIns="44704" bIns="17881" anchor="t">
            <a:spAutoFit/>
          </a:bodyPr>
          <a:lstStyle/>
          <a:p>
            <a:pPr algn="ctr" defTabSz="894145"/>
            <a:r>
              <a:rPr sz="1955">
                <a:solidFill>
                  <a:srgbClr val="FFFFFF">
                    <a:alpha val="100000"/>
                  </a:srgbClr>
                </a:solidFill>
                <a:latin typeface="华文中宋"/>
                <a:ea typeface="华文中宋"/>
                <a:cs typeface="思源黑体 CN Medium"/>
              </a:rPr>
              <a:t>北京工商大学 · 计算机与人工智能学院 · 2026 年 8 月</a:t>
            </a:r>
            <a:endParaRPr sz="1200"/>
          </a:p>
        </p:txBody>
      </p:sp>
      <p:pic>
        <p:nvPicPr>
          <p:cNvPr id="216" name="图片 9"/>
          <p:cNvPicPr>
            <a:picLocks noChangeAspect="1"/>
          </p:cNvPicPr>
          <p:nvPr/>
        </p:nvPicPr>
        <p:blipFill>
          <a:blip r:embed="rId5"/>
          <a:srcRect r="31143" b="34882"/>
          <a:stretch>
            <a:fillRect/>
          </a:stretch>
        </p:blipFill>
        <p:spPr>
          <a:xfrm>
            <a:off x="9410042" y="4960306"/>
            <a:ext cx="2842071" cy="1988933"/>
          </a:xfrm>
          <a:custGeom>
            <a:avLst/>
            <a:gdLst>
              <a:gd name="connsiteX0" fmla="*/ 0 w 4263107"/>
              <a:gd name="connsiteY0" fmla="*/ 0 h 2983400"/>
              <a:gd name="connsiteX1" fmla="*/ 4263107 w 4263107"/>
              <a:gd name="connsiteY1" fmla="*/ 0 h 2983400"/>
              <a:gd name="connsiteX2" fmla="*/ 4263107 w 4263107"/>
              <a:gd name="connsiteY2" fmla="*/ 2983400 h 2983400"/>
              <a:gd name="connsiteX3" fmla="*/ 0 w 4263107"/>
              <a:gd name="connsiteY3" fmla="*/ 2983400 h 2983400"/>
            </a:gdLst>
            <a:ahLst/>
            <a:cxnLst>
              <a:cxn ang="0">
                <a:pos x="connsiteX0" y="connsiteY0"/>
              </a:cxn>
              <a:cxn ang="0">
                <a:pos x="connsiteX1" y="connsiteY1"/>
              </a:cxn>
              <a:cxn ang="0">
                <a:pos x="connsiteX2" y="connsiteY2"/>
              </a:cxn>
              <a:cxn ang="0">
                <a:pos x="connsiteX3" y="connsiteY3"/>
              </a:cxn>
            </a:cxnLst>
            <a:rect l="l" t="t" r="r" b="b"/>
            <a:pathLst>
              <a:path w="4263107" h="2983400">
                <a:moveTo>
                  <a:pt x="0" y="0"/>
                </a:moveTo>
                <a:lnTo>
                  <a:pt x="4263107" y="0"/>
                </a:lnTo>
                <a:lnTo>
                  <a:pt x="4263107" y="2983400"/>
                </a:lnTo>
                <a:lnTo>
                  <a:pt x="0" y="2983400"/>
                </a:lnTo>
                <a:close/>
              </a:path>
            </a:pathLst>
          </a:custGeom>
        </p:spPr>
      </p:pic>
      <p:pic>
        <p:nvPicPr>
          <p:cNvPr id="217" name="图片 4"/>
          <p:cNvPicPr>
            <a:picLocks noChangeAspect="1"/>
          </p:cNvPicPr>
          <p:nvPr/>
        </p:nvPicPr>
        <p:blipFill>
          <a:blip r:embed="rId6"/>
          <a:srcRect l="4987" b="7610"/>
          <a:stretch>
            <a:fillRect/>
          </a:stretch>
        </p:blipFill>
        <p:spPr>
          <a:xfrm rot="16200000" flipH="1" flipV="1">
            <a:off x="-99640" y="4978075"/>
            <a:ext cx="2647495" cy="2566865"/>
          </a:xfrm>
          <a:prstGeom prst="rect">
            <a:avLst/>
          </a:prstGeom>
        </p:spPr>
      </p:pic>
    </p:spTree>
  </p:cSld>
  <p:clrMapOvr>
    <a:masterClrMapping/>
  </p:clrMapOvr>
  <p:transition/>
</p:sld>
</file>

<file path=ppt/theme/theme1.xml><?xml version="1.0" encoding="utf-8"?>
<a:theme xmlns:a="http://schemas.openxmlformats.org/drawingml/2006/main" name="淘宝店铺-想搞设计(校园PPT每学期更新)">
  <a:themeElements>
    <a:clrScheme name="自定义 15">
      <a:dk1>
        <a:srgbClr val="000000"/>
      </a:dk1>
      <a:lt1>
        <a:srgbClr val="FFFFFF"/>
      </a:lt1>
      <a:dk2>
        <a:srgbClr val="0E2841"/>
      </a:dk2>
      <a:lt2>
        <a:srgbClr val="E8E8E8"/>
      </a:lt2>
      <a:accent1>
        <a:srgbClr val="052E68"/>
      </a:accent1>
      <a:accent2>
        <a:srgbClr val="052E68"/>
      </a:accent2>
      <a:accent3>
        <a:srgbClr val="052E68"/>
      </a:accent3>
      <a:accent4>
        <a:srgbClr val="052E68"/>
      </a:accent4>
      <a:accent5>
        <a:srgbClr val="052E68"/>
      </a:accent5>
      <a:accent6>
        <a:srgbClr val="052E68"/>
      </a:accent6>
      <a:hlink>
        <a:srgbClr val="052E68"/>
      </a:hlink>
      <a:folHlink>
        <a:srgbClr val="052E68"/>
      </a:folHlink>
    </a:clrScheme>
    <a:fontScheme name="自定义 3">
      <a:majorFont>
        <a:latin typeface="Roboto Black"/>
        <a:ea typeface="HarmonyOS Sans SC Black"/>
        <a:cs typeface="Arial"/>
      </a:majorFont>
      <a:minorFont>
        <a:latin typeface="Roboto"/>
        <a:ea typeface="HarmonyOS Sans SC"/>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淘宝店铺-想搞设计(校园PPT每学期更新)">
  <a:themeElements>
    <a:clrScheme name="自定义 15">
      <a:dk1>
        <a:srgbClr val="000000"/>
      </a:dk1>
      <a:lt1>
        <a:srgbClr val="FFFFFF"/>
      </a:lt1>
      <a:dk2>
        <a:srgbClr val="0E2841"/>
      </a:dk2>
      <a:lt2>
        <a:srgbClr val="E8E8E8"/>
      </a:lt2>
      <a:accent1>
        <a:srgbClr val="052E68"/>
      </a:accent1>
      <a:accent2>
        <a:srgbClr val="052E68"/>
      </a:accent2>
      <a:accent3>
        <a:srgbClr val="052E68"/>
      </a:accent3>
      <a:accent4>
        <a:srgbClr val="052E68"/>
      </a:accent4>
      <a:accent5>
        <a:srgbClr val="052E68"/>
      </a:accent5>
      <a:accent6>
        <a:srgbClr val="052E68"/>
      </a:accent6>
      <a:hlink>
        <a:srgbClr val="052E68"/>
      </a:hlink>
      <a:folHlink>
        <a:srgbClr val="052E68"/>
      </a:folHlink>
    </a:clrScheme>
    <a:fontScheme name="自定义 3">
      <a:majorFont>
        <a:latin typeface="Roboto Black"/>
        <a:ea typeface="HarmonyOS Sans SC Black"/>
        <a:cs typeface="Arial"/>
      </a:majorFont>
      <a:minorFont>
        <a:latin typeface="Roboto"/>
        <a:ea typeface="HarmonyOS Sans SC"/>
        <a:cs typeface="Arial"/>
      </a:minorFont>
    </a:fontScheme>
    <a:fmtScheme name="自定义 1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淘宝店铺-想搞设计(校园PPT每学期更新)">
  <a:themeElements>
    <a:clrScheme name="自定义 15">
      <a:dk1>
        <a:srgbClr val="000000"/>
      </a:dk1>
      <a:lt1>
        <a:srgbClr val="FFFFFF"/>
      </a:lt1>
      <a:dk2>
        <a:srgbClr val="0E2841"/>
      </a:dk2>
      <a:lt2>
        <a:srgbClr val="E8E8E8"/>
      </a:lt2>
      <a:accent1>
        <a:srgbClr val="052E68"/>
      </a:accent1>
      <a:accent2>
        <a:srgbClr val="052E68"/>
      </a:accent2>
      <a:accent3>
        <a:srgbClr val="052E68"/>
      </a:accent3>
      <a:accent4>
        <a:srgbClr val="052E68"/>
      </a:accent4>
      <a:accent5>
        <a:srgbClr val="052E68"/>
      </a:accent5>
      <a:accent6>
        <a:srgbClr val="052E68"/>
      </a:accent6>
      <a:hlink>
        <a:srgbClr val="052E68"/>
      </a:hlink>
      <a:folHlink>
        <a:srgbClr val="052E68"/>
      </a:folHlink>
    </a:clrScheme>
    <a:fontScheme name="自定义 3">
      <a:majorFont>
        <a:latin typeface="Roboto Black"/>
        <a:ea typeface="HarmonyOS Sans SC Black"/>
        <a:cs typeface="Arial"/>
      </a:majorFont>
      <a:minorFont>
        <a:latin typeface="Roboto"/>
        <a:ea typeface="HarmonyOS Sans SC"/>
        <a:cs typeface="Arial"/>
      </a:minorFont>
    </a:fontScheme>
    <a:fmtScheme name="自定义 1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4130</Words>
  <Application>Microsoft Office PowerPoint</Application>
  <PresentationFormat>宽屏</PresentationFormat>
  <Paragraphs>271</Paragraphs>
  <Slides>24</Slides>
  <Notes>14</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24</vt:i4>
      </vt:variant>
    </vt:vector>
  </HeadingPairs>
  <TitlesOfParts>
    <vt:vector size="43" baseType="lpstr">
      <vt:lpstr>Roboto</vt:lpstr>
      <vt:lpstr>DIN</vt:lpstr>
      <vt:lpstr>Gill Sans MT</vt:lpstr>
      <vt:lpstr>Wingdings</vt:lpstr>
      <vt:lpstr>SimSun</vt:lpstr>
      <vt:lpstr>Microsoft YaHei</vt:lpstr>
      <vt:lpstr>Montserrat</vt:lpstr>
      <vt:lpstr>等线</vt:lpstr>
      <vt:lpstr>华文中宋</vt:lpstr>
      <vt:lpstr>DIN Black</vt:lpstr>
      <vt:lpstr>思源宋体 CN Heavy</vt:lpstr>
      <vt:lpstr>Microsoft YaHei</vt:lpstr>
      <vt:lpstr>HarmonyOS Sans SC</vt:lpstr>
      <vt:lpstr>Roboto Black</vt:lpstr>
      <vt:lpstr>Roboto Medium</vt:lpstr>
      <vt:lpstr>Arial</vt:lpstr>
      <vt:lpstr>淘宝店铺-想搞设计(校园PPT每学期更新)</vt:lpstr>
      <vt:lpstr>淘宝店铺-想搞设计(校园PPT每学期更新)</vt:lpstr>
      <vt:lpstr>淘宝店铺-想搞设计(校园PPT每学期更新)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武建文</dc:creator>
  <cp:lastModifiedBy>建文 武</cp:lastModifiedBy>
  <cp:revision>1</cp:revision>
  <dcterms:created xsi:type="dcterms:W3CDTF">2026-08-18T22:48:20Z</dcterms:created>
  <dcterms:modified xsi:type="dcterms:W3CDTF">2026-08-18T14:52:41Z</dcterms:modified>
</cp:coreProperties>
</file>